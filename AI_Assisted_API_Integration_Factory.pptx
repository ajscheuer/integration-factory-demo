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8" r:id="rId19"/>
    <p:sldId id="269" r:id="rId20"/>
    <p:sldId id="270" r:id="rId21"/>
    <p:sldId id="271" r:id="rId22"/>
    <p:sldId id="272" r:id="rId23"/>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7.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45 s]</a:t>
            </a:r>
          </a:p>
          <a:p>
            <a:r>
              <a:t>Good morning, thanks for coming. This is an AI talk, even though we are not the AI group — at this point we can't avoid it. I use AI close to a hundred percent of the time to build software for clients, and the place where it still struggles the most is integrating with code we don't own: third-party APIs.</a:t>
            </a:r>
          </a:p>
          <a:p/>
          <a:p>
            <a:r>
              <a:t>So this is about a way to keep AI's velocity on third-party integrations without the inconsistency that usually comes with it. The short version is: a code generator builds the parts that are always the same, the AI writes the provider-specific logic inside boundaries the generator sets, and every decision about what a field actually means is made by one of us and written down in a file the tooling reads.</a:t>
            </a:r>
          </a:p>
          <a:p/>
          <a:p>
            <a:r>
              <a:t>I'll do about seven minutes of slides, then hand a single instruction to an orchestrator agent and let it run the whole thing while we watch.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1 min 15 s]</a:t>
            </a:r>
          </a:p>
          <a:p>
            <a:r>
              <a:t>Let me start with why integrations are still expensive, because the fix follows from the diagnosis.</a:t>
            </a:r>
          </a:p>
          <a:p/>
          <a:p>
            <a:r>
              <a:t>There are four places the cost hides. Documentation: sometimes we get an OpenAPI spec, often we get PDFs, a wiki and a support ticket. And the terminology drifts. I can't count the projects where we referred to something one way for months and then the client walked in calling the same thing something else. Data models: fields that look alike but mean different things. A "status" on both sides is almost never the same status, and vendors love putting numbers, dates and enums inside strings. Runtime behaviour: authentication, pagination, rate limits, retries. These are rarely in the spec; you discover them in production. And maintenance: a version changes, or something that was never documented starts behaving differently, and the connector becomes a maintenance job nobody planned for.</a:t>
            </a:r>
          </a:p>
          <a:p/>
          <a:p>
            <a:r>
              <a:t>There is a cost angle specific to AI here too. When the docs don't explain why an API behaves a certain way, the model ends up reading the open-source client's source code to work it out. That is a lot of tokens, and tokens are money — for the client or for Allata.</a:t>
            </a:r>
          </a:p>
          <a:p/>
          <a:p>
            <a:r>
              <a:t>The important observation is that every one of these steps is repeated, by different people, with different judgement, on every connector. That is why the output is inconsistent even when the team is good. At the velocity we now work at, that is not acceptable. Keep the "same field, different meaning" problem in mind — we will hit a concrete one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 1 min 15 s]</a:t>
            </a:r>
          </a:p>
          <a:p>
            <a:r>
              <a:t>The proposal is to split the work by certainty, and I think of it as building a house.</a:t>
            </a:r>
          </a:p>
          <a:p/>
          <a:p>
            <a:r>
              <a:t>The structure of the house — the foundation, the walls, the roof over every room — is the left column. Project and folder structure, interfaces, typed models, configuration and authentication extension points, test shells, CI hooks. For every connector there is one correct way to do these, so we generate them with a CLI. We don't leave them to the AI, because in a long session the AI will happily build a living room out of one material and forget the roof on the kitchen. A generator never forgets the roof.</a:t>
            </a:r>
          </a:p>
          <a:p/>
          <a:p>
            <a:r>
              <a:t>The furniture and the design decisions inside those rooms are the middle column, and that is where AI can go to town: reading the vendor's documentation, proposing how their fields map to ours, implementing the provider logic, writing the tests and running the diagnostics afterwards to make sure everything is green. It is still AI doing the work — we are just giving it guardrails.</a:t>
            </a:r>
          </a:p>
          <a:p/>
          <a:p>
            <a:r>
              <a:t>The right column is us, and we are not going anywhere. We approve the architecture, we resolve the ambiguity the AI cannot resolve from the business side, we review security and quality, and we own production. The tooling is built so that none of that gets delegated by accident: it will not do things without asking first.</a:t>
            </a:r>
          </a:p>
          <a:p/>
          <a:p>
            <a:r>
              <a:t>That is the rule on the banner: the CLI builds the house, AI furnishes the rooms, engineers sign off.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 — 45 s]</a:t>
            </a:r>
          </a:p>
          <a:p>
            <a:r>
              <a:t>So what is the thing we are building? A connector factory. This slide is the implementation lifecycle, left to right.</a:t>
            </a:r>
          </a:p>
          <a:p/>
          <a:p>
            <a:r>
              <a:t>Two words I will use for the rest of the talk: product means what we are building; provider means the third party. We start with our product's data model and API — the shape a connector has to hand back to us. The codegen CLI takes that plus the provider's API spec and builds the structure: the project, the typed client for their API, the interfaces. The AI then fills in the business logic inside that structure. CI gates and a human reviewer decide whether it ships.</a:t>
            </a:r>
          </a:p>
          <a:p/>
          <a:p>
            <a:r>
              <a:t>What actually gets deployed is the bottom row: an ordinary .NET library — an HttpClient, a mapper and tests — calling the third party. No AI runs at runtime. That is what keeps it testable, cheap and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 — 1 min 45 s]</a:t>
            </a:r>
          </a:p>
          <a:p>
            <a:r>
              <a:t>This is the repository we are about to run. I'm using the Star Wars API for the demo — it's open, and it's the API every bootcamp uses, so it felt right.</a:t>
            </a:r>
          </a:p>
          <a:p/>
          <a:p>
            <a:r>
              <a:t>Under the Generated folder there are three files the CLI owns and rewrites on every run. The first holds our product's typed models, generated from our own spec. The second is the client for the Star Wars API, generated from their spec: one typed method per endpoint, plus the request and response classes. That is roughly a thousand lines of plumbing, and the point is that the review effort moves to the spec instead of to that plumbing. The third is the connector interface our product depends on, plus the dependency-injection wiring. The rule for this folder is: if something in it is wrong, you fix the spec or the manifest and regenerate. You never edit these files, because the next regeneration would erase your change.</a:t>
            </a:r>
          </a:p>
          <a:p/>
          <a:p>
            <a:r>
              <a:t>Under the Connector folder there are two files that the AI and we own together. The connector is essentially the service layer: it makes the calls and translates the provider's errors into ours. The mapper turns their fields into our fields. Both are scaffolded once, with TODO blocks marking exactly what the AI is allowed to fill in, and they are never regenerated while they exist. If you run generate a second time it reports them as untouched.</a:t>
            </a:r>
          </a:p>
          <a:p/>
          <a:p>
            <a:r>
              <a:t>Tests follow the same rule. The generated contract and smoke tests are rewritten each run; the behavioural tests are written once and owned by people.</a:t>
            </a:r>
          </a:p>
          <a:p/>
          <a:p>
            <a:r>
              <a:t>One question that always comes up: what is the CLI made of? It is a small .NET console app. The skeletons, the interfaces and the DI wiring come out of Scriban templates — the same template engine our backend codegen CLI uses, so anyone who has touched that will recognise it. The provider client and our models come from NSwag, driven by the two OpenAPI specs. System.CommandLine parses the commands, and the gates and the AI briefs are ordinary C# in the same tool. Nothing exotic.</a:t>
            </a:r>
          </a:p>
          <a:p/>
          <a:p>
            <a:r>
              <a:t>On the right, the four properties. The manifest declares each operation and — this is the part that matters later — which provider endpoints that operation is allowed to call. The CLI reads both specs, to generate code and to build the brief it gives the AI; the AI proposes the mapping. Regeneration is safe because of the ownership rule I just described. And validation runs seven gates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 — 1 min]</a:t>
            </a:r>
          </a:p>
          <a:p>
            <a:r>
              <a:t>The developer journey is one chain of commands, and these are exactly the commands the orchestrator will run in a few minutes. I will not type any of them.</a:t>
            </a:r>
          </a:p>
          <a:p/>
          <a:p>
            <a:r>
              <a:t>Init creates the manifest. Import reads both specs and generates the client and our models. Map asks the AI to propose the field mappings. Approve is where a person records decisions. Generate builds the interfaces, the wiring, the connector and mapper skeletons and the test shells. AI implement gives the AI a bounded brief for one operation. Validate runs the gates.</a:t>
            </a:r>
          </a:p>
          <a:p/>
          <a:p>
            <a:r>
              <a:t>The orange box is the one human gate. When the AI's confidence on a field is below 0.80, it stops and asks a person. I want to be honest about why it is a single question to a person and not a loop. I have tried the other approach: let the AI review its own mapping and iterate until it reaches ninety-five percent confidence. It blows the token budget, and the extra attempts mostly don't improve the output. One question to the person who knows the business is cheaper and better.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 — 1 min 15 s]</a:t>
            </a:r>
          </a:p>
          <a:p>
            <a:r>
              <a:t>This is the most important design decision in the whole thing: the AI explains its mapping before it writes any code, and the explanation is a file.</a:t>
            </a:r>
          </a:p>
          <a:p/>
          <a:p>
            <a:r>
              <a:t>This JSON is the AI's proposed plan for one operation. The top three lines say: to serve our getCharacter, call their GET /people/{id}/, and it is 90 percent confident that is the right endpoint. Below that there is one entry per field, and each entry has three parts: which of their fields feeds which of ours, a confidence, and a transform — the conversion rule, written in English, that the implementing agent will later turn into code.</a:t>
            </a:r>
          </a:p>
          <a:p/>
          <a:p>
            <a:r>
              <a:t>Look at the height entry. Their height feeds our heightCm, 90 percent, and the transform is "parse as integer; unknown becomes null" — because they send "172" as a string, and the literal word "unknown" when they don't have it. Any two of us would write that rule the same way, which is why the confidence is high.</a:t>
            </a:r>
          </a:p>
          <a:p/>
          <a:p>
            <a:r>
              <a:t>Now the gender entry. Same shape, but the transform stops at "n/a → ?", the confidence is 55 percent, and human approval is required. Their API says "n/a" for droids and our model has no obvious slot for that. One of us would write Other, another would write Unknown — so the AI does not guess. It writes the question at the bottom and stops.</a:t>
            </a:r>
          </a:p>
          <a:p/>
          <a:p>
            <a:r>
              <a:t>Because it is a file, you can edit it before approving, and everything downstream follows the file. It is traceable — every decision and who made it is in git next to the code. It is reviewable before any code exists. And it is measurable: over time we can see where the model was right and where we overrode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 — 45 s]</a:t>
            </a:r>
          </a:p>
          <a:p>
            <a:r>
              <a:t>What does the model actually receive when it implements an operation? Only what it needs, and we are deliberately not sending the thousand-page API spec.</a:t>
            </a:r>
          </a:p>
          <a:p/>
          <a:p>
            <a:r>
              <a:t>Product is ours, provider is theirs. It gets our contract for this one operation and the models it touches. It gets the provider's contract for only the endpoints the manifest allows. It gets the approved mapping with the human decisions. It gets the parts of our engineering policy that apply — retries, error handling, security. And, if we have one, a known good example: a connector we already built this way, so it copies our conventions instead of inventing its own.</a:t>
            </a:r>
          </a:p>
          <a:p/>
          <a:p>
            <a:r>
              <a:t>The CLI assembles this package, not the engineer and not the model, so it is the same every time. In the demo it prints the numbers: about three thousand tokens go to the model; the full specs plus the generated client would be about sixteen thousand. Less context is faster, cheaper, and more consistent.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 — 1 min]</a:t>
            </a:r>
          </a:p>
          <a:p>
            <a:r>
              <a:t>Generated does not mean trusted. A connector is only finished when it passes objective checks, and the six on this slide are exactly what the validate command runs.</a:t>
            </a:r>
          </a:p>
          <a:p/>
          <a:p>
            <a:r>
              <a:t>It builds, and every operation in the contract is implemented. It only calls endpoints the manifest allows, and nothing bypasses the generated client. The tests cover every mapping, every human decision, and the odd values — "unknown", "n/a", empty strings. There are no secrets in code, no provider data in logs, no surprise packages. A real call to the provider works. And a person signed off on every uncertain field, and that sign-off is recorded.</a:t>
            </a:r>
          </a:p>
          <a:p/>
          <a:p>
            <a:r>
              <a:t>When a gate fails, the tooling does not try to fix it. The findings go back to a person who chooses what to do. We'll see that live — I've planted a failure.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[9:30 — 30 s — optional, skip if behind]</a:t>
            </a:r>
          </a:p>
          <a:p>
            <a:r>
              <a:t>What does this give us, as a company? More integrations delivered per quarter, at a quality that is predictable because the same gates run every time. Senior people spend their time on the decisions that actually need them instead of on plumbing. The AI gets the same bounded brief every time, so the output stops depending on who ran it. And the CLI, templates, policy and gates get reused on every engagement, so each connector makes the next one cheaper.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 — 30 s — optional, skip if behind]</a:t>
            </a:r>
          </a:p>
          <a:p>
            <a:r>
              <a:t>If you want to try this, pick one connector. Start small, with sandbox access so the smoke gate is real. Measure four things: time to the first working call, hours spent, how much of the AI-written code survived review, and bugs found afterwards. Two weeks on one connector is enough to know whether it pays off. Now the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 — 30 s — DEMO OVERVIEW]</a:t>
            </a:r>
          </a:p>
          <a:p>
            <a:r>
              <a:t>Here is what the next six minutes look like. I am not going to type commands. I will give an orchestrator agent one instruction. It will run the whole journey — import, mapping, generation, implementation, validation — calling two other agents on the way, and it will stop exactly once: when it needs a business decision. That decision is yours, not mine. Then I will hand it a second instruction that sets a trap, and we will watch what it does with it.</a:t>
            </a:r>
          </a:p>
          <a:p/>
          <a:p>
            <a:r>
              <a:t>Why the Star Wars API: it has no authentication, so it is good for a demo, and it is full of numbers stored as strings, years with letters in them, and URLs where you would expect ids. Mapping it is a real test. The next four slides are the exact text I paste, so anyone can replay this.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 done before the room arrives — DEMO STEP 1]</a:t>
            </a:r>
          </a:p>
          <a:p>
            <a:r>
              <a:t>This slide is for you, not the room; flip past it quickly or skip it. Before the session, run reset with the demo checkpoint. That wipes the generated code, restores two operations that are already finished and green, and strips getCharacter back to "no mapping, TODO blocks", so one operation goes through the whole journey live with two agent calls. If you want to be sure, run map --check yourself and confirm it prints two approved rows and one missing — but do that before anyone is watching, because the orchestrator's first move is to run the same check, and the room should see it come from the agent.</a:t>
            </a:r>
          </a:p>
          <a:p/>
          <a:p>
            <a:r>
              <a:t>Have VS Code open in Copilot agent mode with the terminal visible, and a browser tab on the C-3PO record, because that record is the one that produces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 1 min 30 s — DEMO STEP 2]</a:t>
            </a:r>
          </a:p>
          <a:p>
            <a:r>
              <a:t>Paste the prompt and take your hands off the keyboard. Narrate the terminal as it moves.</a:t>
            </a:r>
          </a:p>
          <a:p/>
          <a:p>
            <a:r>
              <a:t>The first thing the orchestrator does is run map --check and report that two operations are approved and getCharacter is missing. Say: "it reads state from the tool; it doesn't assume." Then it runs import, which regenerates the client and our models — a thousand lines of plumbing rebuilt in a second. Then it runs map for getCharacter, which writes a 1,400-token brief, and it hands that brief to the mapping agent. That call takes thirty to sixty seconds; while it runs, show the C-3PO tab and say "this record is about to become a question."</a:t>
            </a:r>
          </a:p>
          <a:p/>
          <a:p>
            <a:r>
              <a:t>When the mapping agent returns, the orchestrator runs map --check again. This time it prints two low-confidence rows — birth_year at 0.62, gender at 0.55 — and the droid question, and it ends its turn asking you. That is the gate from slide 6, happening for real.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[12:30 — 2 min 30 s — DEMO STEP 3]</a:t>
            </a:r>
          </a:p>
          <a:p>
            <a:r>
              <a:t>Read the orchestrator's question aloud, then ask the room: is a droid "Other" or "Unknown"? Take whatever they say and paste it back in plain words — the slide has a template, edit it to match their answer. The orchestrator turns your words into the approve command, records them in the mapping file with your name and a timestamp, and shows the check going green. Say: "the decision is now in the JSON, with who made it and when — not in this chat."</a:t>
            </a:r>
          </a:p>
          <a:p/>
          <a:p>
            <a:r>
              <a:t>Then it keeps going on its own. Generate: point at "regenerated 4, left untouched 5" — the generated folder was rewritten, the connector files were not, which is the ownership rule from slide 5. AI implement: read the token line — about three thousand tokens go to the model, sixteen thousand would have been the specs plus the client. Then it hands that brief to the connector agent, which fills the three TODO blocks and runs validate itself. This is the longest wait, one to three minutes. Do not type. Talk about slide 8 — what the model received and why so little — while it works.</a:t>
            </a:r>
          </a:p>
          <a:p/>
          <a:p>
            <a:r>
              <a:t>When it finishes, the orchestrator runs validate with --smoke: seven green gates, the last one a real call to the API. It asks the reviewer agent to check the diff against the mapping file, and reports: gate matrix, the two decisions recorded, files changed.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[15:00 — 1 min — DEMO STEP 4]</a:t>
            </a:r>
          </a:p>
          <a:p>
            <a:r>
              <a:t>Now the trap. Paste the second prompt. The script it runs adds a "helpful" enrichment to GetCharacterAsync: fetch the film title so the UI can show it. It compiles. The tests pass. It calls a documented endpoint that works.</a:t>
            </a:r>
          </a:p>
          <a:p/>
          <a:p>
            <a:r>
              <a:t>The orchestrator runs validate and reports CONTRACT FAIL: GetFilmAsync is not an allowed operation for this connector; the allowed ones are the three in the manifest. And then — this is the point — it does not fix it. Its rules say a failing gate goes to a person. It lays out the options: remove the call, or add getFilm to the manifest and map it properly, which would mean a new mapping and a new approval. It asks you which. Say "remove it." It undoes the change and re-validates.</a:t>
            </a:r>
          </a:p>
          <a:p/>
          <a:p>
            <a:r>
              <a:t>Land the line: "That endpoint is documented and it works, and it was still blocked — because the manifest, not the code, decides what a connector may depend on. And the agent escalated instead of quietly patching." Then go to the takeaway.</a:t>
            </a:r>
          </a:p>
          <a:p/>
          <a:p>
            <a:r>
              <a:t>If anything stalled along the way: reset to the implemented checkpoint and ask the orchestrator to run validate --smoke and report. The end state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[16:00 — 1 min]</a:t>
            </a:r>
          </a:p>
          <a:p>
            <a:r>
              <a:t>Three things to take away. The CLI builds the house, which is where consistency comes from. The AI furnishes the rooms inside guardrails, which is where the speed comes from. Gates and review keep us accountable, which is where the confidence comes from.</a:t>
            </a:r>
          </a:p>
          <a:p/>
          <a:p>
            <a:r>
              <a:t>None of this needed a new platform. The CLI is a small .NET tool, the agents are markdown files in the .github folder, and the gates are a script CI already runs. The investment is in the manifest, the mapping files and the policy — the parts that make the next connector cheaper than this one.</a:t>
            </a:r>
          </a:p>
          <a:p/>
          <a:p>
            <a:r>
              <a:t>Next step: point the CLI at a provider spec from a current project and run one connector through it. The repo has a README with everything we just did, so anyone here can replay it.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426"/>
        </a:solidFill>
        <a:effectLst/>
      </p:bgPr>
    </p:bg>
    <p:spTree>
      <p:nvGrpSpPr>
        <p:cNvPr id="1" name=""/>
        <p:cNvGrpSpPr/>
        <p:nvPr/>
      </p:nvGrpSpPr>
      <p:grpSpPr/>
      <p:sp>
        <p:nvSpPr>
          <p:cNvPr id="2" name="Oval 1"/>
          <p:cNvSpPr/>
          <p:nvPr/>
        </p:nvSpPr>
        <p:spPr>
          <a:xfrm>
            <a:off x="7772400" y="-1554480"/>
            <a:ext cx="5486400" cy="5486400"/>
          </a:xfrm>
          <a:prstGeom prst="ellipse">
            <a:avLst/>
          </a:prstGeom>
          <a:solidFill>
            <a:srgbClr val="352B82"/>
          </a:solidFill>
          <a:ln>
            <a:solidFill>
              <a:srgbClr val="352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3017520"/>
            <a:ext cx="4114800" cy="4114800"/>
          </a:xfrm>
          <a:prstGeom prst="ellipse">
            <a:avLst/>
          </a:prstGeom>
          <a:solidFill>
            <a:srgbClr val="123E52"/>
          </a:solidFill>
          <a:ln>
            <a:solidFill>
              <a:srgbClr val="123E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640080"/>
            <a:ext cx="1737360" cy="292608"/>
          </a:xfrm>
          <a:prstGeom prst="roundRect">
            <a:avLst/>
          </a:prstGeom>
          <a:solidFill>
            <a:srgbClr val="302B58"/>
          </a:solidFill>
          <a:ln>
            <a:solidFill>
              <a:srgbClr val="302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658368"/>
            <a:ext cx="1627631" cy="246888"/>
          </a:xfrm>
          <a:prstGeom prst="rect">
            <a:avLst/>
          </a:prstGeom>
          <a:noFill/>
        </p:spPr>
        <p:txBody>
          <a:bodyPr wrap="square" lIns="0" rIns="0" tIns="0" bIns="0" anchor="ctr">
            <a:spAutoFit/>
          </a:bodyPr>
          <a:lstStyle/>
          <a:p>
            <a:pPr algn="ctr"/>
            <a:r>
              <a:rPr sz="900" b="1">
                <a:solidFill>
                  <a:srgbClr val="C9C2FF"/>
                </a:solidFill>
                <a:latin typeface="Aptos"/>
              </a:rPr>
              <a:t>ENGINEERING STRATEGY</a:t>
            </a:r>
          </a:p>
        </p:txBody>
      </p:sp>
      <p:sp>
        <p:nvSpPr>
          <p:cNvPr id="6" name="TextBox 5"/>
          <p:cNvSpPr txBox="1"/>
          <p:nvPr/>
        </p:nvSpPr>
        <p:spPr>
          <a:xfrm>
            <a:off x="658368" y="1207008"/>
            <a:ext cx="7589520" cy="1463040"/>
          </a:xfrm>
          <a:prstGeom prst="rect">
            <a:avLst/>
          </a:prstGeom>
          <a:noFill/>
        </p:spPr>
        <p:txBody>
          <a:bodyPr wrap="square" lIns="0" rIns="0" tIns="0" bIns="0" anchor="ctr">
            <a:spAutoFit/>
          </a:bodyPr>
          <a:lstStyle/>
          <a:p>
            <a:pPr algn="l"/>
            <a:r>
              <a:rPr sz="3600" b="1">
                <a:solidFill>
                  <a:srgbClr val="FFFFFF"/>
                </a:solidFill>
                <a:latin typeface="Aptos"/>
              </a:rPr>
              <a:t>The AI-Assisted</a:t>
            </a:r>
            <a:br/>
            <a:r>
              <a:rPr sz="3600" b="1">
                <a:solidFill>
                  <a:srgbClr val="FFFFFF"/>
                </a:solidFill>
                <a:latin typeface="Aptos"/>
              </a:rPr>
              <a:t>Integration Factory</a:t>
            </a:r>
          </a:p>
        </p:txBody>
      </p:sp>
      <p:sp>
        <p:nvSpPr>
          <p:cNvPr id="7" name="TextBox 6"/>
          <p:cNvSpPr txBox="1"/>
          <p:nvPr/>
        </p:nvSpPr>
        <p:spPr>
          <a:xfrm>
            <a:off x="685800" y="2816352"/>
            <a:ext cx="7132320" cy="749808"/>
          </a:xfrm>
          <a:prstGeom prst="rect">
            <a:avLst/>
          </a:prstGeom>
          <a:noFill/>
        </p:spPr>
        <p:txBody>
          <a:bodyPr wrap="square" lIns="0" rIns="0" tIns="0" bIns="0" anchor="ctr">
            <a:spAutoFit/>
          </a:bodyPr>
          <a:lstStyle/>
          <a:p>
            <a:pPr algn="l"/>
            <a:r>
              <a:rPr sz="1700" b="0">
                <a:solidFill>
                  <a:srgbClr val="CDD2E3"/>
                </a:solidFill>
                <a:latin typeface="Aptos"/>
              </a:rPr>
              <a:t>Deterministic code generation creates the paved road.</a:t>
            </a:r>
            <a:br/>
            <a:r>
              <a:rPr sz="1700" b="0">
                <a:solidFill>
                  <a:srgbClr val="CDD2E3"/>
                </a:solidFill>
                <a:latin typeface="Aptos"/>
              </a:rPr>
              <a:t>AI completes provider-specific logic inside guardrails.</a:t>
            </a:r>
          </a:p>
        </p:txBody>
      </p:sp>
      <p:sp>
        <p:nvSpPr>
          <p:cNvPr id="8" name="Rounded Rectangle 7"/>
          <p:cNvSpPr/>
          <p:nvPr/>
        </p:nvSpPr>
        <p:spPr>
          <a:xfrm>
            <a:off x="731520" y="4160520"/>
            <a:ext cx="1874519" cy="685800"/>
          </a:xfrm>
          <a:prstGeom prst="roundRect">
            <a:avLst/>
          </a:prstGeom>
          <a:solidFill>
            <a:srgbClr val="1B2038"/>
          </a:solidFill>
          <a:ln>
            <a:solidFill>
              <a:srgbClr val="1B2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4315968"/>
            <a:ext cx="1655064" cy="320040"/>
          </a:xfrm>
          <a:prstGeom prst="rect">
            <a:avLst/>
          </a:prstGeom>
          <a:noFill/>
        </p:spPr>
        <p:txBody>
          <a:bodyPr wrap="square" lIns="0" rIns="0" tIns="0" bIns="0" anchor="ctr">
            <a:spAutoFit/>
          </a:bodyPr>
          <a:lstStyle/>
          <a:p>
            <a:pPr algn="ctr"/>
            <a:r>
              <a:rPr sz="1000" b="1">
                <a:solidFill>
                  <a:srgbClr val="FFFFFF"/>
                </a:solidFill>
                <a:latin typeface="Aptos"/>
              </a:rPr>
              <a:t>PRODUCT CONTRACT</a:t>
            </a:r>
          </a:p>
        </p:txBody>
      </p:sp>
      <p:sp>
        <p:nvSpPr>
          <p:cNvPr id="10" name="Chevron 9"/>
          <p:cNvSpPr/>
          <p:nvPr/>
        </p:nvSpPr>
        <p:spPr>
          <a:xfrm>
            <a:off x="2688336" y="4343400"/>
            <a:ext cx="292608" cy="310896"/>
          </a:xfrm>
          <a:prstGeom prst="chevron">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154680" y="4160520"/>
            <a:ext cx="1874519" cy="685800"/>
          </a:xfrm>
          <a:prstGeom prst="round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4408" y="4315968"/>
            <a:ext cx="1655064" cy="320040"/>
          </a:xfrm>
          <a:prstGeom prst="rect">
            <a:avLst/>
          </a:prstGeom>
          <a:noFill/>
        </p:spPr>
        <p:txBody>
          <a:bodyPr wrap="square" lIns="0" rIns="0" tIns="0" bIns="0" anchor="ctr">
            <a:spAutoFit/>
          </a:bodyPr>
          <a:lstStyle/>
          <a:p>
            <a:pPr algn="ctr"/>
            <a:r>
              <a:rPr sz="1000" b="1">
                <a:solidFill>
                  <a:srgbClr val="FFFFFF"/>
                </a:solidFill>
                <a:latin typeface="Aptos"/>
              </a:rPr>
              <a:t>CODEGEN CLI</a:t>
            </a:r>
          </a:p>
        </p:txBody>
      </p:sp>
      <p:sp>
        <p:nvSpPr>
          <p:cNvPr id="13" name="Chevron 12"/>
          <p:cNvSpPr/>
          <p:nvPr/>
        </p:nvSpPr>
        <p:spPr>
          <a:xfrm>
            <a:off x="5111496" y="4343400"/>
            <a:ext cx="292608" cy="310896"/>
          </a:xfrm>
          <a:prstGeom prst="chevron">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577840" y="4160520"/>
            <a:ext cx="1874519" cy="685800"/>
          </a:xfrm>
          <a:prstGeom prst="roundRect">
            <a:avLst/>
          </a:prstGeom>
          <a:solidFill>
            <a:srgbClr val="25345C"/>
          </a:solidFill>
          <a:ln>
            <a:solidFill>
              <a:srgbClr val="253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87568" y="4315968"/>
            <a:ext cx="1655064" cy="320040"/>
          </a:xfrm>
          <a:prstGeom prst="rect">
            <a:avLst/>
          </a:prstGeom>
          <a:noFill/>
        </p:spPr>
        <p:txBody>
          <a:bodyPr wrap="square" lIns="0" rIns="0" tIns="0" bIns="0" anchor="ctr">
            <a:spAutoFit/>
          </a:bodyPr>
          <a:lstStyle/>
          <a:p>
            <a:pPr algn="ctr"/>
            <a:r>
              <a:rPr sz="1000" b="1">
                <a:solidFill>
                  <a:srgbClr val="FFFFFF"/>
                </a:solidFill>
                <a:latin typeface="Aptos"/>
              </a:rPr>
              <a:t>AI IMPLEMENTATION</a:t>
            </a:r>
          </a:p>
        </p:txBody>
      </p:sp>
      <p:sp>
        <p:nvSpPr>
          <p:cNvPr id="16" name="Chevron 15"/>
          <p:cNvSpPr/>
          <p:nvPr/>
        </p:nvSpPr>
        <p:spPr>
          <a:xfrm>
            <a:off x="7534656" y="4343400"/>
            <a:ext cx="292608" cy="310896"/>
          </a:xfrm>
          <a:prstGeom prst="chevron">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01000" y="4160520"/>
            <a:ext cx="1874519" cy="685800"/>
          </a:xfrm>
          <a:prstGeom prst="roundRect">
            <a:avLst/>
          </a:prstGeom>
          <a:solidFill>
            <a:srgbClr val="1B2038"/>
          </a:solidFill>
          <a:ln>
            <a:solidFill>
              <a:srgbClr val="1B2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7" y="4315968"/>
            <a:ext cx="1655064" cy="320040"/>
          </a:xfrm>
          <a:prstGeom prst="rect">
            <a:avLst/>
          </a:prstGeom>
          <a:noFill/>
        </p:spPr>
        <p:txBody>
          <a:bodyPr wrap="square" lIns="0" rIns="0" tIns="0" bIns="0" anchor="ctr">
            <a:spAutoFit/>
          </a:bodyPr>
          <a:lstStyle/>
          <a:p>
            <a:pPr algn="ctr"/>
            <a:r>
              <a:rPr sz="1000" b="1">
                <a:solidFill>
                  <a:srgbClr val="FFFFFF"/>
                </a:solidFill>
                <a:latin typeface="Aptos"/>
              </a:rPr>
              <a:t>VALIDATED CONNECTOR</a:t>
            </a:r>
          </a:p>
        </p:txBody>
      </p:sp>
      <p:sp>
        <p:nvSpPr>
          <p:cNvPr id="19" name="TextBox 18"/>
          <p:cNvSpPr txBox="1"/>
          <p:nvPr/>
        </p:nvSpPr>
        <p:spPr>
          <a:xfrm>
            <a:off x="685800" y="5897880"/>
            <a:ext cx="7772400" cy="274320"/>
          </a:xfrm>
          <a:prstGeom prst="rect">
            <a:avLst/>
          </a:prstGeom>
          <a:noFill/>
        </p:spPr>
        <p:txBody>
          <a:bodyPr wrap="square" lIns="0" rIns="0" tIns="0" bIns="0" anchor="ctr">
            <a:spAutoFit/>
          </a:bodyPr>
          <a:lstStyle/>
          <a:p>
            <a:pPr algn="l"/>
            <a:r>
              <a:rPr sz="1100" b="0">
                <a:solidFill>
                  <a:srgbClr val="9EA6BE"/>
                </a:solidFill>
                <a:latin typeface="Aptos"/>
              </a:rPr>
              <a:t>Prepared for software consultancy leaders and product engineering teams</a:t>
            </a:r>
          </a:p>
        </p:txBody>
      </p:sp>
      <p:sp>
        <p:nvSpPr>
          <p:cNvPr id="20" name="TextBox 19"/>
          <p:cNvSpPr txBox="1"/>
          <p:nvPr/>
        </p:nvSpPr>
        <p:spPr>
          <a:xfrm>
            <a:off x="9646920" y="5897880"/>
            <a:ext cx="1783080" cy="274320"/>
          </a:xfrm>
          <a:prstGeom prst="rect">
            <a:avLst/>
          </a:prstGeom>
          <a:noFill/>
        </p:spPr>
        <p:txBody>
          <a:bodyPr wrap="square" lIns="0" rIns="0" tIns="0" bIns="0" anchor="ctr">
            <a:spAutoFit/>
          </a:bodyPr>
          <a:lstStyle/>
          <a:p>
            <a:pPr algn="r"/>
            <a:r>
              <a:rPr sz="1000" b="1">
                <a:solidFill>
                  <a:srgbClr val="9EA6BE"/>
                </a:solidFill>
                <a:latin typeface="Aptos"/>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02</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01 — THE PROBLEM</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Every integration still feels custom</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The demand scales faster than the engineering model.</a:t>
            </a:r>
          </a:p>
        </p:txBody>
      </p:sp>
      <p:sp>
        <p:nvSpPr>
          <p:cNvPr id="8" name="Rounded Rectangle 7"/>
          <p:cNvSpPr/>
          <p:nvPr/>
        </p:nvSpPr>
        <p:spPr>
          <a:xfrm>
            <a:off x="594360" y="1828800"/>
            <a:ext cx="2578608" cy="224028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828800"/>
            <a:ext cx="2578608" cy="73152"/>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84831"/>
            <a:ext cx="2148840" cy="256032"/>
          </a:xfrm>
          <a:prstGeom prst="rect">
            <a:avLst/>
          </a:prstGeom>
          <a:noFill/>
        </p:spPr>
        <p:txBody>
          <a:bodyPr wrap="square" lIns="0" rIns="0" tIns="0" bIns="0" anchor="ctr">
            <a:spAutoFit/>
          </a:bodyPr>
          <a:lstStyle/>
          <a:p>
            <a:pPr algn="l"/>
            <a:r>
              <a:rPr sz="1000" b="1">
                <a:solidFill>
                  <a:srgbClr val="4F46E5"/>
                </a:solidFill>
                <a:latin typeface="Aptos"/>
              </a:rPr>
              <a:t>DOCUMENTATION</a:t>
            </a:r>
          </a:p>
        </p:txBody>
      </p:sp>
      <p:sp>
        <p:nvSpPr>
          <p:cNvPr id="11" name="TextBox 10"/>
          <p:cNvSpPr txBox="1"/>
          <p:nvPr/>
        </p:nvSpPr>
        <p:spPr>
          <a:xfrm>
            <a:off x="795528" y="2514600"/>
            <a:ext cx="2148840" cy="777240"/>
          </a:xfrm>
          <a:prstGeom prst="rect">
            <a:avLst/>
          </a:prstGeom>
          <a:noFill/>
        </p:spPr>
        <p:txBody>
          <a:bodyPr wrap="square" lIns="0" rIns="0" tIns="0" bIns="0" anchor="t">
            <a:spAutoFit/>
          </a:bodyPr>
          <a:lstStyle/>
          <a:p>
            <a:pPr algn="l"/>
            <a:r>
              <a:rPr sz="1700" b="1">
                <a:solidFill>
                  <a:srgbClr val="151A2D"/>
                </a:solidFill>
                <a:latin typeface="Aptos"/>
              </a:rPr>
              <a:t>Different quality, terminology, and completeness</a:t>
            </a:r>
          </a:p>
        </p:txBody>
      </p:sp>
      <p:sp>
        <p:nvSpPr>
          <p:cNvPr id="12" name="TextBox 11"/>
          <p:cNvSpPr txBox="1"/>
          <p:nvPr/>
        </p:nvSpPr>
        <p:spPr>
          <a:xfrm>
            <a:off x="795528" y="3657600"/>
            <a:ext cx="2148840" cy="228600"/>
          </a:xfrm>
          <a:prstGeom prst="rect">
            <a:avLst/>
          </a:prstGeom>
          <a:noFill/>
        </p:spPr>
        <p:txBody>
          <a:bodyPr wrap="square" lIns="0" rIns="0" tIns="0" bIns="0" anchor="ctr">
            <a:spAutoFit/>
          </a:bodyPr>
          <a:lstStyle/>
          <a:p>
            <a:pPr algn="l"/>
            <a:r>
              <a:rPr sz="1000" b="0">
                <a:solidFill>
                  <a:srgbClr val="626A7A"/>
                </a:solidFill>
                <a:latin typeface="Aptos"/>
              </a:rPr>
              <a:t>Read &amp; interpret</a:t>
            </a:r>
          </a:p>
        </p:txBody>
      </p:sp>
      <p:sp>
        <p:nvSpPr>
          <p:cNvPr id="13" name="Rounded Rectangle 12"/>
          <p:cNvSpPr/>
          <p:nvPr/>
        </p:nvSpPr>
        <p:spPr>
          <a:xfrm>
            <a:off x="3456432" y="1828800"/>
            <a:ext cx="2578608" cy="224028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432" y="1828800"/>
            <a:ext cx="2578608" cy="73152"/>
          </a:xfrm>
          <a:prstGeom prst="rect">
            <a:avLst/>
          </a:prstGeom>
          <a:solidFill>
            <a:srgbClr val="0891B2"/>
          </a:solidFill>
          <a:ln>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2084831"/>
            <a:ext cx="2148840" cy="256032"/>
          </a:xfrm>
          <a:prstGeom prst="rect">
            <a:avLst/>
          </a:prstGeom>
          <a:noFill/>
        </p:spPr>
        <p:txBody>
          <a:bodyPr wrap="square" lIns="0" rIns="0" tIns="0" bIns="0" anchor="ctr">
            <a:spAutoFit/>
          </a:bodyPr>
          <a:lstStyle/>
          <a:p>
            <a:pPr algn="l"/>
            <a:r>
              <a:rPr sz="1000" b="1">
                <a:solidFill>
                  <a:srgbClr val="0891B2"/>
                </a:solidFill>
                <a:latin typeface="Aptos"/>
              </a:rPr>
              <a:t>DATA MODELS</a:t>
            </a:r>
          </a:p>
        </p:txBody>
      </p:sp>
      <p:sp>
        <p:nvSpPr>
          <p:cNvPr id="16" name="TextBox 15"/>
          <p:cNvSpPr txBox="1"/>
          <p:nvPr/>
        </p:nvSpPr>
        <p:spPr>
          <a:xfrm>
            <a:off x="3657600" y="2514600"/>
            <a:ext cx="2148840" cy="777240"/>
          </a:xfrm>
          <a:prstGeom prst="rect">
            <a:avLst/>
          </a:prstGeom>
          <a:noFill/>
        </p:spPr>
        <p:txBody>
          <a:bodyPr wrap="square" lIns="0" rIns="0" tIns="0" bIns="0" anchor="t">
            <a:spAutoFit/>
          </a:bodyPr>
          <a:lstStyle/>
          <a:p>
            <a:pPr algn="l"/>
            <a:r>
              <a:rPr sz="1700" b="1">
                <a:solidFill>
                  <a:srgbClr val="151A2D"/>
                </a:solidFill>
                <a:latin typeface="Aptos"/>
              </a:rPr>
              <a:t>Similar fields often have different business meaning</a:t>
            </a:r>
          </a:p>
        </p:txBody>
      </p:sp>
      <p:sp>
        <p:nvSpPr>
          <p:cNvPr id="17" name="TextBox 16"/>
          <p:cNvSpPr txBox="1"/>
          <p:nvPr/>
        </p:nvSpPr>
        <p:spPr>
          <a:xfrm>
            <a:off x="3657600" y="3657600"/>
            <a:ext cx="2148840" cy="228600"/>
          </a:xfrm>
          <a:prstGeom prst="rect">
            <a:avLst/>
          </a:prstGeom>
          <a:noFill/>
        </p:spPr>
        <p:txBody>
          <a:bodyPr wrap="square" lIns="0" rIns="0" tIns="0" bIns="0" anchor="ctr">
            <a:spAutoFit/>
          </a:bodyPr>
          <a:lstStyle/>
          <a:p>
            <a:pPr algn="l"/>
            <a:r>
              <a:rPr sz="1000" b="0">
                <a:solidFill>
                  <a:srgbClr val="626A7A"/>
                </a:solidFill>
                <a:latin typeface="Aptos"/>
              </a:rPr>
              <a:t>Map &amp; transform</a:t>
            </a:r>
          </a:p>
        </p:txBody>
      </p:sp>
      <p:sp>
        <p:nvSpPr>
          <p:cNvPr id="18" name="Rounded Rectangle 17"/>
          <p:cNvSpPr/>
          <p:nvPr/>
        </p:nvSpPr>
        <p:spPr>
          <a:xfrm>
            <a:off x="6318504" y="1828800"/>
            <a:ext cx="2578608" cy="224028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18504" y="1828800"/>
            <a:ext cx="2578608" cy="73152"/>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9672" y="2084831"/>
            <a:ext cx="2148840" cy="256032"/>
          </a:xfrm>
          <a:prstGeom prst="rect">
            <a:avLst/>
          </a:prstGeom>
          <a:noFill/>
        </p:spPr>
        <p:txBody>
          <a:bodyPr wrap="square" lIns="0" rIns="0" tIns="0" bIns="0" anchor="ctr">
            <a:spAutoFit/>
          </a:bodyPr>
          <a:lstStyle/>
          <a:p>
            <a:pPr algn="l"/>
            <a:r>
              <a:rPr sz="1000" b="1">
                <a:solidFill>
                  <a:srgbClr val="059669"/>
                </a:solidFill>
                <a:latin typeface="Aptos"/>
              </a:rPr>
              <a:t>RUNTIME BEHAVIOR</a:t>
            </a:r>
          </a:p>
        </p:txBody>
      </p:sp>
      <p:sp>
        <p:nvSpPr>
          <p:cNvPr id="21" name="TextBox 20"/>
          <p:cNvSpPr txBox="1"/>
          <p:nvPr/>
        </p:nvSpPr>
        <p:spPr>
          <a:xfrm>
            <a:off x="6519672" y="2514600"/>
            <a:ext cx="2148840" cy="777240"/>
          </a:xfrm>
          <a:prstGeom prst="rect">
            <a:avLst/>
          </a:prstGeom>
          <a:noFill/>
        </p:spPr>
        <p:txBody>
          <a:bodyPr wrap="square" lIns="0" rIns="0" tIns="0" bIns="0" anchor="t">
            <a:spAutoFit/>
          </a:bodyPr>
          <a:lstStyle/>
          <a:p>
            <a:pPr algn="l"/>
            <a:r>
              <a:rPr sz="1700" b="1">
                <a:solidFill>
                  <a:srgbClr val="151A2D"/>
                </a:solidFill>
                <a:latin typeface="Aptos"/>
              </a:rPr>
              <a:t>Auth, pagination, rate limits, retries, webhooks</a:t>
            </a:r>
          </a:p>
        </p:txBody>
      </p:sp>
      <p:sp>
        <p:nvSpPr>
          <p:cNvPr id="22" name="TextBox 21"/>
          <p:cNvSpPr txBox="1"/>
          <p:nvPr/>
        </p:nvSpPr>
        <p:spPr>
          <a:xfrm>
            <a:off x="6519672" y="3657600"/>
            <a:ext cx="2148840" cy="228600"/>
          </a:xfrm>
          <a:prstGeom prst="rect">
            <a:avLst/>
          </a:prstGeom>
          <a:noFill/>
        </p:spPr>
        <p:txBody>
          <a:bodyPr wrap="square" lIns="0" rIns="0" tIns="0" bIns="0" anchor="ctr">
            <a:spAutoFit/>
          </a:bodyPr>
          <a:lstStyle/>
          <a:p>
            <a:pPr algn="l"/>
            <a:r>
              <a:rPr sz="1000" b="0">
                <a:solidFill>
                  <a:srgbClr val="626A7A"/>
                </a:solidFill>
                <a:latin typeface="Aptos"/>
              </a:rPr>
              <a:t>Implement &amp; harden</a:t>
            </a:r>
          </a:p>
        </p:txBody>
      </p:sp>
      <p:sp>
        <p:nvSpPr>
          <p:cNvPr id="23" name="Rounded Rectangle 22"/>
          <p:cNvSpPr/>
          <p:nvPr/>
        </p:nvSpPr>
        <p:spPr>
          <a:xfrm>
            <a:off x="9180576" y="1828800"/>
            <a:ext cx="2578608" cy="224028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0576" y="1828800"/>
            <a:ext cx="2578608" cy="73152"/>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81744" y="2084831"/>
            <a:ext cx="2148840" cy="256032"/>
          </a:xfrm>
          <a:prstGeom prst="rect">
            <a:avLst/>
          </a:prstGeom>
          <a:noFill/>
        </p:spPr>
        <p:txBody>
          <a:bodyPr wrap="square" lIns="0" rIns="0" tIns="0" bIns="0" anchor="ctr">
            <a:spAutoFit/>
          </a:bodyPr>
          <a:lstStyle/>
          <a:p>
            <a:pPr algn="l"/>
            <a:r>
              <a:rPr sz="1000" b="1">
                <a:solidFill>
                  <a:srgbClr val="D97706"/>
                </a:solidFill>
                <a:latin typeface="Aptos"/>
              </a:rPr>
              <a:t>MAINTENANCE</a:t>
            </a:r>
          </a:p>
        </p:txBody>
      </p:sp>
      <p:sp>
        <p:nvSpPr>
          <p:cNvPr id="26" name="TextBox 25"/>
          <p:cNvSpPr txBox="1"/>
          <p:nvPr/>
        </p:nvSpPr>
        <p:spPr>
          <a:xfrm>
            <a:off x="9381744" y="2514600"/>
            <a:ext cx="2148840" cy="777240"/>
          </a:xfrm>
          <a:prstGeom prst="rect">
            <a:avLst/>
          </a:prstGeom>
          <a:noFill/>
        </p:spPr>
        <p:txBody>
          <a:bodyPr wrap="square" lIns="0" rIns="0" tIns="0" bIns="0" anchor="t">
            <a:spAutoFit/>
          </a:bodyPr>
          <a:lstStyle/>
          <a:p>
            <a:pPr algn="l"/>
            <a:r>
              <a:rPr sz="1700" b="1">
                <a:solidFill>
                  <a:srgbClr val="151A2D"/>
                </a:solidFill>
                <a:latin typeface="Aptos"/>
              </a:rPr>
              <a:t>Version changes and undocumented behavior</a:t>
            </a:r>
          </a:p>
        </p:txBody>
      </p:sp>
      <p:sp>
        <p:nvSpPr>
          <p:cNvPr id="27" name="TextBox 26"/>
          <p:cNvSpPr txBox="1"/>
          <p:nvPr/>
        </p:nvSpPr>
        <p:spPr>
          <a:xfrm>
            <a:off x="9381744" y="3657600"/>
            <a:ext cx="2148840" cy="228600"/>
          </a:xfrm>
          <a:prstGeom prst="rect">
            <a:avLst/>
          </a:prstGeom>
          <a:noFill/>
        </p:spPr>
        <p:txBody>
          <a:bodyPr wrap="square" lIns="0" rIns="0" tIns="0" bIns="0" anchor="ctr">
            <a:spAutoFit/>
          </a:bodyPr>
          <a:lstStyle/>
          <a:p>
            <a:pPr algn="l"/>
            <a:r>
              <a:rPr sz="1000" b="0">
                <a:solidFill>
                  <a:srgbClr val="626A7A"/>
                </a:solidFill>
                <a:latin typeface="Aptos"/>
              </a:rPr>
              <a:t>Monitor &amp; update</a:t>
            </a:r>
          </a:p>
        </p:txBody>
      </p:sp>
      <p:sp>
        <p:nvSpPr>
          <p:cNvPr id="28" name="Rounded Rectangle 27"/>
          <p:cNvSpPr/>
          <p:nvPr/>
        </p:nvSpPr>
        <p:spPr>
          <a:xfrm>
            <a:off x="594360" y="4434840"/>
            <a:ext cx="10972800" cy="114300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709160"/>
            <a:ext cx="1097280" cy="237744"/>
          </a:xfrm>
          <a:prstGeom prst="rect">
            <a:avLst/>
          </a:prstGeom>
          <a:noFill/>
        </p:spPr>
        <p:txBody>
          <a:bodyPr wrap="square" lIns="0" rIns="0" tIns="0" bIns="0" anchor="ctr">
            <a:spAutoFit/>
          </a:bodyPr>
          <a:lstStyle/>
          <a:p>
            <a:pPr algn="l"/>
            <a:r>
              <a:rPr sz="1000" b="1">
                <a:solidFill>
                  <a:srgbClr val="2CCCE4"/>
                </a:solidFill>
                <a:latin typeface="Aptos"/>
              </a:rPr>
              <a:t>THE RESULT</a:t>
            </a:r>
          </a:p>
        </p:txBody>
      </p:sp>
      <p:sp>
        <p:nvSpPr>
          <p:cNvPr id="30" name="TextBox 29"/>
          <p:cNvSpPr txBox="1"/>
          <p:nvPr/>
        </p:nvSpPr>
        <p:spPr>
          <a:xfrm>
            <a:off x="2011680" y="4572000"/>
            <a:ext cx="9052560" cy="548640"/>
          </a:xfrm>
          <a:prstGeom prst="rect">
            <a:avLst/>
          </a:prstGeom>
          <a:noFill/>
        </p:spPr>
        <p:txBody>
          <a:bodyPr wrap="square" lIns="0" rIns="0" tIns="0" bIns="0" anchor="ctr">
            <a:spAutoFit/>
          </a:bodyPr>
          <a:lstStyle/>
          <a:p>
            <a:pPr algn="l"/>
            <a:r>
              <a:rPr sz="2000" b="1">
                <a:solidFill>
                  <a:srgbClr val="FFFFFF"/>
                </a:solidFill>
                <a:latin typeface="Aptos"/>
              </a:rPr>
              <a:t>Each new connector becomes a mini software project—slow to start, hard to standardize, expensive to maintain.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03</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02 — THE THESIS</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Split the work by certainty</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Use deterministic automation for structure and AI for variability.</a:t>
            </a:r>
          </a:p>
        </p:txBody>
      </p:sp>
      <p:sp>
        <p:nvSpPr>
          <p:cNvPr id="8" name="Rounded Rectangle 7"/>
          <p:cNvSpPr/>
          <p:nvPr/>
        </p:nvSpPr>
        <p:spPr>
          <a:xfrm>
            <a:off x="640080" y="1783080"/>
            <a:ext cx="3337560" cy="3977639"/>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029968"/>
            <a:ext cx="1234440" cy="292608"/>
          </a:xfrm>
          <a:prstGeom prst="roundRect">
            <a:avLst/>
          </a:prstGeom>
          <a:solidFill>
            <a:srgbClr val="EEF0FF"/>
          </a:solidFill>
          <a:ln>
            <a:solidFill>
              <a:srgbClr val="EE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2048256"/>
            <a:ext cx="1124712" cy="246888"/>
          </a:xfrm>
          <a:prstGeom prst="rect">
            <a:avLst/>
          </a:prstGeom>
          <a:noFill/>
        </p:spPr>
        <p:txBody>
          <a:bodyPr wrap="square" lIns="0" rIns="0" tIns="0" bIns="0" anchor="ctr">
            <a:spAutoFit/>
          </a:bodyPr>
          <a:lstStyle/>
          <a:p>
            <a:pPr algn="ctr"/>
            <a:r>
              <a:rPr sz="900" b="1">
                <a:solidFill>
                  <a:srgbClr val="6D5DFB"/>
                </a:solidFill>
                <a:latin typeface="Aptos"/>
              </a:rPr>
              <a:t>CODEGEN CLI</a:t>
            </a:r>
          </a:p>
        </p:txBody>
      </p:sp>
      <p:sp>
        <p:nvSpPr>
          <p:cNvPr id="11" name="TextBox 10"/>
          <p:cNvSpPr txBox="1"/>
          <p:nvPr/>
        </p:nvSpPr>
        <p:spPr>
          <a:xfrm>
            <a:off x="868680" y="2532888"/>
            <a:ext cx="2560320" cy="365760"/>
          </a:xfrm>
          <a:prstGeom prst="rect">
            <a:avLst/>
          </a:prstGeom>
          <a:noFill/>
        </p:spPr>
        <p:txBody>
          <a:bodyPr wrap="square" lIns="0" rIns="0" tIns="0" bIns="0" anchor="ctr">
            <a:spAutoFit/>
          </a:bodyPr>
          <a:lstStyle/>
          <a:p>
            <a:pPr algn="l"/>
            <a:r>
              <a:rPr sz="2300" b="1">
                <a:solidFill>
                  <a:srgbClr val="151A2D"/>
                </a:solidFill>
                <a:latin typeface="Aptos"/>
              </a:rPr>
              <a:t>Consistency</a:t>
            </a:r>
          </a:p>
        </p:txBody>
      </p:sp>
      <p:sp>
        <p:nvSpPr>
          <p:cNvPr id="12" name="Oval 11"/>
          <p:cNvSpPr/>
          <p:nvPr/>
        </p:nvSpPr>
        <p:spPr>
          <a:xfrm>
            <a:off x="868680" y="3063240"/>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063240"/>
            <a:ext cx="347472" cy="347472"/>
          </a:xfrm>
          <a:prstGeom prst="rect">
            <a:avLst/>
          </a:prstGeom>
          <a:noFill/>
        </p:spPr>
        <p:txBody>
          <a:bodyPr wrap="square" lIns="0" rIns="0" tIns="0" bIns="0" anchor="ctr">
            <a:spAutoFit/>
          </a:bodyPr>
          <a:lstStyle/>
          <a:p>
            <a:pPr algn="ctr"/>
            <a:r>
              <a:rPr sz="1100" b="1">
                <a:solidFill>
                  <a:srgbClr val="FFFFFF"/>
                </a:solidFill>
                <a:latin typeface="Aptos"/>
              </a:rPr>
              <a:t>1</a:t>
            </a:r>
          </a:p>
        </p:txBody>
      </p:sp>
      <p:sp>
        <p:nvSpPr>
          <p:cNvPr id="14" name="TextBox 13"/>
          <p:cNvSpPr txBox="1"/>
          <p:nvPr/>
        </p:nvSpPr>
        <p:spPr>
          <a:xfrm>
            <a:off x="1344168" y="3063240"/>
            <a:ext cx="2331720" cy="347472"/>
          </a:xfrm>
          <a:prstGeom prst="rect">
            <a:avLst/>
          </a:prstGeom>
          <a:noFill/>
        </p:spPr>
        <p:txBody>
          <a:bodyPr wrap="square" lIns="0" rIns="0" tIns="0" bIns="0" anchor="ctr">
            <a:spAutoFit/>
          </a:bodyPr>
          <a:lstStyle/>
          <a:p>
            <a:pPr algn="l"/>
            <a:r>
              <a:rPr sz="1300" b="1">
                <a:solidFill>
                  <a:srgbClr val="626A7A"/>
                </a:solidFill>
                <a:latin typeface="Aptos"/>
              </a:rPr>
              <a:t>Project and folder structure</a:t>
            </a:r>
          </a:p>
        </p:txBody>
      </p:sp>
      <p:sp>
        <p:nvSpPr>
          <p:cNvPr id="15" name="Oval 14"/>
          <p:cNvSpPr/>
          <p:nvPr/>
        </p:nvSpPr>
        <p:spPr>
          <a:xfrm>
            <a:off x="868680" y="3593592"/>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93592"/>
            <a:ext cx="347472" cy="347472"/>
          </a:xfrm>
          <a:prstGeom prst="rect">
            <a:avLst/>
          </a:prstGeom>
          <a:noFill/>
        </p:spPr>
        <p:txBody>
          <a:bodyPr wrap="square" lIns="0" rIns="0" tIns="0" bIns="0" anchor="ctr">
            <a:spAutoFit/>
          </a:bodyPr>
          <a:lstStyle/>
          <a:p>
            <a:pPr algn="ctr"/>
            <a:r>
              <a:rPr sz="1100" b="1">
                <a:solidFill>
                  <a:srgbClr val="FFFFFF"/>
                </a:solidFill>
                <a:latin typeface="Aptos"/>
              </a:rPr>
              <a:t>2</a:t>
            </a:r>
          </a:p>
        </p:txBody>
      </p:sp>
      <p:sp>
        <p:nvSpPr>
          <p:cNvPr id="17" name="TextBox 16"/>
          <p:cNvSpPr txBox="1"/>
          <p:nvPr/>
        </p:nvSpPr>
        <p:spPr>
          <a:xfrm>
            <a:off x="1344168" y="3593592"/>
            <a:ext cx="2331720" cy="347472"/>
          </a:xfrm>
          <a:prstGeom prst="rect">
            <a:avLst/>
          </a:prstGeom>
          <a:noFill/>
        </p:spPr>
        <p:txBody>
          <a:bodyPr wrap="square" lIns="0" rIns="0" tIns="0" bIns="0" anchor="ctr">
            <a:spAutoFit/>
          </a:bodyPr>
          <a:lstStyle/>
          <a:p>
            <a:pPr algn="l"/>
            <a:r>
              <a:rPr sz="1300" b="0">
                <a:solidFill>
                  <a:srgbClr val="626A7A"/>
                </a:solidFill>
                <a:latin typeface="Aptos"/>
              </a:rPr>
              <a:t>Interfaces and typed models</a:t>
            </a:r>
          </a:p>
        </p:txBody>
      </p:sp>
      <p:sp>
        <p:nvSpPr>
          <p:cNvPr id="18" name="Oval 17"/>
          <p:cNvSpPr/>
          <p:nvPr/>
        </p:nvSpPr>
        <p:spPr>
          <a:xfrm>
            <a:off x="868680" y="4123944"/>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123944"/>
            <a:ext cx="347472" cy="347472"/>
          </a:xfrm>
          <a:prstGeom prst="rect">
            <a:avLst/>
          </a:prstGeom>
          <a:noFill/>
        </p:spPr>
        <p:txBody>
          <a:bodyPr wrap="square" lIns="0" rIns="0" tIns="0" bIns="0" anchor="ctr">
            <a:spAutoFit/>
          </a:bodyPr>
          <a:lstStyle/>
          <a:p>
            <a:pPr algn="ctr"/>
            <a:r>
              <a:rPr sz="1100" b="1">
                <a:solidFill>
                  <a:srgbClr val="FFFFFF"/>
                </a:solidFill>
                <a:latin typeface="Aptos"/>
              </a:rPr>
              <a:t>3</a:t>
            </a:r>
          </a:p>
        </p:txBody>
      </p:sp>
      <p:sp>
        <p:nvSpPr>
          <p:cNvPr id="20" name="TextBox 19"/>
          <p:cNvSpPr txBox="1"/>
          <p:nvPr/>
        </p:nvSpPr>
        <p:spPr>
          <a:xfrm>
            <a:off x="1344168" y="4123944"/>
            <a:ext cx="2331720" cy="347472"/>
          </a:xfrm>
          <a:prstGeom prst="rect">
            <a:avLst/>
          </a:prstGeom>
          <a:noFill/>
        </p:spPr>
        <p:txBody>
          <a:bodyPr wrap="square" lIns="0" rIns="0" tIns="0" bIns="0" anchor="ctr">
            <a:spAutoFit/>
          </a:bodyPr>
          <a:lstStyle/>
          <a:p>
            <a:pPr algn="l"/>
            <a:r>
              <a:rPr sz="1300" b="0">
                <a:solidFill>
                  <a:srgbClr val="626A7A"/>
                </a:solidFill>
                <a:latin typeface="Aptos"/>
              </a:rPr>
              <a:t>Config and auth extension points</a:t>
            </a:r>
          </a:p>
        </p:txBody>
      </p:sp>
      <p:sp>
        <p:nvSpPr>
          <p:cNvPr id="21" name="Oval 20"/>
          <p:cNvSpPr/>
          <p:nvPr/>
        </p:nvSpPr>
        <p:spPr>
          <a:xfrm>
            <a:off x="868680" y="4654296"/>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654296"/>
            <a:ext cx="347472" cy="347472"/>
          </a:xfrm>
          <a:prstGeom prst="rect">
            <a:avLst/>
          </a:prstGeom>
          <a:noFill/>
        </p:spPr>
        <p:txBody>
          <a:bodyPr wrap="square" lIns="0" rIns="0" tIns="0" bIns="0" anchor="ctr">
            <a:spAutoFit/>
          </a:bodyPr>
          <a:lstStyle/>
          <a:p>
            <a:pPr algn="ctr"/>
            <a:r>
              <a:rPr sz="1100" b="1">
                <a:solidFill>
                  <a:srgbClr val="FFFFFF"/>
                </a:solidFill>
                <a:latin typeface="Aptos"/>
              </a:rPr>
              <a:t>4</a:t>
            </a:r>
          </a:p>
        </p:txBody>
      </p:sp>
      <p:sp>
        <p:nvSpPr>
          <p:cNvPr id="23" name="TextBox 22"/>
          <p:cNvSpPr txBox="1"/>
          <p:nvPr/>
        </p:nvSpPr>
        <p:spPr>
          <a:xfrm>
            <a:off x="1344168" y="4654296"/>
            <a:ext cx="2331720" cy="347472"/>
          </a:xfrm>
          <a:prstGeom prst="rect">
            <a:avLst/>
          </a:prstGeom>
          <a:noFill/>
        </p:spPr>
        <p:txBody>
          <a:bodyPr wrap="square" lIns="0" rIns="0" tIns="0" bIns="0" anchor="ctr">
            <a:spAutoFit/>
          </a:bodyPr>
          <a:lstStyle/>
          <a:p>
            <a:pPr algn="l"/>
            <a:r>
              <a:rPr sz="1300" b="0">
                <a:solidFill>
                  <a:srgbClr val="626A7A"/>
                </a:solidFill>
                <a:latin typeface="Aptos"/>
              </a:rPr>
              <a:t>Test shells and CI hooks</a:t>
            </a:r>
          </a:p>
        </p:txBody>
      </p:sp>
      <p:sp>
        <p:nvSpPr>
          <p:cNvPr id="24" name="Rounded Rectangle 23"/>
          <p:cNvSpPr/>
          <p:nvPr/>
        </p:nvSpPr>
        <p:spPr>
          <a:xfrm>
            <a:off x="4425696" y="1783080"/>
            <a:ext cx="3337560" cy="3977639"/>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54296" y="2029968"/>
            <a:ext cx="1234440" cy="292608"/>
          </a:xfrm>
          <a:prstGeom prst="roundRect">
            <a:avLst/>
          </a:prstGeom>
          <a:solidFill>
            <a:srgbClr val="EEF0FF"/>
          </a:solidFill>
          <a:ln>
            <a:solidFill>
              <a:srgbClr val="EE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59" y="2048256"/>
            <a:ext cx="1124712" cy="246888"/>
          </a:xfrm>
          <a:prstGeom prst="rect">
            <a:avLst/>
          </a:prstGeom>
          <a:noFill/>
        </p:spPr>
        <p:txBody>
          <a:bodyPr wrap="square" lIns="0" rIns="0" tIns="0" bIns="0" anchor="ctr">
            <a:spAutoFit/>
          </a:bodyPr>
          <a:lstStyle/>
          <a:p>
            <a:pPr algn="ctr"/>
            <a:r>
              <a:rPr sz="900" b="1">
                <a:solidFill>
                  <a:srgbClr val="2CCCE4"/>
                </a:solidFill>
                <a:latin typeface="Aptos"/>
              </a:rPr>
              <a:t>AI</a:t>
            </a:r>
          </a:p>
        </p:txBody>
      </p:sp>
      <p:sp>
        <p:nvSpPr>
          <p:cNvPr id="27" name="TextBox 26"/>
          <p:cNvSpPr txBox="1"/>
          <p:nvPr/>
        </p:nvSpPr>
        <p:spPr>
          <a:xfrm>
            <a:off x="4654296" y="2532888"/>
            <a:ext cx="2560320" cy="365760"/>
          </a:xfrm>
          <a:prstGeom prst="rect">
            <a:avLst/>
          </a:prstGeom>
          <a:noFill/>
        </p:spPr>
        <p:txBody>
          <a:bodyPr wrap="square" lIns="0" rIns="0" tIns="0" bIns="0" anchor="ctr">
            <a:spAutoFit/>
          </a:bodyPr>
          <a:lstStyle/>
          <a:p>
            <a:pPr algn="l"/>
            <a:r>
              <a:rPr sz="2300" b="1">
                <a:solidFill>
                  <a:srgbClr val="151A2D"/>
                </a:solidFill>
                <a:latin typeface="Aptos"/>
              </a:rPr>
              <a:t>Adaptability</a:t>
            </a:r>
          </a:p>
        </p:txBody>
      </p:sp>
      <p:sp>
        <p:nvSpPr>
          <p:cNvPr id="28" name="Oval 27"/>
          <p:cNvSpPr/>
          <p:nvPr/>
        </p:nvSpPr>
        <p:spPr>
          <a:xfrm>
            <a:off x="4654296" y="3063240"/>
            <a:ext cx="347472" cy="347472"/>
          </a:xfrm>
          <a:prstGeom prst="ellipse">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54296" y="3063240"/>
            <a:ext cx="347472" cy="347472"/>
          </a:xfrm>
          <a:prstGeom prst="rect">
            <a:avLst/>
          </a:prstGeom>
          <a:noFill/>
        </p:spPr>
        <p:txBody>
          <a:bodyPr wrap="square" lIns="0" rIns="0" tIns="0" bIns="0" anchor="ctr">
            <a:spAutoFit/>
          </a:bodyPr>
          <a:lstStyle/>
          <a:p>
            <a:pPr algn="ctr"/>
            <a:r>
              <a:rPr sz="1100" b="1">
                <a:solidFill>
                  <a:srgbClr val="FFFFFF"/>
                </a:solidFill>
                <a:latin typeface="Aptos"/>
              </a:rPr>
              <a:t>1</a:t>
            </a:r>
          </a:p>
        </p:txBody>
      </p:sp>
      <p:sp>
        <p:nvSpPr>
          <p:cNvPr id="30" name="TextBox 29"/>
          <p:cNvSpPr txBox="1"/>
          <p:nvPr/>
        </p:nvSpPr>
        <p:spPr>
          <a:xfrm>
            <a:off x="5129783" y="3063240"/>
            <a:ext cx="2331720" cy="347472"/>
          </a:xfrm>
          <a:prstGeom prst="rect">
            <a:avLst/>
          </a:prstGeom>
          <a:noFill/>
        </p:spPr>
        <p:txBody>
          <a:bodyPr wrap="square" lIns="0" rIns="0" tIns="0" bIns="0" anchor="ctr">
            <a:spAutoFit/>
          </a:bodyPr>
          <a:lstStyle/>
          <a:p>
            <a:pPr algn="l"/>
            <a:r>
              <a:rPr sz="1300" b="1">
                <a:solidFill>
                  <a:srgbClr val="626A7A"/>
                </a:solidFill>
                <a:latin typeface="Aptos"/>
              </a:rPr>
              <a:t>Interpret third-party docs</a:t>
            </a:r>
          </a:p>
        </p:txBody>
      </p:sp>
      <p:sp>
        <p:nvSpPr>
          <p:cNvPr id="31" name="Oval 30"/>
          <p:cNvSpPr/>
          <p:nvPr/>
        </p:nvSpPr>
        <p:spPr>
          <a:xfrm>
            <a:off x="4654296" y="3593592"/>
            <a:ext cx="347472" cy="347472"/>
          </a:xfrm>
          <a:prstGeom prst="ellipse">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54296" y="3593592"/>
            <a:ext cx="347472" cy="347472"/>
          </a:xfrm>
          <a:prstGeom prst="rect">
            <a:avLst/>
          </a:prstGeom>
          <a:noFill/>
        </p:spPr>
        <p:txBody>
          <a:bodyPr wrap="square" lIns="0" rIns="0" tIns="0" bIns="0" anchor="ctr">
            <a:spAutoFit/>
          </a:bodyPr>
          <a:lstStyle/>
          <a:p>
            <a:pPr algn="ctr"/>
            <a:r>
              <a:rPr sz="1100" b="1">
                <a:solidFill>
                  <a:srgbClr val="FFFFFF"/>
                </a:solidFill>
                <a:latin typeface="Aptos"/>
              </a:rPr>
              <a:t>2</a:t>
            </a:r>
          </a:p>
        </p:txBody>
      </p:sp>
      <p:sp>
        <p:nvSpPr>
          <p:cNvPr id="33" name="TextBox 32"/>
          <p:cNvSpPr txBox="1"/>
          <p:nvPr/>
        </p:nvSpPr>
        <p:spPr>
          <a:xfrm>
            <a:off x="5129783" y="3593592"/>
            <a:ext cx="2331720" cy="347472"/>
          </a:xfrm>
          <a:prstGeom prst="rect">
            <a:avLst/>
          </a:prstGeom>
          <a:noFill/>
        </p:spPr>
        <p:txBody>
          <a:bodyPr wrap="square" lIns="0" rIns="0" tIns="0" bIns="0" anchor="ctr">
            <a:spAutoFit/>
          </a:bodyPr>
          <a:lstStyle/>
          <a:p>
            <a:pPr algn="l"/>
            <a:r>
              <a:rPr sz="1300" b="0">
                <a:solidFill>
                  <a:srgbClr val="626A7A"/>
                </a:solidFill>
                <a:latin typeface="Aptos"/>
              </a:rPr>
              <a:t>Propose semantic mappings</a:t>
            </a:r>
          </a:p>
        </p:txBody>
      </p:sp>
      <p:sp>
        <p:nvSpPr>
          <p:cNvPr id="34" name="Oval 33"/>
          <p:cNvSpPr/>
          <p:nvPr/>
        </p:nvSpPr>
        <p:spPr>
          <a:xfrm>
            <a:off x="4654296" y="4123944"/>
            <a:ext cx="347472" cy="347472"/>
          </a:xfrm>
          <a:prstGeom prst="ellipse">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54296" y="4123944"/>
            <a:ext cx="347472" cy="347472"/>
          </a:xfrm>
          <a:prstGeom prst="rect">
            <a:avLst/>
          </a:prstGeom>
          <a:noFill/>
        </p:spPr>
        <p:txBody>
          <a:bodyPr wrap="square" lIns="0" rIns="0" tIns="0" bIns="0" anchor="ctr">
            <a:spAutoFit/>
          </a:bodyPr>
          <a:lstStyle/>
          <a:p>
            <a:pPr algn="ctr"/>
            <a:r>
              <a:rPr sz="1100" b="1">
                <a:solidFill>
                  <a:srgbClr val="FFFFFF"/>
                </a:solidFill>
                <a:latin typeface="Aptos"/>
              </a:rPr>
              <a:t>3</a:t>
            </a:r>
          </a:p>
        </p:txBody>
      </p:sp>
      <p:sp>
        <p:nvSpPr>
          <p:cNvPr id="36" name="TextBox 35"/>
          <p:cNvSpPr txBox="1"/>
          <p:nvPr/>
        </p:nvSpPr>
        <p:spPr>
          <a:xfrm>
            <a:off x="5129783" y="4123944"/>
            <a:ext cx="2331720" cy="347472"/>
          </a:xfrm>
          <a:prstGeom prst="rect">
            <a:avLst/>
          </a:prstGeom>
          <a:noFill/>
        </p:spPr>
        <p:txBody>
          <a:bodyPr wrap="square" lIns="0" rIns="0" tIns="0" bIns="0" anchor="ctr">
            <a:spAutoFit/>
          </a:bodyPr>
          <a:lstStyle/>
          <a:p>
            <a:pPr algn="l"/>
            <a:r>
              <a:rPr sz="1300" b="0">
                <a:solidFill>
                  <a:srgbClr val="626A7A"/>
                </a:solidFill>
                <a:latin typeface="Aptos"/>
              </a:rPr>
              <a:t>Implement provider logic</a:t>
            </a:r>
          </a:p>
        </p:txBody>
      </p:sp>
      <p:sp>
        <p:nvSpPr>
          <p:cNvPr id="37" name="Oval 36"/>
          <p:cNvSpPr/>
          <p:nvPr/>
        </p:nvSpPr>
        <p:spPr>
          <a:xfrm>
            <a:off x="4654296" y="4654296"/>
            <a:ext cx="347472" cy="347472"/>
          </a:xfrm>
          <a:prstGeom prst="ellipse">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54296" y="4654296"/>
            <a:ext cx="347472" cy="347472"/>
          </a:xfrm>
          <a:prstGeom prst="rect">
            <a:avLst/>
          </a:prstGeom>
          <a:noFill/>
        </p:spPr>
        <p:txBody>
          <a:bodyPr wrap="square" lIns="0" rIns="0" tIns="0" bIns="0" anchor="ctr">
            <a:spAutoFit/>
          </a:bodyPr>
          <a:lstStyle/>
          <a:p>
            <a:pPr algn="ctr"/>
            <a:r>
              <a:rPr sz="1100" b="1">
                <a:solidFill>
                  <a:srgbClr val="FFFFFF"/>
                </a:solidFill>
                <a:latin typeface="Aptos"/>
              </a:rPr>
              <a:t>4</a:t>
            </a:r>
          </a:p>
        </p:txBody>
      </p:sp>
      <p:sp>
        <p:nvSpPr>
          <p:cNvPr id="39" name="TextBox 38"/>
          <p:cNvSpPr txBox="1"/>
          <p:nvPr/>
        </p:nvSpPr>
        <p:spPr>
          <a:xfrm>
            <a:off x="5129783" y="4654296"/>
            <a:ext cx="2331720" cy="347472"/>
          </a:xfrm>
          <a:prstGeom prst="rect">
            <a:avLst/>
          </a:prstGeom>
          <a:noFill/>
        </p:spPr>
        <p:txBody>
          <a:bodyPr wrap="square" lIns="0" rIns="0" tIns="0" bIns="0" anchor="ctr">
            <a:spAutoFit/>
          </a:bodyPr>
          <a:lstStyle/>
          <a:p>
            <a:pPr algn="l"/>
            <a:r>
              <a:rPr sz="1300" b="0">
                <a:solidFill>
                  <a:srgbClr val="626A7A"/>
                </a:solidFill>
                <a:latin typeface="Aptos"/>
              </a:rPr>
              <a:t>Complete tests and diagnostics</a:t>
            </a:r>
          </a:p>
        </p:txBody>
      </p:sp>
      <p:sp>
        <p:nvSpPr>
          <p:cNvPr id="40" name="Rounded Rectangle 39"/>
          <p:cNvSpPr/>
          <p:nvPr/>
        </p:nvSpPr>
        <p:spPr>
          <a:xfrm>
            <a:off x="8211312" y="1783080"/>
            <a:ext cx="3337560" cy="3977639"/>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439912" y="2029968"/>
            <a:ext cx="1234440" cy="292608"/>
          </a:xfrm>
          <a:prstGeom prst="roundRect">
            <a:avLst/>
          </a:prstGeom>
          <a:solidFill>
            <a:srgbClr val="EEF0FF"/>
          </a:solidFill>
          <a:ln>
            <a:solidFill>
              <a:srgbClr val="EE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94776" y="2048256"/>
            <a:ext cx="1124712" cy="246888"/>
          </a:xfrm>
          <a:prstGeom prst="rect">
            <a:avLst/>
          </a:prstGeom>
          <a:noFill/>
        </p:spPr>
        <p:txBody>
          <a:bodyPr wrap="square" lIns="0" rIns="0" tIns="0" bIns="0" anchor="ctr">
            <a:spAutoFit/>
          </a:bodyPr>
          <a:lstStyle/>
          <a:p>
            <a:pPr algn="ctr"/>
            <a:r>
              <a:rPr sz="900" b="1">
                <a:solidFill>
                  <a:srgbClr val="2DBE88"/>
                </a:solidFill>
                <a:latin typeface="Aptos"/>
              </a:rPr>
              <a:t>ENGINEERS</a:t>
            </a:r>
          </a:p>
        </p:txBody>
      </p:sp>
      <p:sp>
        <p:nvSpPr>
          <p:cNvPr id="43" name="TextBox 42"/>
          <p:cNvSpPr txBox="1"/>
          <p:nvPr/>
        </p:nvSpPr>
        <p:spPr>
          <a:xfrm>
            <a:off x="8439912" y="2532888"/>
            <a:ext cx="2560320" cy="365760"/>
          </a:xfrm>
          <a:prstGeom prst="rect">
            <a:avLst/>
          </a:prstGeom>
          <a:noFill/>
        </p:spPr>
        <p:txBody>
          <a:bodyPr wrap="square" lIns="0" rIns="0" tIns="0" bIns="0" anchor="ctr">
            <a:spAutoFit/>
          </a:bodyPr>
          <a:lstStyle/>
          <a:p>
            <a:pPr algn="l"/>
            <a:r>
              <a:rPr sz="2300" b="1">
                <a:solidFill>
                  <a:srgbClr val="151A2D"/>
                </a:solidFill>
                <a:latin typeface="Aptos"/>
              </a:rPr>
              <a:t>Accountability</a:t>
            </a:r>
          </a:p>
        </p:txBody>
      </p:sp>
      <p:sp>
        <p:nvSpPr>
          <p:cNvPr id="44" name="Oval 43"/>
          <p:cNvSpPr/>
          <p:nvPr/>
        </p:nvSpPr>
        <p:spPr>
          <a:xfrm>
            <a:off x="8439912" y="3063240"/>
            <a:ext cx="347472" cy="347472"/>
          </a:xfrm>
          <a:prstGeom prst="ellipse">
            <a:avLst/>
          </a:prstGeom>
          <a:solidFill>
            <a:srgbClr val="2DBE88"/>
          </a:solidFill>
          <a:ln>
            <a:solidFill>
              <a:srgbClr val="2DBE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39912" y="3063240"/>
            <a:ext cx="347472" cy="347472"/>
          </a:xfrm>
          <a:prstGeom prst="rect">
            <a:avLst/>
          </a:prstGeom>
          <a:noFill/>
        </p:spPr>
        <p:txBody>
          <a:bodyPr wrap="square" lIns="0" rIns="0" tIns="0" bIns="0" anchor="ctr">
            <a:spAutoFit/>
          </a:bodyPr>
          <a:lstStyle/>
          <a:p>
            <a:pPr algn="ctr"/>
            <a:r>
              <a:rPr sz="1100" b="1">
                <a:solidFill>
                  <a:srgbClr val="FFFFFF"/>
                </a:solidFill>
                <a:latin typeface="Aptos"/>
              </a:rPr>
              <a:t>1</a:t>
            </a:r>
          </a:p>
        </p:txBody>
      </p:sp>
      <p:sp>
        <p:nvSpPr>
          <p:cNvPr id="46" name="TextBox 45"/>
          <p:cNvSpPr txBox="1"/>
          <p:nvPr/>
        </p:nvSpPr>
        <p:spPr>
          <a:xfrm>
            <a:off x="8915400" y="3063240"/>
            <a:ext cx="2331720" cy="347472"/>
          </a:xfrm>
          <a:prstGeom prst="rect">
            <a:avLst/>
          </a:prstGeom>
          <a:noFill/>
        </p:spPr>
        <p:txBody>
          <a:bodyPr wrap="square" lIns="0" rIns="0" tIns="0" bIns="0" anchor="ctr">
            <a:spAutoFit/>
          </a:bodyPr>
          <a:lstStyle/>
          <a:p>
            <a:pPr algn="l"/>
            <a:r>
              <a:rPr sz="1300" b="1">
                <a:solidFill>
                  <a:srgbClr val="626A7A"/>
                </a:solidFill>
                <a:latin typeface="Aptos"/>
              </a:rPr>
              <a:t>Approve architecture</a:t>
            </a:r>
          </a:p>
        </p:txBody>
      </p:sp>
      <p:sp>
        <p:nvSpPr>
          <p:cNvPr id="47" name="Oval 46"/>
          <p:cNvSpPr/>
          <p:nvPr/>
        </p:nvSpPr>
        <p:spPr>
          <a:xfrm>
            <a:off x="8439912" y="3593592"/>
            <a:ext cx="347472" cy="347472"/>
          </a:xfrm>
          <a:prstGeom prst="ellipse">
            <a:avLst/>
          </a:prstGeom>
          <a:solidFill>
            <a:srgbClr val="2DBE88"/>
          </a:solidFill>
          <a:ln>
            <a:solidFill>
              <a:srgbClr val="2DBE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39912" y="3593592"/>
            <a:ext cx="347472" cy="347472"/>
          </a:xfrm>
          <a:prstGeom prst="rect">
            <a:avLst/>
          </a:prstGeom>
          <a:noFill/>
        </p:spPr>
        <p:txBody>
          <a:bodyPr wrap="square" lIns="0" rIns="0" tIns="0" bIns="0" anchor="ctr">
            <a:spAutoFit/>
          </a:bodyPr>
          <a:lstStyle/>
          <a:p>
            <a:pPr algn="ctr"/>
            <a:r>
              <a:rPr sz="1100" b="1">
                <a:solidFill>
                  <a:srgbClr val="FFFFFF"/>
                </a:solidFill>
                <a:latin typeface="Aptos"/>
              </a:rPr>
              <a:t>2</a:t>
            </a:r>
          </a:p>
        </p:txBody>
      </p:sp>
      <p:sp>
        <p:nvSpPr>
          <p:cNvPr id="49" name="TextBox 48"/>
          <p:cNvSpPr txBox="1"/>
          <p:nvPr/>
        </p:nvSpPr>
        <p:spPr>
          <a:xfrm>
            <a:off x="8915400" y="3593592"/>
            <a:ext cx="2331720" cy="347472"/>
          </a:xfrm>
          <a:prstGeom prst="rect">
            <a:avLst/>
          </a:prstGeom>
          <a:noFill/>
        </p:spPr>
        <p:txBody>
          <a:bodyPr wrap="square" lIns="0" rIns="0" tIns="0" bIns="0" anchor="ctr">
            <a:spAutoFit/>
          </a:bodyPr>
          <a:lstStyle/>
          <a:p>
            <a:pPr algn="l"/>
            <a:r>
              <a:rPr sz="1300" b="0">
                <a:solidFill>
                  <a:srgbClr val="626A7A"/>
                </a:solidFill>
                <a:latin typeface="Aptos"/>
              </a:rPr>
              <a:t>Resolve business ambiguity</a:t>
            </a:r>
          </a:p>
        </p:txBody>
      </p:sp>
      <p:sp>
        <p:nvSpPr>
          <p:cNvPr id="50" name="Oval 49"/>
          <p:cNvSpPr/>
          <p:nvPr/>
        </p:nvSpPr>
        <p:spPr>
          <a:xfrm>
            <a:off x="8439912" y="4123944"/>
            <a:ext cx="347472" cy="347472"/>
          </a:xfrm>
          <a:prstGeom prst="ellipse">
            <a:avLst/>
          </a:prstGeom>
          <a:solidFill>
            <a:srgbClr val="2DBE88"/>
          </a:solidFill>
          <a:ln>
            <a:solidFill>
              <a:srgbClr val="2DBE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39912" y="4123944"/>
            <a:ext cx="347472" cy="347472"/>
          </a:xfrm>
          <a:prstGeom prst="rect">
            <a:avLst/>
          </a:prstGeom>
          <a:noFill/>
        </p:spPr>
        <p:txBody>
          <a:bodyPr wrap="square" lIns="0" rIns="0" tIns="0" bIns="0" anchor="ctr">
            <a:spAutoFit/>
          </a:bodyPr>
          <a:lstStyle/>
          <a:p>
            <a:pPr algn="ctr"/>
            <a:r>
              <a:rPr sz="1100" b="1">
                <a:solidFill>
                  <a:srgbClr val="FFFFFF"/>
                </a:solidFill>
                <a:latin typeface="Aptos"/>
              </a:rPr>
              <a:t>3</a:t>
            </a:r>
          </a:p>
        </p:txBody>
      </p:sp>
      <p:sp>
        <p:nvSpPr>
          <p:cNvPr id="52" name="TextBox 51"/>
          <p:cNvSpPr txBox="1"/>
          <p:nvPr/>
        </p:nvSpPr>
        <p:spPr>
          <a:xfrm>
            <a:off x="8915400" y="4123944"/>
            <a:ext cx="2331720" cy="347472"/>
          </a:xfrm>
          <a:prstGeom prst="rect">
            <a:avLst/>
          </a:prstGeom>
          <a:noFill/>
        </p:spPr>
        <p:txBody>
          <a:bodyPr wrap="square" lIns="0" rIns="0" tIns="0" bIns="0" anchor="ctr">
            <a:spAutoFit/>
          </a:bodyPr>
          <a:lstStyle/>
          <a:p>
            <a:pPr algn="l"/>
            <a:r>
              <a:rPr sz="1300" b="0">
                <a:solidFill>
                  <a:srgbClr val="626A7A"/>
                </a:solidFill>
                <a:latin typeface="Aptos"/>
              </a:rPr>
              <a:t>Review security and quality</a:t>
            </a:r>
          </a:p>
        </p:txBody>
      </p:sp>
      <p:sp>
        <p:nvSpPr>
          <p:cNvPr id="53" name="Oval 52"/>
          <p:cNvSpPr/>
          <p:nvPr/>
        </p:nvSpPr>
        <p:spPr>
          <a:xfrm>
            <a:off x="8439912" y="4654296"/>
            <a:ext cx="347472" cy="347472"/>
          </a:xfrm>
          <a:prstGeom prst="ellipse">
            <a:avLst/>
          </a:prstGeom>
          <a:solidFill>
            <a:srgbClr val="2DBE88"/>
          </a:solidFill>
          <a:ln>
            <a:solidFill>
              <a:srgbClr val="2DBE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39912" y="4654296"/>
            <a:ext cx="347472" cy="347472"/>
          </a:xfrm>
          <a:prstGeom prst="rect">
            <a:avLst/>
          </a:prstGeom>
          <a:noFill/>
        </p:spPr>
        <p:txBody>
          <a:bodyPr wrap="square" lIns="0" rIns="0" tIns="0" bIns="0" anchor="ctr">
            <a:spAutoFit/>
          </a:bodyPr>
          <a:lstStyle/>
          <a:p>
            <a:pPr algn="ctr"/>
            <a:r>
              <a:rPr sz="1100" b="1">
                <a:solidFill>
                  <a:srgbClr val="FFFFFF"/>
                </a:solidFill>
                <a:latin typeface="Aptos"/>
              </a:rPr>
              <a:t>4</a:t>
            </a:r>
          </a:p>
        </p:txBody>
      </p:sp>
      <p:sp>
        <p:nvSpPr>
          <p:cNvPr id="55" name="TextBox 54"/>
          <p:cNvSpPr txBox="1"/>
          <p:nvPr/>
        </p:nvSpPr>
        <p:spPr>
          <a:xfrm>
            <a:off x="8915400" y="4654296"/>
            <a:ext cx="2331720" cy="347472"/>
          </a:xfrm>
          <a:prstGeom prst="rect">
            <a:avLst/>
          </a:prstGeom>
          <a:noFill/>
        </p:spPr>
        <p:txBody>
          <a:bodyPr wrap="square" lIns="0" rIns="0" tIns="0" bIns="0" anchor="ctr">
            <a:spAutoFit/>
          </a:bodyPr>
          <a:lstStyle/>
          <a:p>
            <a:pPr algn="l"/>
            <a:r>
              <a:rPr sz="1300" b="0">
                <a:solidFill>
                  <a:srgbClr val="626A7A"/>
                </a:solidFill>
                <a:latin typeface="Aptos"/>
              </a:rPr>
              <a:t>Own production readiness</a:t>
            </a:r>
          </a:p>
        </p:txBody>
      </p:sp>
      <p:sp>
        <p:nvSpPr>
          <p:cNvPr id="56" name="TextBox 55"/>
          <p:cNvSpPr txBox="1"/>
          <p:nvPr/>
        </p:nvSpPr>
        <p:spPr>
          <a:xfrm>
            <a:off x="640080" y="5961888"/>
            <a:ext cx="10881360" cy="365760"/>
          </a:xfrm>
          <a:prstGeom prst="rect">
            <a:avLst/>
          </a:prstGeom>
          <a:noFill/>
        </p:spPr>
        <p:txBody>
          <a:bodyPr wrap="square" lIns="0" rIns="0" tIns="0" bIns="0" anchor="ctr">
            <a:spAutoFit/>
          </a:bodyPr>
          <a:lstStyle/>
          <a:p>
            <a:pPr algn="ctr"/>
            <a:r>
              <a:rPr sz="1800" b="1">
                <a:solidFill>
                  <a:srgbClr val="6D5DFB"/>
                </a:solidFill>
                <a:latin typeface="Aptos"/>
              </a:rPr>
              <a:t>The CLI builds the house. AI furnishes the rooms. Engineers sign 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04</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03 — WHAT THE FACTORY IS</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What the factory actually is</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Product = what we are building. Provider = the third party. What ships is an ordinary .NET library.</a:t>
            </a:r>
          </a:p>
        </p:txBody>
      </p:sp>
      <p:sp>
        <p:nvSpPr>
          <p:cNvPr id="8" name="Rounded Rectangle 7"/>
          <p:cNvSpPr/>
          <p:nvPr/>
        </p:nvSpPr>
        <p:spPr>
          <a:xfrm>
            <a:off x="621792" y="1691640"/>
            <a:ext cx="10927080" cy="3154680"/>
          </a:xfrm>
          <a:prstGeom prst="roundRect">
            <a:avLst/>
          </a:prstGeom>
          <a:solidFill>
            <a:srgbClr val="F1F0FF"/>
          </a:solidFill>
          <a:ln>
            <a:solidFill>
              <a:srgbClr val="CF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901952"/>
            <a:ext cx="1417320" cy="292608"/>
          </a:xfrm>
          <a:prstGeom prst="roundRect">
            <a:avLst/>
          </a:prstGeom>
          <a:solidFill>
            <a:srgbClr val="DDD8FF"/>
          </a:solidFill>
          <a:ln>
            <a:solidFill>
              <a:srgbClr val="DD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1920240"/>
            <a:ext cx="1307592" cy="246888"/>
          </a:xfrm>
          <a:prstGeom prst="rect">
            <a:avLst/>
          </a:prstGeom>
          <a:noFill/>
        </p:spPr>
        <p:txBody>
          <a:bodyPr wrap="square" lIns="0" rIns="0" tIns="0" bIns="0" anchor="ctr">
            <a:spAutoFit/>
          </a:bodyPr>
          <a:lstStyle/>
          <a:p>
            <a:pPr algn="ctr"/>
            <a:r>
              <a:rPr sz="900" b="1">
                <a:solidFill>
                  <a:srgbClr val="6D5DFB"/>
                </a:solidFill>
                <a:latin typeface="Aptos"/>
              </a:rPr>
              <a:t>DEVELOPMENT TIME</a:t>
            </a:r>
          </a:p>
        </p:txBody>
      </p:sp>
      <p:sp>
        <p:nvSpPr>
          <p:cNvPr id="11" name="Rounded Rectangle 10"/>
          <p:cNvSpPr/>
          <p:nvPr/>
        </p:nvSpPr>
        <p:spPr>
          <a:xfrm>
            <a:off x="914400" y="2487168"/>
            <a:ext cx="182880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670048"/>
            <a:ext cx="1554480" cy="658368"/>
          </a:xfrm>
          <a:prstGeom prst="rect">
            <a:avLst/>
          </a:prstGeom>
          <a:noFill/>
        </p:spPr>
        <p:txBody>
          <a:bodyPr wrap="square" lIns="0" rIns="0" tIns="0" bIns="0" anchor="ctr">
            <a:spAutoFit/>
          </a:bodyPr>
          <a:lstStyle/>
          <a:p>
            <a:pPr algn="ctr"/>
            <a:r>
              <a:rPr sz="1600" b="1">
                <a:solidFill>
                  <a:srgbClr val="151A2D"/>
                </a:solidFill>
                <a:latin typeface="Aptos"/>
              </a:rPr>
              <a:t>Our product’s</a:t>
            </a:r>
            <a:br/>
            <a:r>
              <a:rPr sz="1600" b="1">
                <a:solidFill>
                  <a:srgbClr val="151A2D"/>
                </a:solidFill>
                <a:latin typeface="Aptos"/>
              </a:rPr>
              <a:t>data model + API</a:t>
            </a:r>
          </a:p>
        </p:txBody>
      </p:sp>
      <p:sp>
        <p:nvSpPr>
          <p:cNvPr id="13" name="Chevron 12"/>
          <p:cNvSpPr/>
          <p:nvPr/>
        </p:nvSpPr>
        <p:spPr>
          <a:xfrm>
            <a:off x="2871216" y="2852928"/>
            <a:ext cx="310896" cy="310896"/>
          </a:xfrm>
          <a:prstGeom prst="chevron">
            <a:avLst/>
          </a:prstGeom>
          <a:solidFill>
            <a:srgbClr val="9B8CFF"/>
          </a:solidFill>
          <a:ln>
            <a:solidFill>
              <a:srgbClr val="9B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46120" y="2487168"/>
            <a:ext cx="1828800" cy="1051560"/>
          </a:xfrm>
          <a:prstGeom prst="round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79" y="2670048"/>
            <a:ext cx="1554480" cy="658368"/>
          </a:xfrm>
          <a:prstGeom prst="rect">
            <a:avLst/>
          </a:prstGeom>
          <a:noFill/>
        </p:spPr>
        <p:txBody>
          <a:bodyPr wrap="square" lIns="0" rIns="0" tIns="0" bIns="0" anchor="ctr">
            <a:spAutoFit/>
          </a:bodyPr>
          <a:lstStyle/>
          <a:p>
            <a:pPr algn="ctr"/>
            <a:r>
              <a:rPr sz="1600" b="1">
                <a:solidFill>
                  <a:srgbClr val="FFFFFF"/>
                </a:solidFill>
                <a:latin typeface="Aptos"/>
              </a:rPr>
              <a:t>Codegen CLI builds</a:t>
            </a:r>
            <a:br/>
            <a:r>
              <a:rPr sz="1600" b="1">
                <a:solidFill>
                  <a:srgbClr val="FFFFFF"/>
                </a:solidFill>
                <a:latin typeface="Aptos"/>
              </a:rPr>
              <a:t>the structure</a:t>
            </a:r>
          </a:p>
        </p:txBody>
      </p:sp>
      <p:sp>
        <p:nvSpPr>
          <p:cNvPr id="16" name="Chevron 15"/>
          <p:cNvSpPr/>
          <p:nvPr/>
        </p:nvSpPr>
        <p:spPr>
          <a:xfrm>
            <a:off x="5202936" y="2852928"/>
            <a:ext cx="310896" cy="310896"/>
          </a:xfrm>
          <a:prstGeom prst="chevron">
            <a:avLst/>
          </a:prstGeom>
          <a:solidFill>
            <a:srgbClr val="9B8CFF"/>
          </a:solidFill>
          <a:ln>
            <a:solidFill>
              <a:srgbClr val="9B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577840" y="2487168"/>
            <a:ext cx="1828800" cy="1051560"/>
          </a:xfrm>
          <a:prstGeom prst="roundRect">
            <a:avLst/>
          </a:prstGeom>
          <a:solidFill>
            <a:srgbClr val="E5F9FC"/>
          </a:solidFill>
          <a:ln>
            <a:solidFill>
              <a:srgbClr val="E5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15000" y="2670048"/>
            <a:ext cx="1554480" cy="658368"/>
          </a:xfrm>
          <a:prstGeom prst="rect">
            <a:avLst/>
          </a:prstGeom>
          <a:noFill/>
        </p:spPr>
        <p:txBody>
          <a:bodyPr wrap="square" lIns="0" rIns="0" tIns="0" bIns="0" anchor="ctr">
            <a:spAutoFit/>
          </a:bodyPr>
          <a:lstStyle/>
          <a:p>
            <a:pPr algn="ctr"/>
            <a:r>
              <a:rPr sz="1600" b="1">
                <a:solidFill>
                  <a:srgbClr val="151A2D"/>
                </a:solidFill>
                <a:latin typeface="Aptos"/>
              </a:rPr>
              <a:t>AI fills in the</a:t>
            </a:r>
            <a:br/>
            <a:r>
              <a:rPr sz="1600" b="1">
                <a:solidFill>
                  <a:srgbClr val="151A2D"/>
                </a:solidFill>
                <a:latin typeface="Aptos"/>
              </a:rPr>
              <a:t>business logic</a:t>
            </a:r>
          </a:p>
        </p:txBody>
      </p:sp>
      <p:sp>
        <p:nvSpPr>
          <p:cNvPr id="19" name="Chevron 18"/>
          <p:cNvSpPr/>
          <p:nvPr/>
        </p:nvSpPr>
        <p:spPr>
          <a:xfrm>
            <a:off x="7534656" y="2852928"/>
            <a:ext cx="310896" cy="310896"/>
          </a:xfrm>
          <a:prstGeom prst="chevron">
            <a:avLst/>
          </a:prstGeom>
          <a:solidFill>
            <a:srgbClr val="9B8CFF"/>
          </a:solidFill>
          <a:ln>
            <a:solidFill>
              <a:srgbClr val="9B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909560" y="2487168"/>
            <a:ext cx="1828800" cy="1051560"/>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2670048"/>
            <a:ext cx="1554480" cy="658368"/>
          </a:xfrm>
          <a:prstGeom prst="rect">
            <a:avLst/>
          </a:prstGeom>
          <a:noFill/>
        </p:spPr>
        <p:txBody>
          <a:bodyPr wrap="square" lIns="0" rIns="0" tIns="0" bIns="0" anchor="ctr">
            <a:spAutoFit/>
          </a:bodyPr>
          <a:lstStyle/>
          <a:p>
            <a:pPr algn="ctr"/>
            <a:r>
              <a:rPr sz="1600" b="1">
                <a:solidFill>
                  <a:srgbClr val="151A2D"/>
                </a:solidFill>
                <a:latin typeface="Aptos"/>
              </a:rPr>
              <a:t>CI gates +</a:t>
            </a:r>
            <a:br/>
            <a:r>
              <a:rPr sz="1600" b="1">
                <a:solidFill>
                  <a:srgbClr val="151A2D"/>
                </a:solidFill>
                <a:latin typeface="Aptos"/>
              </a:rPr>
              <a:t>human review</a:t>
            </a:r>
          </a:p>
        </p:txBody>
      </p:sp>
      <p:sp>
        <p:nvSpPr>
          <p:cNvPr id="22" name="Rounded Rectangle 21"/>
          <p:cNvSpPr/>
          <p:nvPr/>
        </p:nvSpPr>
        <p:spPr>
          <a:xfrm>
            <a:off x="2834640" y="5166360"/>
            <a:ext cx="6583680" cy="68580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63240" y="5321808"/>
            <a:ext cx="6126480" cy="320040"/>
          </a:xfrm>
          <a:prstGeom prst="rect">
            <a:avLst/>
          </a:prstGeom>
          <a:noFill/>
        </p:spPr>
        <p:txBody>
          <a:bodyPr wrap="square" lIns="0" rIns="0" tIns="0" bIns="0" anchor="ctr">
            <a:spAutoFit/>
          </a:bodyPr>
          <a:lstStyle/>
          <a:p>
            <a:pPr algn="ctr"/>
            <a:r>
              <a:rPr sz="1700" b="1">
                <a:solidFill>
                  <a:srgbClr val="FFFFFF"/>
                </a:solidFill>
                <a:latin typeface="Aptos"/>
              </a:rPr>
              <a:t>RUNTIME  →  deterministic connector  →  third-party API</a:t>
            </a:r>
          </a:p>
        </p:txBody>
      </p:sp>
      <p:cxnSp>
        <p:nvCxnSpPr>
          <p:cNvPr id="24" name="Connector 23"/>
          <p:cNvCxnSpPr/>
          <p:nvPr/>
        </p:nvCxnSpPr>
        <p:spPr>
          <a:xfrm>
            <a:off x="6126480" y="4846320"/>
            <a:ext cx="0" cy="320040"/>
          </a:xfrm>
          <a:prstGeom prst="line">
            <a:avLst/>
          </a:prstGeom>
          <a:ln w="25400">
            <a:solidFill>
              <a:srgbClr val="6D5DF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05840" y="6053328"/>
            <a:ext cx="10149840" cy="274320"/>
          </a:xfrm>
          <a:prstGeom prst="rect">
            <a:avLst/>
          </a:prstGeom>
          <a:noFill/>
        </p:spPr>
        <p:txBody>
          <a:bodyPr wrap="square" lIns="0" rIns="0" tIns="0" bIns="0" anchor="ctr">
            <a:spAutoFit/>
          </a:bodyPr>
          <a:lstStyle/>
          <a:p>
            <a:pPr algn="ctr"/>
            <a:r>
              <a:rPr sz="1100" b="0">
                <a:solidFill>
                  <a:srgbClr val="626A7A"/>
                </a:solidFill>
                <a:latin typeface="Aptos"/>
              </a:rPr>
              <a:t>No AI runs at runtime: the deployed connector is plain code, an HttpClient, a mapper and tests.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05</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04 — CLI DESIGN</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Generate the contract and the empty rooms</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The CLI owns repeatable structure; regeneration must be safe.</a:t>
            </a:r>
          </a:p>
        </p:txBody>
      </p:sp>
      <p:sp>
        <p:nvSpPr>
          <p:cNvPr id="8" name="Rounded Rectangle 7"/>
          <p:cNvSpPr/>
          <p:nvPr/>
        </p:nvSpPr>
        <p:spPr>
          <a:xfrm>
            <a:off x="621792" y="1691640"/>
            <a:ext cx="5074920" cy="425196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65960"/>
            <a:ext cx="1828800" cy="228600"/>
          </a:xfrm>
          <a:prstGeom prst="rect">
            <a:avLst/>
          </a:prstGeom>
          <a:noFill/>
        </p:spPr>
        <p:txBody>
          <a:bodyPr wrap="square" lIns="0" rIns="0" tIns="0" bIns="0" anchor="ctr">
            <a:spAutoFit/>
          </a:bodyPr>
          <a:lstStyle/>
          <a:p>
            <a:pPr algn="l"/>
            <a:r>
              <a:rPr sz="1000" b="1">
                <a:solidFill>
                  <a:srgbClr val="2CCCE4"/>
                </a:solidFill>
                <a:latin typeface="Aptos"/>
              </a:rPr>
              <a:t>PROJECT LAYOUT</a:t>
            </a:r>
          </a:p>
        </p:txBody>
      </p:sp>
      <p:sp>
        <p:nvSpPr>
          <p:cNvPr id="10" name="TextBox 9"/>
          <p:cNvSpPr txBox="1"/>
          <p:nvPr/>
        </p:nvSpPr>
        <p:spPr>
          <a:xfrm>
            <a:off x="896112" y="2304288"/>
            <a:ext cx="2240280" cy="246888"/>
          </a:xfrm>
          <a:prstGeom prst="rect">
            <a:avLst/>
          </a:prstGeom>
          <a:noFill/>
        </p:spPr>
        <p:txBody>
          <a:bodyPr wrap="square" lIns="0" rIns="0" tIns="0" bIns="0" anchor="ctr">
            <a:spAutoFit/>
          </a:bodyPr>
          <a:lstStyle/>
          <a:p>
            <a:pPr algn="l"/>
            <a:r>
              <a:rPr sz="1100" b="1">
                <a:solidFill>
                  <a:srgbClr val="9B8CFF"/>
                </a:solidFill>
                <a:latin typeface="Courier New"/>
              </a:rPr>
              <a:t>Generated/</a:t>
            </a:r>
          </a:p>
        </p:txBody>
      </p:sp>
      <p:sp>
        <p:nvSpPr>
          <p:cNvPr id="11" name="TextBox 10"/>
          <p:cNvSpPr txBox="1"/>
          <p:nvPr/>
        </p:nvSpPr>
        <p:spPr>
          <a:xfrm>
            <a:off x="3154680" y="2304288"/>
            <a:ext cx="2148840" cy="246888"/>
          </a:xfrm>
          <a:prstGeom prst="rect">
            <a:avLst/>
          </a:prstGeom>
          <a:noFill/>
        </p:spPr>
        <p:txBody>
          <a:bodyPr wrap="square" lIns="0" rIns="0" tIns="0" bIns="0" anchor="ctr">
            <a:spAutoFit/>
          </a:bodyPr>
          <a:lstStyle/>
          <a:p>
            <a:pPr algn="l"/>
            <a:r>
              <a:rPr sz="950" b="0">
                <a:solidFill>
                  <a:srgbClr val="ADB5CB"/>
                </a:solidFill>
                <a:latin typeface="Aptos"/>
              </a:rPr>
              <a:t>CLI-owned · safe to regenerate</a:t>
            </a:r>
          </a:p>
        </p:txBody>
      </p:sp>
      <p:sp>
        <p:nvSpPr>
          <p:cNvPr id="12" name="TextBox 11"/>
          <p:cNvSpPr txBox="1"/>
          <p:nvPr/>
        </p:nvSpPr>
        <p:spPr>
          <a:xfrm>
            <a:off x="896112" y="2624328"/>
            <a:ext cx="2240280" cy="246888"/>
          </a:xfrm>
          <a:prstGeom prst="rect">
            <a:avLst/>
          </a:prstGeom>
          <a:noFill/>
        </p:spPr>
        <p:txBody>
          <a:bodyPr wrap="square" lIns="0" rIns="0" tIns="0" bIns="0" anchor="ctr">
            <a:spAutoFit/>
          </a:bodyPr>
          <a:lstStyle/>
          <a:p>
            <a:pPr algn="l"/>
            <a:r>
              <a:rPr sz="1100" b="0">
                <a:solidFill>
                  <a:srgbClr val="ADB5CB"/>
                </a:solidFill>
                <a:latin typeface="Courier New"/>
              </a:rPr>
              <a:t>  CanonicalModels.g.cs</a:t>
            </a:r>
          </a:p>
        </p:txBody>
      </p:sp>
      <p:sp>
        <p:nvSpPr>
          <p:cNvPr id="13" name="TextBox 12"/>
          <p:cNvSpPr txBox="1"/>
          <p:nvPr/>
        </p:nvSpPr>
        <p:spPr>
          <a:xfrm>
            <a:off x="3154680" y="2624328"/>
            <a:ext cx="2148840" cy="246888"/>
          </a:xfrm>
          <a:prstGeom prst="rect">
            <a:avLst/>
          </a:prstGeom>
          <a:noFill/>
        </p:spPr>
        <p:txBody>
          <a:bodyPr wrap="square" lIns="0" rIns="0" tIns="0" bIns="0" anchor="ctr">
            <a:spAutoFit/>
          </a:bodyPr>
          <a:lstStyle/>
          <a:p>
            <a:pPr algn="l"/>
            <a:r>
              <a:rPr sz="950" b="0">
                <a:solidFill>
                  <a:srgbClr val="ADB5CB"/>
                </a:solidFill>
                <a:latin typeface="Aptos"/>
              </a:rPr>
              <a:t>Our product’s typed models</a:t>
            </a:r>
          </a:p>
        </p:txBody>
      </p:sp>
      <p:sp>
        <p:nvSpPr>
          <p:cNvPr id="14" name="TextBox 13"/>
          <p:cNvSpPr txBox="1"/>
          <p:nvPr/>
        </p:nvSpPr>
        <p:spPr>
          <a:xfrm>
            <a:off x="896112" y="2944368"/>
            <a:ext cx="2240280" cy="246888"/>
          </a:xfrm>
          <a:prstGeom prst="rect">
            <a:avLst/>
          </a:prstGeom>
          <a:noFill/>
        </p:spPr>
        <p:txBody>
          <a:bodyPr wrap="square" lIns="0" rIns="0" tIns="0" bIns="0" anchor="ctr">
            <a:spAutoFit/>
          </a:bodyPr>
          <a:lstStyle/>
          <a:p>
            <a:pPr algn="l"/>
            <a:r>
              <a:rPr sz="1100" b="0">
                <a:solidFill>
                  <a:srgbClr val="ADB5CB"/>
                </a:solidFill>
                <a:latin typeface="Courier New"/>
              </a:rPr>
              <a:t>  SwapiClient.g.cs</a:t>
            </a:r>
          </a:p>
        </p:txBody>
      </p:sp>
      <p:sp>
        <p:nvSpPr>
          <p:cNvPr id="15" name="TextBox 14"/>
          <p:cNvSpPr txBox="1"/>
          <p:nvPr/>
        </p:nvSpPr>
        <p:spPr>
          <a:xfrm>
            <a:off x="3154680" y="2944368"/>
            <a:ext cx="2148840" cy="246888"/>
          </a:xfrm>
          <a:prstGeom prst="rect">
            <a:avLst/>
          </a:prstGeom>
          <a:noFill/>
        </p:spPr>
        <p:txBody>
          <a:bodyPr wrap="square" lIns="0" rIns="0" tIns="0" bIns="0" anchor="ctr">
            <a:spAutoFit/>
          </a:bodyPr>
          <a:lstStyle/>
          <a:p>
            <a:pPr algn="l"/>
            <a:r>
              <a:rPr sz="950" b="0">
                <a:solidFill>
                  <a:srgbClr val="ADB5CB"/>
                </a:solidFill>
                <a:latin typeface="Aptos"/>
              </a:rPr>
              <a:t>One typed method per endpoint, from the spec</a:t>
            </a:r>
          </a:p>
        </p:txBody>
      </p:sp>
      <p:sp>
        <p:nvSpPr>
          <p:cNvPr id="16" name="TextBox 15"/>
          <p:cNvSpPr txBox="1"/>
          <p:nvPr/>
        </p:nvSpPr>
        <p:spPr>
          <a:xfrm>
            <a:off x="896112" y="3264408"/>
            <a:ext cx="2240280" cy="246888"/>
          </a:xfrm>
          <a:prstGeom prst="rect">
            <a:avLst/>
          </a:prstGeom>
          <a:noFill/>
        </p:spPr>
        <p:txBody>
          <a:bodyPr wrap="square" lIns="0" rIns="0" tIns="0" bIns="0" anchor="ctr">
            <a:spAutoFit/>
          </a:bodyPr>
          <a:lstStyle/>
          <a:p>
            <a:pPr algn="l"/>
            <a:r>
              <a:rPr sz="1100" b="0">
                <a:solidFill>
                  <a:srgbClr val="ADB5CB"/>
                </a:solidFill>
                <a:latin typeface="Courier New"/>
              </a:rPr>
              <a:t>  ISwapiConnector.g.cs</a:t>
            </a:r>
          </a:p>
        </p:txBody>
      </p:sp>
      <p:sp>
        <p:nvSpPr>
          <p:cNvPr id="17" name="TextBox 16"/>
          <p:cNvSpPr txBox="1"/>
          <p:nvPr/>
        </p:nvSpPr>
        <p:spPr>
          <a:xfrm>
            <a:off x="3154680" y="3264408"/>
            <a:ext cx="2148840" cy="246888"/>
          </a:xfrm>
          <a:prstGeom prst="rect">
            <a:avLst/>
          </a:prstGeom>
          <a:noFill/>
        </p:spPr>
        <p:txBody>
          <a:bodyPr wrap="square" lIns="0" rIns="0" tIns="0" bIns="0" anchor="ctr">
            <a:spAutoFit/>
          </a:bodyPr>
          <a:lstStyle/>
          <a:p>
            <a:pPr algn="l"/>
            <a:r>
              <a:rPr sz="950" b="0">
                <a:solidFill>
                  <a:srgbClr val="ADB5CB"/>
                </a:solidFill>
                <a:latin typeface="Aptos"/>
              </a:rPr>
              <a:t>Stable interface + DI wiring</a:t>
            </a:r>
          </a:p>
        </p:txBody>
      </p:sp>
      <p:sp>
        <p:nvSpPr>
          <p:cNvPr id="18" name="TextBox 17"/>
          <p:cNvSpPr txBox="1"/>
          <p:nvPr/>
        </p:nvSpPr>
        <p:spPr>
          <a:xfrm>
            <a:off x="896112" y="3584448"/>
            <a:ext cx="2240280" cy="246888"/>
          </a:xfrm>
          <a:prstGeom prst="rect">
            <a:avLst/>
          </a:prstGeom>
          <a:noFill/>
        </p:spPr>
        <p:txBody>
          <a:bodyPr wrap="square" lIns="0" rIns="0" tIns="0" bIns="0" anchor="ctr">
            <a:spAutoFit/>
          </a:bodyPr>
          <a:lstStyle/>
          <a:p>
            <a:pPr algn="l"/>
            <a:r>
              <a:rPr sz="1100" b="1">
                <a:solidFill>
                  <a:srgbClr val="2CCCE4"/>
                </a:solidFill>
                <a:latin typeface="Courier New"/>
              </a:rPr>
              <a:t>Connector/</a:t>
            </a:r>
          </a:p>
        </p:txBody>
      </p:sp>
      <p:sp>
        <p:nvSpPr>
          <p:cNvPr id="19" name="TextBox 18"/>
          <p:cNvSpPr txBox="1"/>
          <p:nvPr/>
        </p:nvSpPr>
        <p:spPr>
          <a:xfrm>
            <a:off x="3154680" y="3584448"/>
            <a:ext cx="2148840" cy="246888"/>
          </a:xfrm>
          <a:prstGeom prst="rect">
            <a:avLst/>
          </a:prstGeom>
          <a:noFill/>
        </p:spPr>
        <p:txBody>
          <a:bodyPr wrap="square" lIns="0" rIns="0" tIns="0" bIns="0" anchor="ctr">
            <a:spAutoFit/>
          </a:bodyPr>
          <a:lstStyle/>
          <a:p>
            <a:pPr algn="l"/>
            <a:r>
              <a:rPr sz="950" b="0">
                <a:solidFill>
                  <a:srgbClr val="ADB5CB"/>
                </a:solidFill>
                <a:latin typeface="Aptos"/>
              </a:rPr>
              <a:t>AI + human-owned</a:t>
            </a:r>
          </a:p>
        </p:txBody>
      </p:sp>
      <p:sp>
        <p:nvSpPr>
          <p:cNvPr id="20" name="TextBox 19"/>
          <p:cNvSpPr txBox="1"/>
          <p:nvPr/>
        </p:nvSpPr>
        <p:spPr>
          <a:xfrm>
            <a:off x="896112" y="3904487"/>
            <a:ext cx="2240280" cy="246888"/>
          </a:xfrm>
          <a:prstGeom prst="rect">
            <a:avLst/>
          </a:prstGeom>
          <a:noFill/>
        </p:spPr>
        <p:txBody>
          <a:bodyPr wrap="square" lIns="0" rIns="0" tIns="0" bIns="0" anchor="ctr">
            <a:spAutoFit/>
          </a:bodyPr>
          <a:lstStyle/>
          <a:p>
            <a:pPr algn="l"/>
            <a:r>
              <a:rPr sz="1100" b="0">
                <a:solidFill>
                  <a:srgbClr val="ADB5CB"/>
                </a:solidFill>
                <a:latin typeface="Courier New"/>
              </a:rPr>
              <a:t>  SwapiConnector.cs</a:t>
            </a:r>
          </a:p>
        </p:txBody>
      </p:sp>
      <p:sp>
        <p:nvSpPr>
          <p:cNvPr id="21" name="TextBox 20"/>
          <p:cNvSpPr txBox="1"/>
          <p:nvPr/>
        </p:nvSpPr>
        <p:spPr>
          <a:xfrm>
            <a:off x="3154680" y="3904487"/>
            <a:ext cx="2148840" cy="246888"/>
          </a:xfrm>
          <a:prstGeom prst="rect">
            <a:avLst/>
          </a:prstGeom>
          <a:noFill/>
        </p:spPr>
        <p:txBody>
          <a:bodyPr wrap="square" lIns="0" rIns="0" tIns="0" bIns="0" anchor="ctr">
            <a:spAutoFit/>
          </a:bodyPr>
          <a:lstStyle/>
          <a:p>
            <a:pPr algn="l"/>
            <a:r>
              <a:rPr sz="950" b="0">
                <a:solidFill>
                  <a:srgbClr val="ADB5CB"/>
                </a:solidFill>
                <a:latin typeface="Aptos"/>
              </a:rPr>
              <a:t>Service layer: makes the calls, translates errors</a:t>
            </a:r>
          </a:p>
        </p:txBody>
      </p:sp>
      <p:sp>
        <p:nvSpPr>
          <p:cNvPr id="22" name="TextBox 21"/>
          <p:cNvSpPr txBox="1"/>
          <p:nvPr/>
        </p:nvSpPr>
        <p:spPr>
          <a:xfrm>
            <a:off x="896112" y="4224527"/>
            <a:ext cx="2240280" cy="246888"/>
          </a:xfrm>
          <a:prstGeom prst="rect">
            <a:avLst/>
          </a:prstGeom>
          <a:noFill/>
        </p:spPr>
        <p:txBody>
          <a:bodyPr wrap="square" lIns="0" rIns="0" tIns="0" bIns="0" anchor="ctr">
            <a:spAutoFit/>
          </a:bodyPr>
          <a:lstStyle/>
          <a:p>
            <a:pPr algn="l"/>
            <a:r>
              <a:rPr sz="1100" b="0">
                <a:solidFill>
                  <a:srgbClr val="ADB5CB"/>
                </a:solidFill>
                <a:latin typeface="Courier New"/>
              </a:rPr>
              <a:t>  SwapiMapper.cs</a:t>
            </a:r>
          </a:p>
        </p:txBody>
      </p:sp>
      <p:sp>
        <p:nvSpPr>
          <p:cNvPr id="23" name="TextBox 22"/>
          <p:cNvSpPr txBox="1"/>
          <p:nvPr/>
        </p:nvSpPr>
        <p:spPr>
          <a:xfrm>
            <a:off x="3154680" y="4224527"/>
            <a:ext cx="2148840" cy="246888"/>
          </a:xfrm>
          <a:prstGeom prst="rect">
            <a:avLst/>
          </a:prstGeom>
          <a:noFill/>
        </p:spPr>
        <p:txBody>
          <a:bodyPr wrap="square" lIns="0" rIns="0" tIns="0" bIns="0" anchor="ctr">
            <a:spAutoFit/>
          </a:bodyPr>
          <a:lstStyle/>
          <a:p>
            <a:pPr algn="l"/>
            <a:r>
              <a:rPr sz="950" b="0">
                <a:solidFill>
                  <a:srgbClr val="ADB5CB"/>
                </a:solidFill>
                <a:latin typeface="Aptos"/>
              </a:rPr>
              <a:t>Turns their fields into ours (TODO(ai) blocks)</a:t>
            </a:r>
          </a:p>
        </p:txBody>
      </p:sp>
      <p:sp>
        <p:nvSpPr>
          <p:cNvPr id="24" name="TextBox 23"/>
          <p:cNvSpPr txBox="1"/>
          <p:nvPr/>
        </p:nvSpPr>
        <p:spPr>
          <a:xfrm>
            <a:off x="896112" y="4544568"/>
            <a:ext cx="2240280" cy="246888"/>
          </a:xfrm>
          <a:prstGeom prst="rect">
            <a:avLst/>
          </a:prstGeom>
          <a:noFill/>
        </p:spPr>
        <p:txBody>
          <a:bodyPr wrap="square" lIns="0" rIns="0" tIns="0" bIns="0" anchor="ctr">
            <a:spAutoFit/>
          </a:bodyPr>
          <a:lstStyle/>
          <a:p>
            <a:pPr algn="l"/>
            <a:r>
              <a:rPr sz="1100" b="1">
                <a:solidFill>
                  <a:srgbClr val="2DBE88"/>
                </a:solidFill>
                <a:latin typeface="Courier New"/>
              </a:rPr>
              <a:t>tests/</a:t>
            </a:r>
          </a:p>
        </p:txBody>
      </p:sp>
      <p:sp>
        <p:nvSpPr>
          <p:cNvPr id="25" name="TextBox 24"/>
          <p:cNvSpPr txBox="1"/>
          <p:nvPr/>
        </p:nvSpPr>
        <p:spPr>
          <a:xfrm>
            <a:off x="3154680" y="4544568"/>
            <a:ext cx="2148840" cy="246888"/>
          </a:xfrm>
          <a:prstGeom prst="rect">
            <a:avLst/>
          </a:prstGeom>
          <a:noFill/>
        </p:spPr>
        <p:txBody>
          <a:bodyPr wrap="square" lIns="0" rIns="0" tIns="0" bIns="0" anchor="ctr">
            <a:spAutoFit/>
          </a:bodyPr>
          <a:lstStyle/>
          <a:p>
            <a:pPr algn="l"/>
            <a:r>
              <a:rPr sz="950" b="0">
                <a:solidFill>
                  <a:srgbClr val="ADB5CB"/>
                </a:solidFill>
                <a:latin typeface="Aptos"/>
              </a:rPr>
              <a:t>Shared ownership</a:t>
            </a:r>
          </a:p>
        </p:txBody>
      </p:sp>
      <p:sp>
        <p:nvSpPr>
          <p:cNvPr id="26" name="TextBox 25"/>
          <p:cNvSpPr txBox="1"/>
          <p:nvPr/>
        </p:nvSpPr>
        <p:spPr>
          <a:xfrm>
            <a:off x="896112" y="4864608"/>
            <a:ext cx="2240280" cy="246888"/>
          </a:xfrm>
          <a:prstGeom prst="rect">
            <a:avLst/>
          </a:prstGeom>
          <a:noFill/>
        </p:spPr>
        <p:txBody>
          <a:bodyPr wrap="square" lIns="0" rIns="0" tIns="0" bIns="0" anchor="ctr">
            <a:spAutoFit/>
          </a:bodyPr>
          <a:lstStyle/>
          <a:p>
            <a:pPr algn="l"/>
            <a:r>
              <a:rPr sz="1100" b="1">
                <a:solidFill>
                  <a:srgbClr val="ADB5CB"/>
                </a:solidFill>
                <a:latin typeface="Courier New"/>
              </a:rPr>
              <a:t>  Generated/</a:t>
            </a:r>
          </a:p>
        </p:txBody>
      </p:sp>
      <p:sp>
        <p:nvSpPr>
          <p:cNvPr id="27" name="TextBox 26"/>
          <p:cNvSpPr txBox="1"/>
          <p:nvPr/>
        </p:nvSpPr>
        <p:spPr>
          <a:xfrm>
            <a:off x="3154680" y="4864608"/>
            <a:ext cx="2148840" cy="246888"/>
          </a:xfrm>
          <a:prstGeom prst="rect">
            <a:avLst/>
          </a:prstGeom>
          <a:noFill/>
        </p:spPr>
        <p:txBody>
          <a:bodyPr wrap="square" lIns="0" rIns="0" tIns="0" bIns="0" anchor="ctr">
            <a:spAutoFit/>
          </a:bodyPr>
          <a:lstStyle/>
          <a:p>
            <a:pPr algn="l"/>
            <a:r>
              <a:rPr sz="950" b="0">
                <a:solidFill>
                  <a:srgbClr val="ADB5CB"/>
                </a:solidFill>
                <a:latin typeface="Aptos"/>
              </a:rPr>
              <a:t>Contract + smoke shells, fixtures</a:t>
            </a:r>
          </a:p>
        </p:txBody>
      </p:sp>
      <p:sp>
        <p:nvSpPr>
          <p:cNvPr id="28" name="TextBox 27"/>
          <p:cNvSpPr txBox="1"/>
          <p:nvPr/>
        </p:nvSpPr>
        <p:spPr>
          <a:xfrm>
            <a:off x="896112" y="5184648"/>
            <a:ext cx="2240280" cy="246888"/>
          </a:xfrm>
          <a:prstGeom prst="rect">
            <a:avLst/>
          </a:prstGeom>
          <a:noFill/>
        </p:spPr>
        <p:txBody>
          <a:bodyPr wrap="square" lIns="0" rIns="0" tIns="0" bIns="0" anchor="ctr">
            <a:spAutoFit/>
          </a:bodyPr>
          <a:lstStyle/>
          <a:p>
            <a:pPr algn="l"/>
            <a:r>
              <a:rPr sz="1100" b="1">
                <a:solidFill>
                  <a:srgbClr val="ADB5CB"/>
                </a:solidFill>
                <a:latin typeface="Courier New"/>
              </a:rPr>
              <a:t>  Connector/</a:t>
            </a:r>
          </a:p>
        </p:txBody>
      </p:sp>
      <p:sp>
        <p:nvSpPr>
          <p:cNvPr id="29" name="TextBox 28"/>
          <p:cNvSpPr txBox="1"/>
          <p:nvPr/>
        </p:nvSpPr>
        <p:spPr>
          <a:xfrm>
            <a:off x="3154680" y="5184648"/>
            <a:ext cx="2148840" cy="246888"/>
          </a:xfrm>
          <a:prstGeom prst="rect">
            <a:avLst/>
          </a:prstGeom>
          <a:noFill/>
        </p:spPr>
        <p:txBody>
          <a:bodyPr wrap="square" lIns="0" rIns="0" tIns="0" bIns="0" anchor="ctr">
            <a:spAutoFit/>
          </a:bodyPr>
          <a:lstStyle/>
          <a:p>
            <a:pPr algn="l"/>
            <a:r>
              <a:rPr sz="950" b="0">
                <a:solidFill>
                  <a:srgbClr val="ADB5CB"/>
                </a:solidFill>
                <a:latin typeface="Aptos"/>
              </a:rPr>
              <a:t>Behavioral tests</a:t>
            </a:r>
          </a:p>
        </p:txBody>
      </p:sp>
      <p:sp>
        <p:nvSpPr>
          <p:cNvPr id="30" name="Oval 29"/>
          <p:cNvSpPr/>
          <p:nvPr/>
        </p:nvSpPr>
        <p:spPr>
          <a:xfrm>
            <a:off x="6172200" y="1783080"/>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1783080"/>
            <a:ext cx="347472" cy="347472"/>
          </a:xfrm>
          <a:prstGeom prst="rect">
            <a:avLst/>
          </a:prstGeom>
          <a:noFill/>
        </p:spPr>
        <p:txBody>
          <a:bodyPr wrap="square" lIns="0" rIns="0" tIns="0" bIns="0" anchor="ctr">
            <a:spAutoFit/>
          </a:bodyPr>
          <a:lstStyle/>
          <a:p>
            <a:pPr algn="ctr"/>
            <a:r>
              <a:rPr sz="1100" b="1">
                <a:solidFill>
                  <a:srgbClr val="FFFFFF"/>
                </a:solidFill>
                <a:latin typeface="Aptos"/>
              </a:rPr>
              <a:t>01</a:t>
            </a:r>
          </a:p>
        </p:txBody>
      </p:sp>
      <p:sp>
        <p:nvSpPr>
          <p:cNvPr id="32" name="TextBox 31"/>
          <p:cNvSpPr txBox="1"/>
          <p:nvPr/>
        </p:nvSpPr>
        <p:spPr>
          <a:xfrm>
            <a:off x="6675120" y="1764792"/>
            <a:ext cx="1828800" cy="292608"/>
          </a:xfrm>
          <a:prstGeom prst="rect">
            <a:avLst/>
          </a:prstGeom>
          <a:noFill/>
        </p:spPr>
        <p:txBody>
          <a:bodyPr wrap="square" lIns="0" rIns="0" tIns="0" bIns="0" anchor="ctr">
            <a:spAutoFit/>
          </a:bodyPr>
          <a:lstStyle/>
          <a:p>
            <a:pPr algn="l"/>
            <a:r>
              <a:rPr sz="1600" b="1">
                <a:solidFill>
                  <a:srgbClr val="151A2D"/>
                </a:solidFill>
                <a:latin typeface="Aptos"/>
              </a:rPr>
              <a:t>Manifest-driven</a:t>
            </a:r>
          </a:p>
        </p:txBody>
      </p:sp>
      <p:sp>
        <p:nvSpPr>
          <p:cNvPr id="33" name="TextBox 32"/>
          <p:cNvSpPr txBox="1"/>
          <p:nvPr/>
        </p:nvSpPr>
        <p:spPr>
          <a:xfrm>
            <a:off x="8503920" y="1764792"/>
            <a:ext cx="2834640" cy="512064"/>
          </a:xfrm>
          <a:prstGeom prst="rect">
            <a:avLst/>
          </a:prstGeom>
          <a:noFill/>
        </p:spPr>
        <p:txBody>
          <a:bodyPr wrap="square" lIns="0" rIns="0" tIns="0" bIns="0" anchor="ctr">
            <a:spAutoFit/>
          </a:bodyPr>
          <a:lstStyle/>
          <a:p>
            <a:pPr algn="l"/>
            <a:r>
              <a:rPr sz="1200" b="0">
                <a:solidFill>
                  <a:srgbClr val="626A7A"/>
                </a:solidFill>
                <a:latin typeface="Aptos"/>
              </a:rPr>
              <a:t>connector.manifest.json: operations, allowed endpoints, auth, policy</a:t>
            </a:r>
          </a:p>
        </p:txBody>
      </p:sp>
      <p:cxnSp>
        <p:nvCxnSpPr>
          <p:cNvPr id="34" name="Connector 33"/>
          <p:cNvCxnSpPr/>
          <p:nvPr/>
        </p:nvCxnSpPr>
        <p:spPr>
          <a:xfrm>
            <a:off x="6345936" y="2139696"/>
            <a:ext cx="0" cy="603504"/>
          </a:xfrm>
          <a:prstGeom prst="line">
            <a:avLst/>
          </a:prstGeom>
          <a:ln w="12700">
            <a:solidFill>
              <a:srgbClr val="C9CED9"/>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6172200" y="2761488"/>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72200" y="2761488"/>
            <a:ext cx="347472" cy="347472"/>
          </a:xfrm>
          <a:prstGeom prst="rect">
            <a:avLst/>
          </a:prstGeom>
          <a:noFill/>
        </p:spPr>
        <p:txBody>
          <a:bodyPr wrap="square" lIns="0" rIns="0" tIns="0" bIns="0" anchor="ctr">
            <a:spAutoFit/>
          </a:bodyPr>
          <a:lstStyle/>
          <a:p>
            <a:pPr algn="ctr"/>
            <a:r>
              <a:rPr sz="1100" b="1">
                <a:solidFill>
                  <a:srgbClr val="FFFFFF"/>
                </a:solidFill>
                <a:latin typeface="Aptos"/>
              </a:rPr>
              <a:t>02</a:t>
            </a:r>
          </a:p>
        </p:txBody>
      </p:sp>
      <p:sp>
        <p:nvSpPr>
          <p:cNvPr id="37" name="TextBox 36"/>
          <p:cNvSpPr txBox="1"/>
          <p:nvPr/>
        </p:nvSpPr>
        <p:spPr>
          <a:xfrm>
            <a:off x="6675120" y="2743200"/>
            <a:ext cx="1828800" cy="292608"/>
          </a:xfrm>
          <a:prstGeom prst="rect">
            <a:avLst/>
          </a:prstGeom>
          <a:noFill/>
        </p:spPr>
        <p:txBody>
          <a:bodyPr wrap="square" lIns="0" rIns="0" tIns="0" bIns="0" anchor="ctr">
            <a:spAutoFit/>
          </a:bodyPr>
          <a:lstStyle/>
          <a:p>
            <a:pPr algn="l"/>
            <a:r>
              <a:rPr sz="1600" b="1">
                <a:solidFill>
                  <a:srgbClr val="151A2D"/>
                </a:solidFill>
                <a:latin typeface="Aptos"/>
              </a:rPr>
              <a:t>Spec-aware</a:t>
            </a:r>
          </a:p>
        </p:txBody>
      </p:sp>
      <p:sp>
        <p:nvSpPr>
          <p:cNvPr id="38" name="TextBox 37"/>
          <p:cNvSpPr txBox="1"/>
          <p:nvPr/>
        </p:nvSpPr>
        <p:spPr>
          <a:xfrm>
            <a:off x="8503920" y="2743200"/>
            <a:ext cx="2834640" cy="512064"/>
          </a:xfrm>
          <a:prstGeom prst="rect">
            <a:avLst/>
          </a:prstGeom>
          <a:noFill/>
        </p:spPr>
        <p:txBody>
          <a:bodyPr wrap="square" lIns="0" rIns="0" tIns="0" bIns="0" anchor="ctr">
            <a:spAutoFit/>
          </a:bodyPr>
          <a:lstStyle/>
          <a:p>
            <a:pPr algn="l"/>
            <a:r>
              <a:rPr sz="1200" b="0">
                <a:solidFill>
                  <a:srgbClr val="626A7A"/>
                </a:solidFill>
                <a:latin typeface="Aptos"/>
              </a:rPr>
              <a:t>Reads both specs to generate code and the AI’s brief; the AI proposes the mapping</a:t>
            </a:r>
          </a:p>
        </p:txBody>
      </p:sp>
      <p:cxnSp>
        <p:nvCxnSpPr>
          <p:cNvPr id="39" name="Connector 38"/>
          <p:cNvCxnSpPr/>
          <p:nvPr/>
        </p:nvCxnSpPr>
        <p:spPr>
          <a:xfrm>
            <a:off x="6345936" y="3118104"/>
            <a:ext cx="0" cy="603504"/>
          </a:xfrm>
          <a:prstGeom prst="line">
            <a:avLst/>
          </a:prstGeom>
          <a:ln w="12700">
            <a:solidFill>
              <a:srgbClr val="C9CED9"/>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172200" y="3739896"/>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72200" y="3739896"/>
            <a:ext cx="347472" cy="347472"/>
          </a:xfrm>
          <a:prstGeom prst="rect">
            <a:avLst/>
          </a:prstGeom>
          <a:noFill/>
        </p:spPr>
        <p:txBody>
          <a:bodyPr wrap="square" lIns="0" rIns="0" tIns="0" bIns="0" anchor="ctr">
            <a:spAutoFit/>
          </a:bodyPr>
          <a:lstStyle/>
          <a:p>
            <a:pPr algn="ctr"/>
            <a:r>
              <a:rPr sz="1100" b="1">
                <a:solidFill>
                  <a:srgbClr val="FFFFFF"/>
                </a:solidFill>
                <a:latin typeface="Aptos"/>
              </a:rPr>
              <a:t>03</a:t>
            </a:r>
          </a:p>
        </p:txBody>
      </p:sp>
      <p:sp>
        <p:nvSpPr>
          <p:cNvPr id="42" name="TextBox 41"/>
          <p:cNvSpPr txBox="1"/>
          <p:nvPr/>
        </p:nvSpPr>
        <p:spPr>
          <a:xfrm>
            <a:off x="6675120" y="3721608"/>
            <a:ext cx="1828800" cy="292608"/>
          </a:xfrm>
          <a:prstGeom prst="rect">
            <a:avLst/>
          </a:prstGeom>
          <a:noFill/>
        </p:spPr>
        <p:txBody>
          <a:bodyPr wrap="square" lIns="0" rIns="0" tIns="0" bIns="0" anchor="ctr">
            <a:spAutoFit/>
          </a:bodyPr>
          <a:lstStyle/>
          <a:p>
            <a:pPr algn="l"/>
            <a:r>
              <a:rPr sz="1600" b="1">
                <a:solidFill>
                  <a:srgbClr val="151A2D"/>
                </a:solidFill>
                <a:latin typeface="Aptos"/>
              </a:rPr>
              <a:t>Regeneration-safe</a:t>
            </a:r>
          </a:p>
        </p:txBody>
      </p:sp>
      <p:sp>
        <p:nvSpPr>
          <p:cNvPr id="43" name="TextBox 42"/>
          <p:cNvSpPr txBox="1"/>
          <p:nvPr/>
        </p:nvSpPr>
        <p:spPr>
          <a:xfrm>
            <a:off x="8503920" y="3721608"/>
            <a:ext cx="2834640" cy="512064"/>
          </a:xfrm>
          <a:prstGeom prst="rect">
            <a:avLst/>
          </a:prstGeom>
          <a:noFill/>
        </p:spPr>
        <p:txBody>
          <a:bodyPr wrap="square" lIns="0" rIns="0" tIns="0" bIns="0" anchor="ctr">
            <a:spAutoFit/>
          </a:bodyPr>
          <a:lstStyle/>
          <a:p>
            <a:pPr algn="l"/>
            <a:r>
              <a:rPr sz="1200" b="0">
                <a:solidFill>
                  <a:srgbClr val="626A7A"/>
                </a:solidFill>
                <a:latin typeface="Aptos"/>
              </a:rPr>
              <a:t>Generated is rewritten every run; Connector is scaffolded once and never touched again</a:t>
            </a:r>
          </a:p>
        </p:txBody>
      </p:sp>
      <p:cxnSp>
        <p:nvCxnSpPr>
          <p:cNvPr id="44" name="Connector 43"/>
          <p:cNvCxnSpPr/>
          <p:nvPr/>
        </p:nvCxnSpPr>
        <p:spPr>
          <a:xfrm>
            <a:off x="6345936" y="4096511"/>
            <a:ext cx="0" cy="603505"/>
          </a:xfrm>
          <a:prstGeom prst="line">
            <a:avLst/>
          </a:prstGeom>
          <a:ln w="12700">
            <a:solidFill>
              <a:srgbClr val="C9CED9"/>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172200" y="4718304"/>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72200" y="4718304"/>
            <a:ext cx="347472" cy="347472"/>
          </a:xfrm>
          <a:prstGeom prst="rect">
            <a:avLst/>
          </a:prstGeom>
          <a:noFill/>
        </p:spPr>
        <p:txBody>
          <a:bodyPr wrap="square" lIns="0" rIns="0" tIns="0" bIns="0" anchor="ctr">
            <a:spAutoFit/>
          </a:bodyPr>
          <a:lstStyle/>
          <a:p>
            <a:pPr algn="ctr"/>
            <a:r>
              <a:rPr sz="1100" b="1">
                <a:solidFill>
                  <a:srgbClr val="FFFFFF"/>
                </a:solidFill>
                <a:latin typeface="Aptos"/>
              </a:rPr>
              <a:t>04</a:t>
            </a:r>
          </a:p>
        </p:txBody>
      </p:sp>
      <p:sp>
        <p:nvSpPr>
          <p:cNvPr id="47" name="TextBox 46"/>
          <p:cNvSpPr txBox="1"/>
          <p:nvPr/>
        </p:nvSpPr>
        <p:spPr>
          <a:xfrm>
            <a:off x="6675120" y="4700016"/>
            <a:ext cx="1828800" cy="292608"/>
          </a:xfrm>
          <a:prstGeom prst="rect">
            <a:avLst/>
          </a:prstGeom>
          <a:noFill/>
        </p:spPr>
        <p:txBody>
          <a:bodyPr wrap="square" lIns="0" rIns="0" tIns="0" bIns="0" anchor="ctr">
            <a:spAutoFit/>
          </a:bodyPr>
          <a:lstStyle/>
          <a:p>
            <a:pPr algn="l"/>
            <a:r>
              <a:rPr sz="1600" b="1">
                <a:solidFill>
                  <a:srgbClr val="151A2D"/>
                </a:solidFill>
                <a:latin typeface="Aptos"/>
              </a:rPr>
              <a:t>Validation-first</a:t>
            </a:r>
          </a:p>
        </p:txBody>
      </p:sp>
      <p:sp>
        <p:nvSpPr>
          <p:cNvPr id="48" name="TextBox 47"/>
          <p:cNvSpPr txBox="1"/>
          <p:nvPr/>
        </p:nvSpPr>
        <p:spPr>
          <a:xfrm>
            <a:off x="8503920" y="4700016"/>
            <a:ext cx="2834640" cy="512064"/>
          </a:xfrm>
          <a:prstGeom prst="rect">
            <a:avLst/>
          </a:prstGeom>
          <a:noFill/>
        </p:spPr>
        <p:txBody>
          <a:bodyPr wrap="square" lIns="0" rIns="0" tIns="0" bIns="0" anchor="ctr">
            <a:spAutoFit/>
          </a:bodyPr>
          <a:lstStyle/>
          <a:p>
            <a:pPr algn="l"/>
            <a:r>
              <a:rPr sz="1200" b="0">
                <a:solidFill>
                  <a:srgbClr val="626A7A"/>
                </a:solidFill>
                <a:latin typeface="Aptos"/>
              </a:rPr>
              <a:t>Approval · TODO · contract · security · compile · behavior · sandbox</a:t>
            </a:r>
          </a:p>
        </p:txBody>
      </p:sp>
      <p:sp>
        <p:nvSpPr>
          <p:cNvPr id="49" name="TextBox 48"/>
          <p:cNvSpPr txBox="1"/>
          <p:nvPr/>
        </p:nvSpPr>
        <p:spPr>
          <a:xfrm>
            <a:off x="6172200" y="5486400"/>
            <a:ext cx="1463040" cy="228600"/>
          </a:xfrm>
          <a:prstGeom prst="rect">
            <a:avLst/>
          </a:prstGeom>
          <a:noFill/>
        </p:spPr>
        <p:txBody>
          <a:bodyPr wrap="square" lIns="0" rIns="0" tIns="0" bIns="0">
            <a:spAutoFit/>
          </a:bodyPr>
          <a:lstStyle/>
          <a:p>
            <a:r>
              <a:rPr sz="900" b="1">
                <a:solidFill>
                  <a:srgbClr val="4F46E5"/>
                </a:solidFill>
                <a:latin typeface="Aptos"/>
              </a:rPr>
              <a:t>UNDER THE HOOD</a:t>
            </a:r>
          </a:p>
        </p:txBody>
      </p:sp>
      <p:sp>
        <p:nvSpPr>
          <p:cNvPr id="50" name="TextBox 49"/>
          <p:cNvSpPr txBox="1"/>
          <p:nvPr/>
        </p:nvSpPr>
        <p:spPr>
          <a:xfrm>
            <a:off x="6172200" y="5742432"/>
            <a:ext cx="5394960" cy="777240"/>
          </a:xfrm>
          <a:prstGeom prst="rect">
            <a:avLst/>
          </a:prstGeom>
          <a:noFill/>
        </p:spPr>
        <p:txBody>
          <a:bodyPr wrap="square" lIns="0" rIns="0" tIns="0" bIns="0">
            <a:spAutoFit/>
          </a:bodyPr>
          <a:lstStyle/>
          <a:p>
            <a:r>
              <a:rPr sz="1050" b="0">
                <a:solidFill>
                  <a:srgbClr val="626A7A"/>
                </a:solidFill>
                <a:latin typeface="Aptos"/>
              </a:rPr>
              <a:t>Scriban templates render the skeletons, interfaces and DI wiring — the same engine as our backend codegen CLI. NSwag generates the provider client and our models from the two OpenAPI specs. System.CommandLine parses the commands. The gates and the AI briefs are plain C# in the same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06</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05 — DEVELOPER JOURNEY</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One command chain, explicit approval points</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A paved road from API specs to a validated connector.</a:t>
            </a:r>
          </a:p>
        </p:txBody>
      </p:sp>
      <p:sp>
        <p:nvSpPr>
          <p:cNvPr id="8" name="Oval 7"/>
          <p:cNvSpPr/>
          <p:nvPr/>
        </p:nvSpPr>
        <p:spPr>
          <a:xfrm>
            <a:off x="1097280" y="1938528"/>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347472" cy="347472"/>
          </a:xfrm>
          <a:prstGeom prst="rect">
            <a:avLst/>
          </a:prstGeom>
          <a:noFill/>
        </p:spPr>
        <p:txBody>
          <a:bodyPr wrap="square" lIns="0" rIns="0" tIns="0" bIns="0" anchor="ctr">
            <a:spAutoFit/>
          </a:bodyPr>
          <a:lstStyle/>
          <a:p>
            <a:pPr algn="ctr"/>
            <a:r>
              <a:rPr sz="1100" b="1">
                <a:solidFill>
                  <a:srgbClr val="FFFFFF"/>
                </a:solidFill>
                <a:latin typeface="Aptos"/>
              </a:rPr>
              <a:t>1</a:t>
            </a:r>
          </a:p>
        </p:txBody>
      </p:sp>
      <p:sp>
        <p:nvSpPr>
          <p:cNvPr id="10" name="TextBox 9"/>
          <p:cNvSpPr txBox="1"/>
          <p:nvPr/>
        </p:nvSpPr>
        <p:spPr>
          <a:xfrm>
            <a:off x="530352" y="2423160"/>
            <a:ext cx="1508760" cy="256032"/>
          </a:xfrm>
          <a:prstGeom prst="rect">
            <a:avLst/>
          </a:prstGeom>
          <a:noFill/>
        </p:spPr>
        <p:txBody>
          <a:bodyPr wrap="square" lIns="0" rIns="0" tIns="0" bIns="0" anchor="ctr">
            <a:spAutoFit/>
          </a:bodyPr>
          <a:lstStyle/>
          <a:p>
            <a:pPr algn="ctr"/>
            <a:r>
              <a:rPr sz="1100" b="1">
                <a:solidFill>
                  <a:srgbClr val="6D5DFB"/>
                </a:solidFill>
                <a:latin typeface="Aptos"/>
              </a:rPr>
              <a:t>INIT</a:t>
            </a:r>
          </a:p>
        </p:txBody>
      </p:sp>
      <p:sp>
        <p:nvSpPr>
          <p:cNvPr id="11" name="TextBox 10"/>
          <p:cNvSpPr txBox="1"/>
          <p:nvPr/>
        </p:nvSpPr>
        <p:spPr>
          <a:xfrm>
            <a:off x="530352" y="2788920"/>
            <a:ext cx="1508760" cy="658368"/>
          </a:xfrm>
          <a:prstGeom prst="rect">
            <a:avLst/>
          </a:prstGeom>
          <a:noFill/>
        </p:spPr>
        <p:txBody>
          <a:bodyPr wrap="square" lIns="0" rIns="0" tIns="0" bIns="0" anchor="ctr">
            <a:spAutoFit/>
          </a:bodyPr>
          <a:lstStyle/>
          <a:p>
            <a:pPr algn="ctr"/>
            <a:r>
              <a:rPr sz="1300" b="1">
                <a:solidFill>
                  <a:srgbClr val="151A2D"/>
                </a:solidFill>
                <a:latin typeface="Aptos"/>
              </a:rPr>
              <a:t>Create connector manifest</a:t>
            </a:r>
          </a:p>
        </p:txBody>
      </p:sp>
      <p:cxnSp>
        <p:nvCxnSpPr>
          <p:cNvPr id="12" name="Connector 11"/>
          <p:cNvCxnSpPr/>
          <p:nvPr/>
        </p:nvCxnSpPr>
        <p:spPr>
          <a:xfrm>
            <a:off x="1810512" y="2112264"/>
            <a:ext cx="594360" cy="0"/>
          </a:xfrm>
          <a:prstGeom prst="line">
            <a:avLst/>
          </a:prstGeom>
          <a:ln w="25400">
            <a:solidFill>
              <a:srgbClr val="9B8CFF"/>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017520" y="1938528"/>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1938528"/>
            <a:ext cx="347472" cy="347472"/>
          </a:xfrm>
          <a:prstGeom prst="rect">
            <a:avLst/>
          </a:prstGeom>
          <a:noFill/>
        </p:spPr>
        <p:txBody>
          <a:bodyPr wrap="square" lIns="0" rIns="0" tIns="0" bIns="0" anchor="ctr">
            <a:spAutoFit/>
          </a:bodyPr>
          <a:lstStyle/>
          <a:p>
            <a:pPr algn="ctr"/>
            <a:r>
              <a:rPr sz="1100" b="1">
                <a:solidFill>
                  <a:srgbClr val="FFFFFF"/>
                </a:solidFill>
                <a:latin typeface="Aptos"/>
              </a:rPr>
              <a:t>2</a:t>
            </a:r>
          </a:p>
        </p:txBody>
      </p:sp>
      <p:sp>
        <p:nvSpPr>
          <p:cNvPr id="15" name="TextBox 14"/>
          <p:cNvSpPr txBox="1"/>
          <p:nvPr/>
        </p:nvSpPr>
        <p:spPr>
          <a:xfrm>
            <a:off x="2450592" y="2423160"/>
            <a:ext cx="1508760" cy="256032"/>
          </a:xfrm>
          <a:prstGeom prst="rect">
            <a:avLst/>
          </a:prstGeom>
          <a:noFill/>
        </p:spPr>
        <p:txBody>
          <a:bodyPr wrap="square" lIns="0" rIns="0" tIns="0" bIns="0" anchor="ctr">
            <a:spAutoFit/>
          </a:bodyPr>
          <a:lstStyle/>
          <a:p>
            <a:pPr algn="ctr"/>
            <a:r>
              <a:rPr sz="1100" b="1">
                <a:solidFill>
                  <a:srgbClr val="6D5DFB"/>
                </a:solidFill>
                <a:latin typeface="Aptos"/>
              </a:rPr>
              <a:t>IMPORT</a:t>
            </a:r>
          </a:p>
        </p:txBody>
      </p:sp>
      <p:sp>
        <p:nvSpPr>
          <p:cNvPr id="16" name="TextBox 15"/>
          <p:cNvSpPr txBox="1"/>
          <p:nvPr/>
        </p:nvSpPr>
        <p:spPr>
          <a:xfrm>
            <a:off x="2450592" y="2788920"/>
            <a:ext cx="1508760" cy="658368"/>
          </a:xfrm>
          <a:prstGeom prst="rect">
            <a:avLst/>
          </a:prstGeom>
          <a:noFill/>
        </p:spPr>
        <p:txBody>
          <a:bodyPr wrap="square" lIns="0" rIns="0" tIns="0" bIns="0" anchor="ctr">
            <a:spAutoFit/>
          </a:bodyPr>
          <a:lstStyle/>
          <a:p>
            <a:pPr algn="ctr"/>
            <a:r>
              <a:rPr sz="1300" b="1">
                <a:solidFill>
                  <a:srgbClr val="151A2D"/>
                </a:solidFill>
                <a:latin typeface="Aptos"/>
              </a:rPr>
              <a:t>Load third-party spec</a:t>
            </a:r>
          </a:p>
        </p:txBody>
      </p:sp>
      <p:cxnSp>
        <p:nvCxnSpPr>
          <p:cNvPr id="17" name="Connector 16"/>
          <p:cNvCxnSpPr/>
          <p:nvPr/>
        </p:nvCxnSpPr>
        <p:spPr>
          <a:xfrm>
            <a:off x="3730752" y="2112264"/>
            <a:ext cx="594360" cy="0"/>
          </a:xfrm>
          <a:prstGeom prst="line">
            <a:avLst/>
          </a:prstGeom>
          <a:ln w="25400">
            <a:solidFill>
              <a:srgbClr val="9B8CFF"/>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937760" y="1938528"/>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0" y="1938528"/>
            <a:ext cx="347472" cy="347472"/>
          </a:xfrm>
          <a:prstGeom prst="rect">
            <a:avLst/>
          </a:prstGeom>
          <a:noFill/>
        </p:spPr>
        <p:txBody>
          <a:bodyPr wrap="square" lIns="0" rIns="0" tIns="0" bIns="0" anchor="ctr">
            <a:spAutoFit/>
          </a:bodyPr>
          <a:lstStyle/>
          <a:p>
            <a:pPr algn="ctr"/>
            <a:r>
              <a:rPr sz="1100" b="1">
                <a:solidFill>
                  <a:srgbClr val="FFFFFF"/>
                </a:solidFill>
                <a:latin typeface="Aptos"/>
              </a:rPr>
              <a:t>3</a:t>
            </a:r>
          </a:p>
        </p:txBody>
      </p:sp>
      <p:sp>
        <p:nvSpPr>
          <p:cNvPr id="20" name="TextBox 19"/>
          <p:cNvSpPr txBox="1"/>
          <p:nvPr/>
        </p:nvSpPr>
        <p:spPr>
          <a:xfrm>
            <a:off x="4370832" y="2423160"/>
            <a:ext cx="1508760" cy="256032"/>
          </a:xfrm>
          <a:prstGeom prst="rect">
            <a:avLst/>
          </a:prstGeom>
          <a:noFill/>
        </p:spPr>
        <p:txBody>
          <a:bodyPr wrap="square" lIns="0" rIns="0" tIns="0" bIns="0" anchor="ctr">
            <a:spAutoFit/>
          </a:bodyPr>
          <a:lstStyle/>
          <a:p>
            <a:pPr algn="ctr"/>
            <a:r>
              <a:rPr sz="1100" b="1">
                <a:solidFill>
                  <a:srgbClr val="6D5DFB"/>
                </a:solidFill>
                <a:latin typeface="Aptos"/>
              </a:rPr>
              <a:t>MAP</a:t>
            </a:r>
          </a:p>
        </p:txBody>
      </p:sp>
      <p:sp>
        <p:nvSpPr>
          <p:cNvPr id="21" name="TextBox 20"/>
          <p:cNvSpPr txBox="1"/>
          <p:nvPr/>
        </p:nvSpPr>
        <p:spPr>
          <a:xfrm>
            <a:off x="4370832" y="2788920"/>
            <a:ext cx="1508760" cy="658368"/>
          </a:xfrm>
          <a:prstGeom prst="rect">
            <a:avLst/>
          </a:prstGeom>
          <a:noFill/>
        </p:spPr>
        <p:txBody>
          <a:bodyPr wrap="square" lIns="0" rIns="0" tIns="0" bIns="0" anchor="ctr">
            <a:spAutoFit/>
          </a:bodyPr>
          <a:lstStyle/>
          <a:p>
            <a:pPr algn="ctr"/>
            <a:r>
              <a:rPr sz="1300" b="1">
                <a:solidFill>
                  <a:srgbClr val="151A2D"/>
                </a:solidFill>
                <a:latin typeface="Aptos"/>
              </a:rPr>
              <a:t>Propose operation + field mappings</a:t>
            </a:r>
          </a:p>
        </p:txBody>
      </p:sp>
      <p:cxnSp>
        <p:nvCxnSpPr>
          <p:cNvPr id="22" name="Connector 21"/>
          <p:cNvCxnSpPr/>
          <p:nvPr/>
        </p:nvCxnSpPr>
        <p:spPr>
          <a:xfrm>
            <a:off x="5650992" y="2112264"/>
            <a:ext cx="594360" cy="0"/>
          </a:xfrm>
          <a:prstGeom prst="line">
            <a:avLst/>
          </a:prstGeom>
          <a:ln w="25400">
            <a:solidFill>
              <a:srgbClr val="9B8CFF"/>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858000" y="1938528"/>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1938528"/>
            <a:ext cx="347472" cy="347472"/>
          </a:xfrm>
          <a:prstGeom prst="rect">
            <a:avLst/>
          </a:prstGeom>
          <a:noFill/>
        </p:spPr>
        <p:txBody>
          <a:bodyPr wrap="square" lIns="0" rIns="0" tIns="0" bIns="0" anchor="ctr">
            <a:spAutoFit/>
          </a:bodyPr>
          <a:lstStyle/>
          <a:p>
            <a:pPr algn="ctr"/>
            <a:r>
              <a:rPr sz="1100" b="1">
                <a:solidFill>
                  <a:srgbClr val="FFFFFF"/>
                </a:solidFill>
                <a:latin typeface="Aptos"/>
              </a:rPr>
              <a:t>4</a:t>
            </a:r>
          </a:p>
        </p:txBody>
      </p:sp>
      <p:sp>
        <p:nvSpPr>
          <p:cNvPr id="25" name="TextBox 24"/>
          <p:cNvSpPr txBox="1"/>
          <p:nvPr/>
        </p:nvSpPr>
        <p:spPr>
          <a:xfrm>
            <a:off x="6291072" y="2423160"/>
            <a:ext cx="1508760" cy="256032"/>
          </a:xfrm>
          <a:prstGeom prst="rect">
            <a:avLst/>
          </a:prstGeom>
          <a:noFill/>
        </p:spPr>
        <p:txBody>
          <a:bodyPr wrap="square" lIns="0" rIns="0" tIns="0" bIns="0" anchor="ctr">
            <a:spAutoFit/>
          </a:bodyPr>
          <a:lstStyle/>
          <a:p>
            <a:pPr algn="ctr"/>
            <a:r>
              <a:rPr sz="1100" b="1">
                <a:solidFill>
                  <a:srgbClr val="6D5DFB"/>
                </a:solidFill>
                <a:latin typeface="Aptos"/>
              </a:rPr>
              <a:t>GENERATE</a:t>
            </a:r>
          </a:p>
        </p:txBody>
      </p:sp>
      <p:sp>
        <p:nvSpPr>
          <p:cNvPr id="26" name="TextBox 25"/>
          <p:cNvSpPr txBox="1"/>
          <p:nvPr/>
        </p:nvSpPr>
        <p:spPr>
          <a:xfrm>
            <a:off x="6291072" y="2788920"/>
            <a:ext cx="1508760" cy="658368"/>
          </a:xfrm>
          <a:prstGeom prst="rect">
            <a:avLst/>
          </a:prstGeom>
          <a:noFill/>
        </p:spPr>
        <p:txBody>
          <a:bodyPr wrap="square" lIns="0" rIns="0" tIns="0" bIns="0" anchor="ctr">
            <a:spAutoFit/>
          </a:bodyPr>
          <a:lstStyle/>
          <a:p>
            <a:pPr algn="ctr"/>
            <a:r>
              <a:rPr sz="1300" b="1">
                <a:solidFill>
                  <a:srgbClr val="151A2D"/>
                </a:solidFill>
                <a:latin typeface="Aptos"/>
              </a:rPr>
              <a:t>Interfaces, DI, skeletons, test shells</a:t>
            </a:r>
          </a:p>
        </p:txBody>
      </p:sp>
      <p:cxnSp>
        <p:nvCxnSpPr>
          <p:cNvPr id="27" name="Connector 26"/>
          <p:cNvCxnSpPr/>
          <p:nvPr/>
        </p:nvCxnSpPr>
        <p:spPr>
          <a:xfrm>
            <a:off x="7571232" y="2112264"/>
            <a:ext cx="594360" cy="0"/>
          </a:xfrm>
          <a:prstGeom prst="line">
            <a:avLst/>
          </a:prstGeom>
          <a:ln w="25400">
            <a:solidFill>
              <a:srgbClr val="9B8CFF"/>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8778240" y="1938528"/>
            <a:ext cx="347472" cy="347472"/>
          </a:xfrm>
          <a:prstGeom prst="ellipse">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0" y="1938528"/>
            <a:ext cx="347472" cy="347472"/>
          </a:xfrm>
          <a:prstGeom prst="rect">
            <a:avLst/>
          </a:prstGeom>
          <a:noFill/>
        </p:spPr>
        <p:txBody>
          <a:bodyPr wrap="square" lIns="0" rIns="0" tIns="0" bIns="0" anchor="ctr">
            <a:spAutoFit/>
          </a:bodyPr>
          <a:lstStyle/>
          <a:p>
            <a:pPr algn="ctr"/>
            <a:r>
              <a:rPr sz="1100" b="1">
                <a:solidFill>
                  <a:srgbClr val="FFFFFF"/>
                </a:solidFill>
                <a:latin typeface="Aptos"/>
              </a:rPr>
              <a:t>5</a:t>
            </a:r>
          </a:p>
        </p:txBody>
      </p:sp>
      <p:sp>
        <p:nvSpPr>
          <p:cNvPr id="30" name="TextBox 29"/>
          <p:cNvSpPr txBox="1"/>
          <p:nvPr/>
        </p:nvSpPr>
        <p:spPr>
          <a:xfrm>
            <a:off x="8211312" y="2423160"/>
            <a:ext cx="1508760" cy="256032"/>
          </a:xfrm>
          <a:prstGeom prst="rect">
            <a:avLst/>
          </a:prstGeom>
          <a:noFill/>
        </p:spPr>
        <p:txBody>
          <a:bodyPr wrap="square" lIns="0" rIns="0" tIns="0" bIns="0" anchor="ctr">
            <a:spAutoFit/>
          </a:bodyPr>
          <a:lstStyle/>
          <a:p>
            <a:pPr algn="ctr"/>
            <a:r>
              <a:rPr sz="1100" b="1">
                <a:solidFill>
                  <a:srgbClr val="2CCCE4"/>
                </a:solidFill>
                <a:latin typeface="Aptos"/>
              </a:rPr>
              <a:t>IMPLEMENT</a:t>
            </a:r>
          </a:p>
        </p:txBody>
      </p:sp>
      <p:sp>
        <p:nvSpPr>
          <p:cNvPr id="31" name="TextBox 30"/>
          <p:cNvSpPr txBox="1"/>
          <p:nvPr/>
        </p:nvSpPr>
        <p:spPr>
          <a:xfrm>
            <a:off x="8211312" y="2788920"/>
            <a:ext cx="1508760" cy="658368"/>
          </a:xfrm>
          <a:prstGeom prst="rect">
            <a:avLst/>
          </a:prstGeom>
          <a:noFill/>
        </p:spPr>
        <p:txBody>
          <a:bodyPr wrap="square" lIns="0" rIns="0" tIns="0" bIns="0" anchor="ctr">
            <a:spAutoFit/>
          </a:bodyPr>
          <a:lstStyle/>
          <a:p>
            <a:pPr algn="ctr"/>
            <a:r>
              <a:rPr sz="1300" b="1">
                <a:solidFill>
                  <a:srgbClr val="151A2D"/>
                </a:solidFill>
                <a:latin typeface="Aptos"/>
              </a:rPr>
              <a:t>AI fills bounded TODOs</a:t>
            </a:r>
          </a:p>
        </p:txBody>
      </p:sp>
      <p:cxnSp>
        <p:nvCxnSpPr>
          <p:cNvPr id="32" name="Connector 31"/>
          <p:cNvCxnSpPr/>
          <p:nvPr/>
        </p:nvCxnSpPr>
        <p:spPr>
          <a:xfrm>
            <a:off x="9491472" y="2112264"/>
            <a:ext cx="594360" cy="0"/>
          </a:xfrm>
          <a:prstGeom prst="line">
            <a:avLst/>
          </a:prstGeom>
          <a:ln w="25400">
            <a:solidFill>
              <a:srgbClr val="9B8CF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698480" y="1938528"/>
            <a:ext cx="347472" cy="34747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0" y="1938528"/>
            <a:ext cx="347472" cy="347472"/>
          </a:xfrm>
          <a:prstGeom prst="rect">
            <a:avLst/>
          </a:prstGeom>
          <a:noFill/>
        </p:spPr>
        <p:txBody>
          <a:bodyPr wrap="square" lIns="0" rIns="0" tIns="0" bIns="0" anchor="ctr">
            <a:spAutoFit/>
          </a:bodyPr>
          <a:lstStyle/>
          <a:p>
            <a:pPr algn="ctr"/>
            <a:r>
              <a:rPr sz="1100" b="1">
                <a:solidFill>
                  <a:srgbClr val="FFFFFF"/>
                </a:solidFill>
                <a:latin typeface="Aptos"/>
              </a:rPr>
              <a:t>6</a:t>
            </a:r>
          </a:p>
        </p:txBody>
      </p:sp>
      <p:sp>
        <p:nvSpPr>
          <p:cNvPr id="35" name="TextBox 34"/>
          <p:cNvSpPr txBox="1"/>
          <p:nvPr/>
        </p:nvSpPr>
        <p:spPr>
          <a:xfrm>
            <a:off x="10131552" y="2423160"/>
            <a:ext cx="1508760" cy="256032"/>
          </a:xfrm>
          <a:prstGeom prst="rect">
            <a:avLst/>
          </a:prstGeom>
          <a:noFill/>
        </p:spPr>
        <p:txBody>
          <a:bodyPr wrap="square" lIns="0" rIns="0" tIns="0" bIns="0" anchor="ctr">
            <a:spAutoFit/>
          </a:bodyPr>
          <a:lstStyle/>
          <a:p>
            <a:pPr algn="ctr"/>
            <a:r>
              <a:rPr sz="1100" b="1">
                <a:solidFill>
                  <a:srgbClr val="6D5DFB"/>
                </a:solidFill>
                <a:latin typeface="Aptos"/>
              </a:rPr>
              <a:t>VALIDATE</a:t>
            </a:r>
          </a:p>
        </p:txBody>
      </p:sp>
      <p:sp>
        <p:nvSpPr>
          <p:cNvPr id="36" name="TextBox 35"/>
          <p:cNvSpPr txBox="1"/>
          <p:nvPr/>
        </p:nvSpPr>
        <p:spPr>
          <a:xfrm>
            <a:off x="10131552" y="2788920"/>
            <a:ext cx="1508760" cy="658368"/>
          </a:xfrm>
          <a:prstGeom prst="rect">
            <a:avLst/>
          </a:prstGeom>
          <a:noFill/>
        </p:spPr>
        <p:txBody>
          <a:bodyPr wrap="square" lIns="0" rIns="0" tIns="0" bIns="0" anchor="ctr">
            <a:spAutoFit/>
          </a:bodyPr>
          <a:lstStyle/>
          <a:p>
            <a:pPr algn="ctr"/>
            <a:r>
              <a:rPr sz="1300" b="1">
                <a:solidFill>
                  <a:srgbClr val="151A2D"/>
                </a:solidFill>
                <a:latin typeface="Aptos"/>
              </a:rPr>
              <a:t>CI gates + engineer review</a:t>
            </a:r>
          </a:p>
        </p:txBody>
      </p:sp>
      <p:sp>
        <p:nvSpPr>
          <p:cNvPr id="37" name="Rounded Rectangle 36"/>
          <p:cNvSpPr/>
          <p:nvPr/>
        </p:nvSpPr>
        <p:spPr>
          <a:xfrm>
            <a:off x="685800" y="3822191"/>
            <a:ext cx="10835640" cy="141732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 y="4087368"/>
            <a:ext cx="4846320" cy="274320"/>
          </a:xfrm>
          <a:prstGeom prst="rect">
            <a:avLst/>
          </a:prstGeom>
          <a:noFill/>
        </p:spPr>
        <p:txBody>
          <a:bodyPr wrap="square" lIns="0" rIns="0" tIns="0" bIns="0" anchor="ctr">
            <a:spAutoFit/>
          </a:bodyPr>
          <a:lstStyle/>
          <a:p>
            <a:pPr algn="l"/>
            <a:r>
              <a:rPr sz="1400" b="0">
                <a:solidFill>
                  <a:srgbClr val="B8F3FF"/>
                </a:solidFill>
                <a:latin typeface="Courier New"/>
              </a:rPr>
              <a:t>$ integration-cli init swapi  →  import swapi</a:t>
            </a:r>
          </a:p>
        </p:txBody>
      </p:sp>
      <p:sp>
        <p:nvSpPr>
          <p:cNvPr id="39" name="TextBox 38"/>
          <p:cNvSpPr txBox="1"/>
          <p:nvPr/>
        </p:nvSpPr>
        <p:spPr>
          <a:xfrm>
            <a:off x="960120" y="4434840"/>
            <a:ext cx="5669280" cy="274320"/>
          </a:xfrm>
          <a:prstGeom prst="rect">
            <a:avLst/>
          </a:prstGeom>
          <a:noFill/>
        </p:spPr>
        <p:txBody>
          <a:bodyPr wrap="square" lIns="0" rIns="0" tIns="0" bIns="0" anchor="ctr">
            <a:spAutoFit/>
          </a:bodyPr>
          <a:lstStyle/>
          <a:p>
            <a:pPr algn="l"/>
            <a:r>
              <a:rPr sz="1400" b="0">
                <a:solidFill>
                  <a:srgbClr val="B8F3FF"/>
                </a:solidFill>
                <a:latin typeface="Courier New"/>
              </a:rPr>
              <a:t>$ integration-cli map swapi  →  approve</a:t>
            </a:r>
          </a:p>
        </p:txBody>
      </p:sp>
      <p:sp>
        <p:nvSpPr>
          <p:cNvPr id="40" name="TextBox 39"/>
          <p:cNvSpPr txBox="1"/>
          <p:nvPr/>
        </p:nvSpPr>
        <p:spPr>
          <a:xfrm>
            <a:off x="6080760" y="4087368"/>
            <a:ext cx="4983480" cy="274320"/>
          </a:xfrm>
          <a:prstGeom prst="rect">
            <a:avLst/>
          </a:prstGeom>
          <a:noFill/>
        </p:spPr>
        <p:txBody>
          <a:bodyPr wrap="square" lIns="0" rIns="0" tIns="0" bIns="0" anchor="ctr">
            <a:spAutoFit/>
          </a:bodyPr>
          <a:lstStyle/>
          <a:p>
            <a:pPr algn="l"/>
            <a:r>
              <a:rPr sz="1300" b="0">
                <a:solidFill>
                  <a:srgbClr val="D8D2FF"/>
                </a:solidFill>
                <a:latin typeface="Courier New"/>
              </a:rPr>
              <a:t>$ integration-cli generate  →  ai implement</a:t>
            </a:r>
          </a:p>
        </p:txBody>
      </p:sp>
      <p:sp>
        <p:nvSpPr>
          <p:cNvPr id="41" name="TextBox 40"/>
          <p:cNvSpPr txBox="1"/>
          <p:nvPr/>
        </p:nvSpPr>
        <p:spPr>
          <a:xfrm>
            <a:off x="6080760" y="4434840"/>
            <a:ext cx="4114800" cy="274320"/>
          </a:xfrm>
          <a:prstGeom prst="rect">
            <a:avLst/>
          </a:prstGeom>
          <a:noFill/>
        </p:spPr>
        <p:txBody>
          <a:bodyPr wrap="square" lIns="0" rIns="0" tIns="0" bIns="0" anchor="ctr">
            <a:spAutoFit/>
          </a:bodyPr>
          <a:lstStyle/>
          <a:p>
            <a:pPr algn="l"/>
            <a:r>
              <a:rPr sz="1400" b="0">
                <a:solidFill>
                  <a:srgbClr val="BDEEDD"/>
                </a:solidFill>
                <a:latin typeface="Courier New"/>
              </a:rPr>
              <a:t>$ integration-cli validate --smoke</a:t>
            </a:r>
          </a:p>
        </p:txBody>
      </p:sp>
      <p:sp>
        <p:nvSpPr>
          <p:cNvPr id="42" name="Rounded Rectangle 41"/>
          <p:cNvSpPr/>
          <p:nvPr/>
        </p:nvSpPr>
        <p:spPr>
          <a:xfrm>
            <a:off x="4224528" y="5532120"/>
            <a:ext cx="1600200" cy="292608"/>
          </a:xfrm>
          <a:prstGeom prst="roundRect">
            <a:avLst/>
          </a:prstGeom>
          <a:solidFill>
            <a:srgbClr val="FFF3DB"/>
          </a:solidFill>
          <a:ln>
            <a:solidFill>
              <a:srgbClr val="FFF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79392" y="5550407"/>
            <a:ext cx="1490472" cy="246888"/>
          </a:xfrm>
          <a:prstGeom prst="rect">
            <a:avLst/>
          </a:prstGeom>
          <a:noFill/>
        </p:spPr>
        <p:txBody>
          <a:bodyPr wrap="square" lIns="0" rIns="0" tIns="0" bIns="0" anchor="ctr">
            <a:spAutoFit/>
          </a:bodyPr>
          <a:lstStyle/>
          <a:p>
            <a:pPr algn="ctr"/>
            <a:r>
              <a:rPr sz="900" b="1">
                <a:solidFill>
                  <a:srgbClr val="B56C00"/>
                </a:solidFill>
                <a:latin typeface="Aptos"/>
              </a:rPr>
              <a:t>HUMAN APPROVAL</a:t>
            </a:r>
          </a:p>
        </p:txBody>
      </p:sp>
      <p:sp>
        <p:nvSpPr>
          <p:cNvPr id="44" name="TextBox 43"/>
          <p:cNvSpPr txBox="1"/>
          <p:nvPr/>
        </p:nvSpPr>
        <p:spPr>
          <a:xfrm>
            <a:off x="6007608" y="5522976"/>
            <a:ext cx="4800600" cy="292608"/>
          </a:xfrm>
          <a:prstGeom prst="rect">
            <a:avLst/>
          </a:prstGeom>
          <a:noFill/>
        </p:spPr>
        <p:txBody>
          <a:bodyPr wrap="square" lIns="0" rIns="0" tIns="0" bIns="0" anchor="ctr">
            <a:spAutoFit/>
          </a:bodyPr>
          <a:lstStyle/>
          <a:p>
            <a:pPr algn="l"/>
            <a:r>
              <a:rPr sz="1100" b="0">
                <a:solidFill>
                  <a:srgbClr val="626A7A"/>
                </a:solidFill>
                <a:latin typeface="Aptos"/>
              </a:rPr>
              <a:t>Required when confidence is below policy (0.80). Recorded in the mapping file by integration-cli approve.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07</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06 — INTERMEDIATE ARTIFACT</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Make the integration plan reviewable</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AI should explain the mapping before it writes the implementation.</a:t>
            </a:r>
          </a:p>
        </p:txBody>
      </p:sp>
      <p:sp>
        <p:nvSpPr>
          <p:cNvPr id="8" name="Rounded Rectangle 7"/>
          <p:cNvSpPr/>
          <p:nvPr/>
        </p:nvSpPr>
        <p:spPr>
          <a:xfrm>
            <a:off x="621792" y="1664208"/>
            <a:ext cx="6720840" cy="434340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01952"/>
            <a:ext cx="6126480" cy="3794760"/>
          </a:xfrm>
          <a:prstGeom prst="rect">
            <a:avLst/>
          </a:prstGeom>
          <a:noFill/>
        </p:spPr>
        <p:txBody>
          <a:bodyPr wrap="square" lIns="0" rIns="0" tIns="0" bIns="0" anchor="t">
            <a:spAutoFit/>
          </a:bodyPr>
          <a:lstStyle/>
          <a:p>
            <a:pPr algn="l"/>
            <a:r>
              <a:rPr sz="1150" b="0">
                <a:solidFill>
                  <a:srgbClr val="D9E0F4"/>
                </a:solidFill>
                <a:latin typeface="Courier New"/>
              </a:rPr>
              <a:t>{</a:t>
            </a:r>
            <a:br/>
            <a:r>
              <a:rPr sz="1150" b="0">
                <a:solidFill>
                  <a:srgbClr val="D9E0F4"/>
                </a:solidFill>
                <a:latin typeface="Courier New"/>
              </a:rPr>
              <a:t>  "productOperation": "getCharacter",</a:t>
            </a:r>
            <a:br/>
            <a:r>
              <a:rPr sz="1150" b="0">
                <a:solidFill>
                  <a:srgbClr val="D9E0F4"/>
                </a:solidFill>
                <a:latin typeface="Courier New"/>
              </a:rPr>
              <a:t>  "providerOperation": "GET /people/{id}/",</a:t>
            </a:r>
            <a:br/>
            <a:r>
              <a:rPr sz="1150" b="0">
                <a:solidFill>
                  <a:srgbClr val="D9E0F4"/>
                </a:solidFill>
                <a:latin typeface="Courier New"/>
              </a:rPr>
              <a:t>  "confidence": 0.90,</a:t>
            </a:r>
            <a:br/>
            <a:r>
              <a:rPr sz="1150" b="0">
                <a:solidFill>
                  <a:srgbClr val="D9E0F4"/>
                </a:solidFill>
                <a:latin typeface="Courier New"/>
              </a:rPr>
              <a:t>  "fieldMappings": [</a:t>
            </a:r>
            <a:br/>
            <a:r>
              <a:rPr sz="1150" b="0">
                <a:solidFill>
                  <a:srgbClr val="D9E0F4"/>
                </a:solidFill>
                <a:latin typeface="Courier New"/>
              </a:rPr>
              <a:t>    { "source": "height",</a:t>
            </a:r>
            <a:br/>
            <a:r>
              <a:rPr sz="1150" b="0">
                <a:solidFill>
                  <a:srgbClr val="D9E0F4"/>
                </a:solidFill>
                <a:latin typeface="Courier New"/>
              </a:rPr>
              <a:t>      "target": "heightCm", "confidence": 0.90,</a:t>
            </a:r>
            <a:br/>
            <a:r>
              <a:rPr sz="1150" b="0">
                <a:solidFill>
                  <a:srgbClr val="D9E0F4"/>
                </a:solidFill>
                <a:latin typeface="Courier New"/>
              </a:rPr>
              <a:t>      "transform": "parse as integer; unknown -&gt; null" },</a:t>
            </a:r>
            <a:br/>
            <a:r>
              <a:rPr sz="1150" b="0">
                <a:solidFill>
                  <a:srgbClr val="D9E0F4"/>
                </a:solidFill>
                <a:latin typeface="Courier New"/>
              </a:rPr>
              <a:t>    { "source": "gender",</a:t>
            </a:r>
            <a:br/>
            <a:r>
              <a:rPr sz="1150" b="0">
                <a:solidFill>
                  <a:srgbClr val="D9E0F4"/>
                </a:solidFill>
                <a:latin typeface="Courier New"/>
              </a:rPr>
              <a:t>      "target": "gender", "confidence": 0.55,</a:t>
            </a:r>
            <a:br/>
            <a:r>
              <a:rPr sz="1150" b="0">
                <a:solidFill>
                  <a:srgbClr val="D9E0F4"/>
                </a:solidFill>
                <a:latin typeface="Courier New"/>
              </a:rPr>
              <a:t>      "transform": "male-&gt;Male, female-&gt;Female, n/a-&gt;?",</a:t>
            </a:r>
            <a:br/>
            <a:r>
              <a:rPr sz="1150" b="0">
                <a:solidFill>
                  <a:srgbClr val="D9E0F4"/>
                </a:solidFill>
                <a:latin typeface="Courier New"/>
              </a:rPr>
              <a:t>      "requiresHumanApproval": true }</a:t>
            </a:r>
            <a:br/>
            <a:r>
              <a:rPr sz="1150" b="0">
                <a:solidFill>
                  <a:srgbClr val="D9E0F4"/>
                </a:solidFill>
                <a:latin typeface="Courier New"/>
              </a:rPr>
              <a:t>  ],</a:t>
            </a:r>
            <a:br/>
            <a:r>
              <a:rPr sz="1150" b="0">
                <a:solidFill>
                  <a:srgbClr val="D9E0F4"/>
                </a:solidFill>
                <a:latin typeface="Courier New"/>
              </a:rPr>
              <a:t>  "unresolvedQuestions": [</a:t>
            </a:r>
            <a:br/>
            <a:r>
              <a:rPr sz="1150" b="0">
                <a:solidFill>
                  <a:srgbClr val="D9E0F4"/>
                </a:solidFill>
                <a:latin typeface="Courier New"/>
              </a:rPr>
              <a:t>    "Does n/a (droids) map to Other or Unknown?"</a:t>
            </a:r>
            <a:br/>
            <a:r>
              <a:rPr sz="1150" b="0">
                <a:solidFill>
                  <a:srgbClr val="D9E0F4"/>
                </a:solidFill>
                <a:latin typeface="Courier New"/>
              </a:rPr>
              <a:t>  ]</a:t>
            </a:r>
            <a:br/>
            <a:r>
              <a:rPr sz="1150" b="0">
                <a:solidFill>
                  <a:srgbClr val="D9E0F4"/>
                </a:solidFill>
                <a:latin typeface="Courier New"/>
              </a:rPr>
              <a:t>}</a:t>
            </a:r>
          </a:p>
        </p:txBody>
      </p:sp>
      <p:sp>
        <p:nvSpPr>
          <p:cNvPr id="10" name="Rounded Rectangle 9"/>
          <p:cNvSpPr/>
          <p:nvPr/>
        </p:nvSpPr>
        <p:spPr>
          <a:xfrm>
            <a:off x="7726679" y="1755648"/>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81544" y="1773936"/>
            <a:ext cx="1124712" cy="246888"/>
          </a:xfrm>
          <a:prstGeom prst="rect">
            <a:avLst/>
          </a:prstGeom>
          <a:noFill/>
        </p:spPr>
        <p:txBody>
          <a:bodyPr wrap="square" lIns="0" rIns="0" tIns="0" bIns="0" anchor="ctr">
            <a:spAutoFit/>
          </a:bodyPr>
          <a:lstStyle/>
          <a:p>
            <a:pPr algn="ctr"/>
            <a:r>
              <a:rPr sz="900" b="1">
                <a:solidFill>
                  <a:srgbClr val="6D5DFB"/>
                </a:solidFill>
                <a:latin typeface="Aptos"/>
              </a:rPr>
              <a:t>TRACEABLE</a:t>
            </a:r>
          </a:p>
        </p:txBody>
      </p:sp>
      <p:sp>
        <p:nvSpPr>
          <p:cNvPr id="12" name="TextBox 11"/>
          <p:cNvSpPr txBox="1"/>
          <p:nvPr/>
        </p:nvSpPr>
        <p:spPr>
          <a:xfrm>
            <a:off x="9098280" y="1737360"/>
            <a:ext cx="2286000" cy="512064"/>
          </a:xfrm>
          <a:prstGeom prst="rect">
            <a:avLst/>
          </a:prstGeom>
          <a:noFill/>
        </p:spPr>
        <p:txBody>
          <a:bodyPr wrap="square" lIns="0" rIns="0" tIns="0" bIns="0" anchor="ctr">
            <a:spAutoFit/>
          </a:bodyPr>
          <a:lstStyle/>
          <a:p>
            <a:pPr algn="l"/>
            <a:r>
              <a:rPr sz="1400" b="1">
                <a:solidFill>
                  <a:srgbClr val="151A2D"/>
                </a:solidFill>
                <a:latin typeface="Aptos"/>
              </a:rPr>
              <a:t>Mapping decisions become versioned inputs</a:t>
            </a:r>
          </a:p>
        </p:txBody>
      </p:sp>
      <p:sp>
        <p:nvSpPr>
          <p:cNvPr id="13" name="Rounded Rectangle 12"/>
          <p:cNvSpPr/>
          <p:nvPr/>
        </p:nvSpPr>
        <p:spPr>
          <a:xfrm>
            <a:off x="7726679" y="2798063"/>
            <a:ext cx="1234440" cy="292608"/>
          </a:xfrm>
          <a:prstGeom prst="roundRect">
            <a:avLst/>
          </a:prstGeom>
          <a:solidFill>
            <a:srgbClr val="FFF3DB"/>
          </a:solidFill>
          <a:ln>
            <a:solidFill>
              <a:srgbClr val="FFF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81544" y="2816351"/>
            <a:ext cx="1124712" cy="246888"/>
          </a:xfrm>
          <a:prstGeom prst="rect">
            <a:avLst/>
          </a:prstGeom>
          <a:noFill/>
        </p:spPr>
        <p:txBody>
          <a:bodyPr wrap="square" lIns="0" rIns="0" tIns="0" bIns="0" anchor="ctr">
            <a:spAutoFit/>
          </a:bodyPr>
          <a:lstStyle/>
          <a:p>
            <a:pPr algn="ctr"/>
            <a:r>
              <a:rPr sz="900" b="1">
                <a:solidFill>
                  <a:srgbClr val="B56C00"/>
                </a:solidFill>
                <a:latin typeface="Aptos"/>
              </a:rPr>
              <a:t>REVIEWABLE</a:t>
            </a:r>
          </a:p>
        </p:txBody>
      </p:sp>
      <p:sp>
        <p:nvSpPr>
          <p:cNvPr id="15" name="TextBox 14"/>
          <p:cNvSpPr txBox="1"/>
          <p:nvPr/>
        </p:nvSpPr>
        <p:spPr>
          <a:xfrm>
            <a:off x="9098280" y="2779775"/>
            <a:ext cx="2286000" cy="512064"/>
          </a:xfrm>
          <a:prstGeom prst="rect">
            <a:avLst/>
          </a:prstGeom>
          <a:noFill/>
        </p:spPr>
        <p:txBody>
          <a:bodyPr wrap="square" lIns="0" rIns="0" tIns="0" bIns="0" anchor="ctr">
            <a:spAutoFit/>
          </a:bodyPr>
          <a:lstStyle/>
          <a:p>
            <a:pPr algn="l"/>
            <a:r>
              <a:rPr sz="1400" b="1">
                <a:solidFill>
                  <a:srgbClr val="151A2D"/>
                </a:solidFill>
                <a:latin typeface="Aptos"/>
              </a:rPr>
              <a:t>Business ambiguity is visible before coding</a:t>
            </a:r>
          </a:p>
        </p:txBody>
      </p:sp>
      <p:sp>
        <p:nvSpPr>
          <p:cNvPr id="16" name="Rounded Rectangle 15"/>
          <p:cNvSpPr/>
          <p:nvPr/>
        </p:nvSpPr>
        <p:spPr>
          <a:xfrm>
            <a:off x="7726679" y="3840479"/>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81544" y="3858767"/>
            <a:ext cx="1124712" cy="246888"/>
          </a:xfrm>
          <a:prstGeom prst="rect">
            <a:avLst/>
          </a:prstGeom>
          <a:noFill/>
        </p:spPr>
        <p:txBody>
          <a:bodyPr wrap="square" lIns="0" rIns="0" tIns="0" bIns="0" anchor="ctr">
            <a:spAutoFit/>
          </a:bodyPr>
          <a:lstStyle/>
          <a:p>
            <a:pPr algn="ctr"/>
            <a:r>
              <a:rPr sz="900" b="1">
                <a:solidFill>
                  <a:srgbClr val="6D5DFB"/>
                </a:solidFill>
                <a:latin typeface="Aptos"/>
              </a:rPr>
              <a:t>EDITABLE</a:t>
            </a:r>
          </a:p>
        </p:txBody>
      </p:sp>
      <p:sp>
        <p:nvSpPr>
          <p:cNvPr id="18" name="TextBox 17"/>
          <p:cNvSpPr txBox="1"/>
          <p:nvPr/>
        </p:nvSpPr>
        <p:spPr>
          <a:xfrm>
            <a:off x="9098280" y="3822191"/>
            <a:ext cx="2286000" cy="512064"/>
          </a:xfrm>
          <a:prstGeom prst="rect">
            <a:avLst/>
          </a:prstGeom>
          <a:noFill/>
        </p:spPr>
        <p:txBody>
          <a:bodyPr wrap="square" lIns="0" rIns="0" tIns="0" bIns="0" anchor="ctr">
            <a:spAutoFit/>
          </a:bodyPr>
          <a:lstStyle/>
          <a:p>
            <a:pPr algn="l"/>
            <a:r>
              <a:rPr sz="1400" b="1">
                <a:solidFill>
                  <a:srgbClr val="151A2D"/>
                </a:solidFill>
                <a:latin typeface="Aptos"/>
              </a:rPr>
              <a:t>Edit a target or transform in the file before approving; generation follows it</a:t>
            </a:r>
          </a:p>
        </p:txBody>
      </p:sp>
      <p:sp>
        <p:nvSpPr>
          <p:cNvPr id="19" name="Rounded Rectangle 18"/>
          <p:cNvSpPr/>
          <p:nvPr/>
        </p:nvSpPr>
        <p:spPr>
          <a:xfrm>
            <a:off x="7726679" y="4882896"/>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81544" y="4901183"/>
            <a:ext cx="1124712" cy="246888"/>
          </a:xfrm>
          <a:prstGeom prst="rect">
            <a:avLst/>
          </a:prstGeom>
          <a:noFill/>
        </p:spPr>
        <p:txBody>
          <a:bodyPr wrap="square" lIns="0" rIns="0" tIns="0" bIns="0" anchor="ctr">
            <a:spAutoFit/>
          </a:bodyPr>
          <a:lstStyle/>
          <a:p>
            <a:pPr algn="ctr"/>
            <a:r>
              <a:rPr sz="900" b="1">
                <a:solidFill>
                  <a:srgbClr val="6D5DFB"/>
                </a:solidFill>
                <a:latin typeface="Aptos"/>
              </a:rPr>
              <a:t>MEASURABLE</a:t>
            </a:r>
          </a:p>
        </p:txBody>
      </p:sp>
      <p:sp>
        <p:nvSpPr>
          <p:cNvPr id="21" name="TextBox 20"/>
          <p:cNvSpPr txBox="1"/>
          <p:nvPr/>
        </p:nvSpPr>
        <p:spPr>
          <a:xfrm>
            <a:off x="9098280" y="4864608"/>
            <a:ext cx="2286000" cy="512064"/>
          </a:xfrm>
          <a:prstGeom prst="rect">
            <a:avLst/>
          </a:prstGeom>
          <a:noFill/>
        </p:spPr>
        <p:txBody>
          <a:bodyPr wrap="square" lIns="0" rIns="0" tIns="0" bIns="0" anchor="ctr">
            <a:spAutoFit/>
          </a:bodyPr>
          <a:lstStyle/>
          <a:p>
            <a:pPr algn="l"/>
            <a:r>
              <a:rPr sz="1400" b="1">
                <a:solidFill>
                  <a:srgbClr val="151A2D"/>
                </a:solidFill>
                <a:latin typeface="Aptos"/>
              </a:rPr>
              <a:t>Confidence and human decisions are tracked per field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08</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07 — WHAT AI RECEIVES</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Constrain context to improve quality</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Product = ours, provider = theirs. One operation, only its endpoints, the approved mapping and the policy.</a:t>
            </a:r>
          </a:p>
        </p:txBody>
      </p:sp>
      <p:sp>
        <p:nvSpPr>
          <p:cNvPr id="8" name="Rounded Rectangle 7"/>
          <p:cNvSpPr/>
          <p:nvPr/>
        </p:nvSpPr>
        <p:spPr>
          <a:xfrm>
            <a:off x="4572000" y="2331720"/>
            <a:ext cx="3017520" cy="1371600"/>
          </a:xfrm>
          <a:prstGeom prst="roundRect">
            <a:avLst/>
          </a:prstGeom>
          <a:solidFill>
            <a:srgbClr val="EEEAFE"/>
          </a:solidFill>
          <a:ln>
            <a:solidFill>
              <a:srgbClr val="CF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2633472"/>
            <a:ext cx="2560320" cy="685800"/>
          </a:xfrm>
          <a:prstGeom prst="rect">
            <a:avLst/>
          </a:prstGeom>
          <a:noFill/>
        </p:spPr>
        <p:txBody>
          <a:bodyPr wrap="square" lIns="0" rIns="0" tIns="0" bIns="0" anchor="ctr">
            <a:spAutoFit/>
          </a:bodyPr>
          <a:lstStyle/>
          <a:p>
            <a:pPr algn="ctr"/>
            <a:r>
              <a:rPr sz="2200" b="1">
                <a:solidFill>
                  <a:srgbClr val="6D5DFB"/>
                </a:solidFill>
                <a:latin typeface="Aptos"/>
              </a:rPr>
              <a:t>AI IMPLEMENTATION</a:t>
            </a:r>
            <a:br/>
            <a:r>
              <a:rPr sz="2200" b="1">
                <a:solidFill>
                  <a:srgbClr val="6D5DFB"/>
                </a:solidFill>
                <a:latin typeface="Aptos"/>
              </a:rPr>
              <a:t>TASK</a:t>
            </a:r>
          </a:p>
        </p:txBody>
      </p:sp>
      <p:sp>
        <p:nvSpPr>
          <p:cNvPr id="10" name="Rounded Rectangle 9"/>
          <p:cNvSpPr/>
          <p:nvPr/>
        </p:nvSpPr>
        <p:spPr>
          <a:xfrm>
            <a:off x="640080" y="1691640"/>
            <a:ext cx="3246120" cy="96012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837944"/>
            <a:ext cx="2880360" cy="256032"/>
          </a:xfrm>
          <a:prstGeom prst="rect">
            <a:avLst/>
          </a:prstGeom>
          <a:noFill/>
        </p:spPr>
        <p:txBody>
          <a:bodyPr wrap="square" lIns="0" rIns="0" tIns="0" bIns="0" anchor="ctr">
            <a:spAutoFit/>
          </a:bodyPr>
          <a:lstStyle/>
          <a:p>
            <a:pPr algn="l"/>
            <a:r>
              <a:rPr sz="1500" b="1">
                <a:solidFill>
                  <a:srgbClr val="151A2D"/>
                </a:solidFill>
                <a:latin typeface="Aptos"/>
              </a:rPr>
              <a:t>Product contract</a:t>
            </a:r>
          </a:p>
        </p:txBody>
      </p:sp>
      <p:sp>
        <p:nvSpPr>
          <p:cNvPr id="12" name="TextBox 11"/>
          <p:cNvSpPr txBox="1"/>
          <p:nvPr/>
        </p:nvSpPr>
        <p:spPr>
          <a:xfrm>
            <a:off x="804671" y="2176272"/>
            <a:ext cx="2880360" cy="228600"/>
          </a:xfrm>
          <a:prstGeom prst="rect">
            <a:avLst/>
          </a:prstGeom>
          <a:noFill/>
        </p:spPr>
        <p:txBody>
          <a:bodyPr wrap="square" lIns="0" rIns="0" tIns="0" bIns="0" anchor="ctr">
            <a:spAutoFit/>
          </a:bodyPr>
          <a:lstStyle/>
          <a:p>
            <a:pPr algn="l"/>
            <a:r>
              <a:rPr sz="1100" b="0">
                <a:solidFill>
                  <a:srgbClr val="626A7A"/>
                </a:solidFill>
                <a:latin typeface="Aptos"/>
              </a:rPr>
              <a:t>Relevant operation + models</a:t>
            </a:r>
          </a:p>
        </p:txBody>
      </p:sp>
      <p:sp>
        <p:nvSpPr>
          <p:cNvPr id="13" name="Rounded Rectangle 12"/>
          <p:cNvSpPr/>
          <p:nvPr/>
        </p:nvSpPr>
        <p:spPr>
          <a:xfrm>
            <a:off x="640080" y="3337560"/>
            <a:ext cx="3246120" cy="96012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3483864"/>
            <a:ext cx="2880360" cy="256032"/>
          </a:xfrm>
          <a:prstGeom prst="rect">
            <a:avLst/>
          </a:prstGeom>
          <a:noFill/>
        </p:spPr>
        <p:txBody>
          <a:bodyPr wrap="square" lIns="0" rIns="0" tIns="0" bIns="0" anchor="ctr">
            <a:spAutoFit/>
          </a:bodyPr>
          <a:lstStyle/>
          <a:p>
            <a:pPr algn="l"/>
            <a:r>
              <a:rPr sz="1500" b="1">
                <a:solidFill>
                  <a:srgbClr val="151A2D"/>
                </a:solidFill>
                <a:latin typeface="Aptos"/>
              </a:rPr>
              <a:t>Provider contract</a:t>
            </a:r>
          </a:p>
        </p:txBody>
      </p:sp>
      <p:sp>
        <p:nvSpPr>
          <p:cNvPr id="15" name="TextBox 14"/>
          <p:cNvSpPr txBox="1"/>
          <p:nvPr/>
        </p:nvSpPr>
        <p:spPr>
          <a:xfrm>
            <a:off x="804671" y="3822191"/>
            <a:ext cx="2880360" cy="228600"/>
          </a:xfrm>
          <a:prstGeom prst="rect">
            <a:avLst/>
          </a:prstGeom>
          <a:noFill/>
        </p:spPr>
        <p:txBody>
          <a:bodyPr wrap="square" lIns="0" rIns="0" tIns="0" bIns="0" anchor="ctr">
            <a:spAutoFit/>
          </a:bodyPr>
          <a:lstStyle/>
          <a:p>
            <a:pPr algn="l"/>
            <a:r>
              <a:rPr sz="1100" b="0">
                <a:solidFill>
                  <a:srgbClr val="626A7A"/>
                </a:solidFill>
                <a:latin typeface="Aptos"/>
              </a:rPr>
              <a:t>Only referenced endpoints</a:t>
            </a:r>
          </a:p>
        </p:txBody>
      </p:sp>
      <p:sp>
        <p:nvSpPr>
          <p:cNvPr id="16" name="Rounded Rectangle 15"/>
          <p:cNvSpPr/>
          <p:nvPr/>
        </p:nvSpPr>
        <p:spPr>
          <a:xfrm>
            <a:off x="4526280" y="4343400"/>
            <a:ext cx="3246120" cy="96012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90872" y="4489704"/>
            <a:ext cx="2880360" cy="256032"/>
          </a:xfrm>
          <a:prstGeom prst="rect">
            <a:avLst/>
          </a:prstGeom>
          <a:noFill/>
        </p:spPr>
        <p:txBody>
          <a:bodyPr wrap="square" lIns="0" rIns="0" tIns="0" bIns="0" anchor="ctr">
            <a:spAutoFit/>
          </a:bodyPr>
          <a:lstStyle/>
          <a:p>
            <a:pPr algn="l"/>
            <a:r>
              <a:rPr sz="1500" b="1">
                <a:solidFill>
                  <a:srgbClr val="151A2D"/>
                </a:solidFill>
                <a:latin typeface="Aptos"/>
              </a:rPr>
              <a:t>Approved mapping</a:t>
            </a:r>
          </a:p>
        </p:txBody>
      </p:sp>
      <p:sp>
        <p:nvSpPr>
          <p:cNvPr id="18" name="TextBox 17"/>
          <p:cNvSpPr txBox="1"/>
          <p:nvPr/>
        </p:nvSpPr>
        <p:spPr>
          <a:xfrm>
            <a:off x="4690872" y="4828032"/>
            <a:ext cx="2880360" cy="228600"/>
          </a:xfrm>
          <a:prstGeom prst="rect">
            <a:avLst/>
          </a:prstGeom>
          <a:noFill/>
        </p:spPr>
        <p:txBody>
          <a:bodyPr wrap="square" lIns="0" rIns="0" tIns="0" bIns="0" anchor="ctr">
            <a:spAutoFit/>
          </a:bodyPr>
          <a:lstStyle/>
          <a:p>
            <a:pPr algn="l"/>
            <a:r>
              <a:rPr sz="1100" b="0">
                <a:solidFill>
                  <a:srgbClr val="626A7A"/>
                </a:solidFill>
                <a:latin typeface="Aptos"/>
              </a:rPr>
              <a:t>Transformations + decisions</a:t>
            </a:r>
          </a:p>
        </p:txBody>
      </p:sp>
      <p:sp>
        <p:nvSpPr>
          <p:cNvPr id="19" name="Rounded Rectangle 18"/>
          <p:cNvSpPr/>
          <p:nvPr/>
        </p:nvSpPr>
        <p:spPr>
          <a:xfrm>
            <a:off x="8275320" y="3337560"/>
            <a:ext cx="3246120" cy="96012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39912" y="3483864"/>
            <a:ext cx="2880360" cy="256032"/>
          </a:xfrm>
          <a:prstGeom prst="rect">
            <a:avLst/>
          </a:prstGeom>
          <a:noFill/>
        </p:spPr>
        <p:txBody>
          <a:bodyPr wrap="square" lIns="0" rIns="0" tIns="0" bIns="0" anchor="ctr">
            <a:spAutoFit/>
          </a:bodyPr>
          <a:lstStyle/>
          <a:p>
            <a:pPr algn="l"/>
            <a:r>
              <a:rPr sz="1500" b="1">
                <a:solidFill>
                  <a:srgbClr val="151A2D"/>
                </a:solidFill>
                <a:latin typeface="Aptos"/>
              </a:rPr>
              <a:t>Engineering policy</a:t>
            </a:r>
          </a:p>
        </p:txBody>
      </p:sp>
      <p:sp>
        <p:nvSpPr>
          <p:cNvPr id="21" name="TextBox 20"/>
          <p:cNvSpPr txBox="1"/>
          <p:nvPr/>
        </p:nvSpPr>
        <p:spPr>
          <a:xfrm>
            <a:off x="8439912" y="3822191"/>
            <a:ext cx="2880360" cy="228600"/>
          </a:xfrm>
          <a:prstGeom prst="rect">
            <a:avLst/>
          </a:prstGeom>
          <a:noFill/>
        </p:spPr>
        <p:txBody>
          <a:bodyPr wrap="square" lIns="0" rIns="0" tIns="0" bIns="0" anchor="ctr">
            <a:spAutoFit/>
          </a:bodyPr>
          <a:lstStyle/>
          <a:p>
            <a:pPr algn="l"/>
            <a:r>
              <a:rPr sz="1100" b="0">
                <a:solidFill>
                  <a:srgbClr val="626A7A"/>
                </a:solidFill>
                <a:latin typeface="Aptos"/>
              </a:rPr>
              <a:t>Retries, errors, security</a:t>
            </a:r>
          </a:p>
        </p:txBody>
      </p:sp>
      <p:sp>
        <p:nvSpPr>
          <p:cNvPr id="22" name="Rounded Rectangle 21"/>
          <p:cNvSpPr/>
          <p:nvPr/>
        </p:nvSpPr>
        <p:spPr>
          <a:xfrm>
            <a:off x="8275320" y="1691640"/>
            <a:ext cx="3246120" cy="96012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9912" y="1837944"/>
            <a:ext cx="2880360" cy="256032"/>
          </a:xfrm>
          <a:prstGeom prst="rect">
            <a:avLst/>
          </a:prstGeom>
          <a:noFill/>
        </p:spPr>
        <p:txBody>
          <a:bodyPr wrap="square" lIns="0" rIns="0" tIns="0" bIns="0" anchor="ctr">
            <a:spAutoFit/>
          </a:bodyPr>
          <a:lstStyle/>
          <a:p>
            <a:pPr algn="l"/>
            <a:r>
              <a:rPr sz="1500" b="1">
                <a:solidFill>
                  <a:srgbClr val="151A2D"/>
                </a:solidFill>
                <a:latin typeface="Aptos"/>
              </a:rPr>
              <a:t>Known examples</a:t>
            </a:r>
          </a:p>
        </p:txBody>
      </p:sp>
      <p:sp>
        <p:nvSpPr>
          <p:cNvPr id="24" name="TextBox 23"/>
          <p:cNvSpPr txBox="1"/>
          <p:nvPr/>
        </p:nvSpPr>
        <p:spPr>
          <a:xfrm>
            <a:off x="8439912" y="2176272"/>
            <a:ext cx="2880360" cy="228600"/>
          </a:xfrm>
          <a:prstGeom prst="rect">
            <a:avLst/>
          </a:prstGeom>
          <a:noFill/>
        </p:spPr>
        <p:txBody>
          <a:bodyPr wrap="square" lIns="0" rIns="0" tIns="0" bIns="0" anchor="ctr">
            <a:spAutoFit/>
          </a:bodyPr>
          <a:lstStyle/>
          <a:p>
            <a:pPr algn="l"/>
            <a:r>
              <a:rPr sz="1100" b="0">
                <a:solidFill>
                  <a:srgbClr val="626A7A"/>
                </a:solidFill>
                <a:latin typeface="Aptos"/>
              </a:rPr>
              <a:t>A connector already built this way, so it copies our conventions</a:t>
            </a:r>
          </a:p>
        </p:txBody>
      </p:sp>
      <p:cxnSp>
        <p:nvCxnSpPr>
          <p:cNvPr id="25" name="Connector 24"/>
          <p:cNvCxnSpPr/>
          <p:nvPr/>
        </p:nvCxnSpPr>
        <p:spPr>
          <a:xfrm>
            <a:off x="3886200" y="2167128"/>
            <a:ext cx="685800" cy="850392"/>
          </a:xfrm>
          <a:prstGeom prst="line">
            <a:avLst/>
          </a:prstGeom>
          <a:ln w="19050">
            <a:solidFill>
              <a:srgbClr val="9B8C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886200" y="3017520"/>
            <a:ext cx="685800" cy="795528"/>
          </a:xfrm>
          <a:prstGeom prst="line">
            <a:avLst/>
          </a:prstGeom>
          <a:ln w="19050">
            <a:solidFill>
              <a:srgbClr val="9B8C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126480" y="3703320"/>
            <a:ext cx="0" cy="640080"/>
          </a:xfrm>
          <a:prstGeom prst="line">
            <a:avLst/>
          </a:prstGeom>
          <a:ln w="19050">
            <a:solidFill>
              <a:srgbClr val="9B8C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7589520" y="3017520"/>
            <a:ext cx="685800" cy="795528"/>
          </a:xfrm>
          <a:prstGeom prst="line">
            <a:avLst/>
          </a:prstGeom>
          <a:ln w="19050">
            <a:solidFill>
              <a:srgbClr val="9B8C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7589520" y="2167128"/>
            <a:ext cx="685800" cy="850392"/>
          </a:xfrm>
          <a:prstGeom prst="line">
            <a:avLst/>
          </a:prstGeom>
          <a:ln w="19050">
            <a:solidFill>
              <a:srgbClr val="9B8CF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325880" y="5879592"/>
            <a:ext cx="9555480" cy="320040"/>
          </a:xfrm>
          <a:prstGeom prst="rect">
            <a:avLst/>
          </a:prstGeom>
          <a:noFill/>
        </p:spPr>
        <p:txBody>
          <a:bodyPr wrap="square" lIns="0" rIns="0" tIns="0" bIns="0" anchor="ctr">
            <a:spAutoFit/>
          </a:bodyPr>
          <a:lstStyle/>
          <a:p>
            <a:pPr algn="ctr"/>
            <a:r>
              <a:rPr sz="1500" b="1">
                <a:solidFill>
                  <a:srgbClr val="E65C6A"/>
                </a:solidFill>
                <a:latin typeface="Aptos"/>
              </a:rPr>
              <a:t>Avoid sending the entire repository and a 1,000-page API spec for every operation.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09</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08 — QUALITY GATES</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Generated does not mean trusted</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A connector is complete only when objective gates pass.</a:t>
            </a:r>
          </a:p>
        </p:txBody>
      </p:sp>
      <p:sp>
        <p:nvSpPr>
          <p:cNvPr id="8" name="Rounded Rectangle 7"/>
          <p:cNvSpPr/>
          <p:nvPr/>
        </p:nvSpPr>
        <p:spPr>
          <a:xfrm>
            <a:off x="640080" y="1783080"/>
            <a:ext cx="3310128" cy="114300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2066543"/>
            <a:ext cx="438912" cy="438912"/>
          </a:xfrm>
          <a:prstGeom prst="ellipse">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057400"/>
            <a:ext cx="438912" cy="43891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11" name="TextBox 10"/>
          <p:cNvSpPr txBox="1"/>
          <p:nvPr/>
        </p:nvSpPr>
        <p:spPr>
          <a:xfrm>
            <a:off x="1444752" y="1965960"/>
            <a:ext cx="2194560" cy="228600"/>
          </a:xfrm>
          <a:prstGeom prst="rect">
            <a:avLst/>
          </a:prstGeom>
          <a:noFill/>
        </p:spPr>
        <p:txBody>
          <a:bodyPr wrap="square" lIns="0" rIns="0" tIns="0" bIns="0" anchor="ctr">
            <a:spAutoFit/>
          </a:bodyPr>
          <a:lstStyle/>
          <a:p>
            <a:pPr algn="l"/>
            <a:r>
              <a:rPr sz="1100" b="1">
                <a:solidFill>
                  <a:srgbClr val="6D5DFB"/>
                </a:solidFill>
                <a:latin typeface="Aptos"/>
              </a:rPr>
              <a:t>COMPILE</a:t>
            </a:r>
          </a:p>
        </p:txBody>
      </p:sp>
      <p:sp>
        <p:nvSpPr>
          <p:cNvPr id="12" name="TextBox 11"/>
          <p:cNvSpPr txBox="1"/>
          <p:nvPr/>
        </p:nvSpPr>
        <p:spPr>
          <a:xfrm>
            <a:off x="1444752" y="2267712"/>
            <a:ext cx="2240280" cy="393192"/>
          </a:xfrm>
          <a:prstGeom prst="rect">
            <a:avLst/>
          </a:prstGeom>
          <a:noFill/>
        </p:spPr>
        <p:txBody>
          <a:bodyPr wrap="square" lIns="0" rIns="0" tIns="0" bIns="0" anchor="ctr">
            <a:spAutoFit/>
          </a:bodyPr>
          <a:lstStyle/>
          <a:p>
            <a:pPr algn="l"/>
            <a:r>
              <a:rPr sz="1300" b="1">
                <a:solidFill>
                  <a:srgbClr val="151A2D"/>
                </a:solidFill>
                <a:latin typeface="Aptos"/>
              </a:rPr>
              <a:t>It builds; every operation is implemented</a:t>
            </a:r>
          </a:p>
        </p:txBody>
      </p:sp>
      <p:sp>
        <p:nvSpPr>
          <p:cNvPr id="13" name="Rounded Rectangle 12"/>
          <p:cNvSpPr/>
          <p:nvPr/>
        </p:nvSpPr>
        <p:spPr>
          <a:xfrm>
            <a:off x="4370832" y="1783080"/>
            <a:ext cx="3310128" cy="114300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3712" y="2066543"/>
            <a:ext cx="438912" cy="438912"/>
          </a:xfrm>
          <a:prstGeom prst="ellipse">
            <a:avLst/>
          </a:prstGeom>
          <a:solidFill>
            <a:srgbClr val="2CCCE4"/>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2057400"/>
            <a:ext cx="438912" cy="43891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16" name="TextBox 15"/>
          <p:cNvSpPr txBox="1"/>
          <p:nvPr/>
        </p:nvSpPr>
        <p:spPr>
          <a:xfrm>
            <a:off x="5175504" y="1965960"/>
            <a:ext cx="2194560" cy="228600"/>
          </a:xfrm>
          <a:prstGeom prst="rect">
            <a:avLst/>
          </a:prstGeom>
          <a:noFill/>
        </p:spPr>
        <p:txBody>
          <a:bodyPr wrap="square" lIns="0" rIns="0" tIns="0" bIns="0" anchor="ctr">
            <a:spAutoFit/>
          </a:bodyPr>
          <a:lstStyle/>
          <a:p>
            <a:pPr algn="l"/>
            <a:r>
              <a:rPr sz="1100" b="1">
                <a:solidFill>
                  <a:srgbClr val="2CCCE4"/>
                </a:solidFill>
                <a:latin typeface="Aptos"/>
              </a:rPr>
              <a:t>CONTRACT</a:t>
            </a:r>
          </a:p>
        </p:txBody>
      </p:sp>
      <p:sp>
        <p:nvSpPr>
          <p:cNvPr id="17" name="TextBox 16"/>
          <p:cNvSpPr txBox="1"/>
          <p:nvPr/>
        </p:nvSpPr>
        <p:spPr>
          <a:xfrm>
            <a:off x="5175504" y="2267712"/>
            <a:ext cx="2240280" cy="393192"/>
          </a:xfrm>
          <a:prstGeom prst="rect">
            <a:avLst/>
          </a:prstGeom>
          <a:noFill/>
        </p:spPr>
        <p:txBody>
          <a:bodyPr wrap="square" lIns="0" rIns="0" tIns="0" bIns="0" anchor="ctr">
            <a:spAutoFit/>
          </a:bodyPr>
          <a:lstStyle/>
          <a:p>
            <a:pPr algn="l"/>
            <a:r>
              <a:rPr sz="1300" b="1">
                <a:solidFill>
                  <a:srgbClr val="151A2D"/>
                </a:solidFill>
                <a:latin typeface="Aptos"/>
              </a:rPr>
              <a:t>Only endpoints the manifest allows</a:t>
            </a:r>
          </a:p>
        </p:txBody>
      </p:sp>
      <p:sp>
        <p:nvSpPr>
          <p:cNvPr id="18" name="Rounded Rectangle 17"/>
          <p:cNvSpPr/>
          <p:nvPr/>
        </p:nvSpPr>
        <p:spPr>
          <a:xfrm>
            <a:off x="8101583" y="1783080"/>
            <a:ext cx="3310128" cy="114300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84463" y="2066543"/>
            <a:ext cx="438912" cy="438912"/>
          </a:xfrm>
          <a:prstGeom prst="ellipse">
            <a:avLst/>
          </a:prstGeom>
          <a:solidFill>
            <a:srgbClr val="2DBE88"/>
          </a:solidFill>
          <a:ln>
            <a:solidFill>
              <a:srgbClr val="2DBE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4463" y="2057400"/>
            <a:ext cx="438912" cy="43891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21" name="TextBox 20"/>
          <p:cNvSpPr txBox="1"/>
          <p:nvPr/>
        </p:nvSpPr>
        <p:spPr>
          <a:xfrm>
            <a:off x="8906256" y="1965960"/>
            <a:ext cx="2194560" cy="228600"/>
          </a:xfrm>
          <a:prstGeom prst="rect">
            <a:avLst/>
          </a:prstGeom>
          <a:noFill/>
        </p:spPr>
        <p:txBody>
          <a:bodyPr wrap="square" lIns="0" rIns="0" tIns="0" bIns="0" anchor="ctr">
            <a:spAutoFit/>
          </a:bodyPr>
          <a:lstStyle/>
          <a:p>
            <a:pPr algn="l"/>
            <a:r>
              <a:rPr sz="1100" b="1">
                <a:solidFill>
                  <a:srgbClr val="2DBE88"/>
                </a:solidFill>
                <a:latin typeface="Aptos"/>
              </a:rPr>
              <a:t>BEHAVIOR</a:t>
            </a:r>
          </a:p>
        </p:txBody>
      </p:sp>
      <p:sp>
        <p:nvSpPr>
          <p:cNvPr id="22" name="TextBox 21"/>
          <p:cNvSpPr txBox="1"/>
          <p:nvPr/>
        </p:nvSpPr>
        <p:spPr>
          <a:xfrm>
            <a:off x="8906256" y="2267712"/>
            <a:ext cx="2240280" cy="393192"/>
          </a:xfrm>
          <a:prstGeom prst="rect">
            <a:avLst/>
          </a:prstGeom>
          <a:noFill/>
        </p:spPr>
        <p:txBody>
          <a:bodyPr wrap="square" lIns="0" rIns="0" tIns="0" bIns="0" anchor="ctr">
            <a:spAutoFit/>
          </a:bodyPr>
          <a:lstStyle/>
          <a:p>
            <a:pPr algn="l"/>
            <a:r>
              <a:rPr sz="1300" b="1">
                <a:solidFill>
                  <a:srgbClr val="151A2D"/>
                </a:solidFill>
                <a:latin typeface="Aptos"/>
              </a:rPr>
              <a:t>Every mapping, decision and odd value tested</a:t>
            </a:r>
          </a:p>
        </p:txBody>
      </p:sp>
      <p:sp>
        <p:nvSpPr>
          <p:cNvPr id="23" name="Rounded Rectangle 22"/>
          <p:cNvSpPr/>
          <p:nvPr/>
        </p:nvSpPr>
        <p:spPr>
          <a:xfrm>
            <a:off x="640080" y="3264408"/>
            <a:ext cx="3310128" cy="114300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59" y="3547872"/>
            <a:ext cx="438912" cy="438912"/>
          </a:xfrm>
          <a:prstGeom prst="ellipse">
            <a:avLst/>
          </a:prstGeom>
          <a:solidFill>
            <a:srgbClr val="F4B740"/>
          </a:solidFill>
          <a:ln>
            <a:solidFill>
              <a:srgbClr val="F4B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3538728"/>
            <a:ext cx="438912" cy="43891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26" name="TextBox 25"/>
          <p:cNvSpPr txBox="1"/>
          <p:nvPr/>
        </p:nvSpPr>
        <p:spPr>
          <a:xfrm>
            <a:off x="1444752" y="3447288"/>
            <a:ext cx="2194560" cy="228600"/>
          </a:xfrm>
          <a:prstGeom prst="rect">
            <a:avLst/>
          </a:prstGeom>
          <a:noFill/>
        </p:spPr>
        <p:txBody>
          <a:bodyPr wrap="square" lIns="0" rIns="0" tIns="0" bIns="0" anchor="ctr">
            <a:spAutoFit/>
          </a:bodyPr>
          <a:lstStyle/>
          <a:p>
            <a:pPr algn="l"/>
            <a:r>
              <a:rPr sz="1100" b="1">
                <a:solidFill>
                  <a:srgbClr val="F4B740"/>
                </a:solidFill>
                <a:latin typeface="Aptos"/>
              </a:rPr>
              <a:t>SECURITY</a:t>
            </a:r>
          </a:p>
        </p:txBody>
      </p:sp>
      <p:sp>
        <p:nvSpPr>
          <p:cNvPr id="27" name="TextBox 26"/>
          <p:cNvSpPr txBox="1"/>
          <p:nvPr/>
        </p:nvSpPr>
        <p:spPr>
          <a:xfrm>
            <a:off x="1444752" y="3749040"/>
            <a:ext cx="2240280" cy="393192"/>
          </a:xfrm>
          <a:prstGeom prst="rect">
            <a:avLst/>
          </a:prstGeom>
          <a:noFill/>
        </p:spPr>
        <p:txBody>
          <a:bodyPr wrap="square" lIns="0" rIns="0" tIns="0" bIns="0" anchor="ctr">
            <a:spAutoFit/>
          </a:bodyPr>
          <a:lstStyle/>
          <a:p>
            <a:pPr algn="l"/>
            <a:r>
              <a:rPr sz="1300" b="1">
                <a:solidFill>
                  <a:srgbClr val="151A2D"/>
                </a:solidFill>
                <a:latin typeface="Aptos"/>
              </a:rPr>
              <a:t>No secrets, no data in logs, no surprise packages</a:t>
            </a:r>
          </a:p>
        </p:txBody>
      </p:sp>
      <p:sp>
        <p:nvSpPr>
          <p:cNvPr id="28" name="Rounded Rectangle 27"/>
          <p:cNvSpPr/>
          <p:nvPr/>
        </p:nvSpPr>
        <p:spPr>
          <a:xfrm>
            <a:off x="4370832" y="3264408"/>
            <a:ext cx="3310128" cy="114300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53712" y="3547872"/>
            <a:ext cx="438912" cy="438912"/>
          </a:xfrm>
          <a:prstGeom prst="ellipse">
            <a:avLst/>
          </a:prstGeom>
          <a:solidFill>
            <a:srgbClr val="E65C6A"/>
          </a:solidFill>
          <a:ln>
            <a:solidFill>
              <a:srgbClr val="E65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53712" y="3538728"/>
            <a:ext cx="438912" cy="43891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31" name="TextBox 30"/>
          <p:cNvSpPr txBox="1"/>
          <p:nvPr/>
        </p:nvSpPr>
        <p:spPr>
          <a:xfrm>
            <a:off x="5175504" y="3447288"/>
            <a:ext cx="2194560" cy="228600"/>
          </a:xfrm>
          <a:prstGeom prst="rect">
            <a:avLst/>
          </a:prstGeom>
          <a:noFill/>
        </p:spPr>
        <p:txBody>
          <a:bodyPr wrap="square" lIns="0" rIns="0" tIns="0" bIns="0" anchor="ctr">
            <a:spAutoFit/>
          </a:bodyPr>
          <a:lstStyle/>
          <a:p>
            <a:pPr algn="l"/>
            <a:r>
              <a:rPr sz="1100" b="1">
                <a:solidFill>
                  <a:srgbClr val="E65C6A"/>
                </a:solidFill>
                <a:latin typeface="Aptos"/>
              </a:rPr>
              <a:t>SANDBOX</a:t>
            </a:r>
          </a:p>
        </p:txBody>
      </p:sp>
      <p:sp>
        <p:nvSpPr>
          <p:cNvPr id="32" name="TextBox 31"/>
          <p:cNvSpPr txBox="1"/>
          <p:nvPr/>
        </p:nvSpPr>
        <p:spPr>
          <a:xfrm>
            <a:off x="5175504" y="3749040"/>
            <a:ext cx="2240280" cy="393192"/>
          </a:xfrm>
          <a:prstGeom prst="rect">
            <a:avLst/>
          </a:prstGeom>
          <a:noFill/>
        </p:spPr>
        <p:txBody>
          <a:bodyPr wrap="square" lIns="0" rIns="0" tIns="0" bIns="0" anchor="ctr">
            <a:spAutoFit/>
          </a:bodyPr>
          <a:lstStyle/>
          <a:p>
            <a:pPr algn="l"/>
            <a:r>
              <a:rPr sz="1300" b="1">
                <a:solidFill>
                  <a:srgbClr val="151A2D"/>
                </a:solidFill>
                <a:latin typeface="Aptos"/>
              </a:rPr>
              <a:t>A real call to the provider works</a:t>
            </a:r>
          </a:p>
        </p:txBody>
      </p:sp>
      <p:sp>
        <p:nvSpPr>
          <p:cNvPr id="33" name="Rounded Rectangle 32"/>
          <p:cNvSpPr/>
          <p:nvPr/>
        </p:nvSpPr>
        <p:spPr>
          <a:xfrm>
            <a:off x="8101583" y="3264408"/>
            <a:ext cx="3310128" cy="114300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84463" y="3547872"/>
            <a:ext cx="438912" cy="438912"/>
          </a:xfrm>
          <a:prstGeom prst="ellipse">
            <a:avLst/>
          </a:prstGeom>
          <a:solidFill>
            <a:srgbClr val="151A2D"/>
          </a:solidFill>
          <a:ln>
            <a:solidFill>
              <a:srgbClr val="151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84463" y="3538728"/>
            <a:ext cx="438912" cy="438912"/>
          </a:xfrm>
          <a:prstGeom prst="rect">
            <a:avLst/>
          </a:prstGeom>
          <a:noFill/>
        </p:spPr>
        <p:txBody>
          <a:bodyPr wrap="square" lIns="0" rIns="0" tIns="0" bIns="0" anchor="ctr">
            <a:spAutoFit/>
          </a:bodyPr>
          <a:lstStyle/>
          <a:p>
            <a:pPr algn="ctr"/>
            <a:r>
              <a:rPr sz="1700" b="1">
                <a:solidFill>
                  <a:srgbClr val="FFFFFF"/>
                </a:solidFill>
                <a:latin typeface="Aptos"/>
              </a:rPr>
              <a:t>✓</a:t>
            </a:r>
          </a:p>
        </p:txBody>
      </p:sp>
      <p:sp>
        <p:nvSpPr>
          <p:cNvPr id="36" name="TextBox 35"/>
          <p:cNvSpPr txBox="1"/>
          <p:nvPr/>
        </p:nvSpPr>
        <p:spPr>
          <a:xfrm>
            <a:off x="8906256" y="3447288"/>
            <a:ext cx="2194560" cy="228600"/>
          </a:xfrm>
          <a:prstGeom prst="rect">
            <a:avLst/>
          </a:prstGeom>
          <a:noFill/>
        </p:spPr>
        <p:txBody>
          <a:bodyPr wrap="square" lIns="0" rIns="0" tIns="0" bIns="0" anchor="ctr">
            <a:spAutoFit/>
          </a:bodyPr>
          <a:lstStyle/>
          <a:p>
            <a:pPr algn="l"/>
            <a:r>
              <a:rPr sz="1100" b="1">
                <a:solidFill>
                  <a:srgbClr val="151A2D"/>
                </a:solidFill>
                <a:latin typeface="Aptos"/>
              </a:rPr>
              <a:t>APPROVAL</a:t>
            </a:r>
          </a:p>
        </p:txBody>
      </p:sp>
      <p:sp>
        <p:nvSpPr>
          <p:cNvPr id="37" name="TextBox 36"/>
          <p:cNvSpPr txBox="1"/>
          <p:nvPr/>
        </p:nvSpPr>
        <p:spPr>
          <a:xfrm>
            <a:off x="8906256" y="3749040"/>
            <a:ext cx="2240280" cy="393192"/>
          </a:xfrm>
          <a:prstGeom prst="rect">
            <a:avLst/>
          </a:prstGeom>
          <a:noFill/>
        </p:spPr>
        <p:txBody>
          <a:bodyPr wrap="square" lIns="0" rIns="0" tIns="0" bIns="0" anchor="ctr">
            <a:spAutoFit/>
          </a:bodyPr>
          <a:lstStyle/>
          <a:p>
            <a:pPr algn="l"/>
            <a:r>
              <a:rPr sz="1300" b="1">
                <a:solidFill>
                  <a:srgbClr val="151A2D"/>
                </a:solidFill>
                <a:latin typeface="Aptos"/>
              </a:rPr>
              <a:t>A person signed off on uncertain fields</a:t>
            </a:r>
          </a:p>
        </p:txBody>
      </p:sp>
      <p:sp>
        <p:nvSpPr>
          <p:cNvPr id="38" name="Rounded Rectangle 37"/>
          <p:cNvSpPr/>
          <p:nvPr/>
        </p:nvSpPr>
        <p:spPr>
          <a:xfrm>
            <a:off x="640080" y="5010912"/>
            <a:ext cx="10771632" cy="713232"/>
          </a:xfrm>
          <a:prstGeom prst="roundRect">
            <a:avLst/>
          </a:prstGeom>
          <a:solidFill>
            <a:srgbClr val="FFF3DB"/>
          </a:solidFill>
          <a:ln>
            <a:solidFill>
              <a:srgbClr val="F2D4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5230368"/>
            <a:ext cx="1417320" cy="228600"/>
          </a:xfrm>
          <a:prstGeom prst="rect">
            <a:avLst/>
          </a:prstGeom>
          <a:noFill/>
        </p:spPr>
        <p:txBody>
          <a:bodyPr wrap="square" lIns="0" rIns="0" tIns="0" bIns="0" anchor="ctr">
            <a:spAutoFit/>
          </a:bodyPr>
          <a:lstStyle/>
          <a:p>
            <a:pPr algn="l"/>
            <a:r>
              <a:rPr sz="1000" b="1">
                <a:solidFill>
                  <a:srgbClr val="B56C00"/>
                </a:solidFill>
                <a:latin typeface="Aptos"/>
              </a:rPr>
              <a:t>RELEASE POLICY</a:t>
            </a:r>
          </a:p>
        </p:txBody>
      </p:sp>
      <p:sp>
        <p:nvSpPr>
          <p:cNvPr id="40" name="TextBox 39"/>
          <p:cNvSpPr txBox="1"/>
          <p:nvPr/>
        </p:nvSpPr>
        <p:spPr>
          <a:xfrm>
            <a:off x="2331720" y="5148072"/>
            <a:ext cx="8641080" cy="365760"/>
          </a:xfrm>
          <a:prstGeom prst="rect">
            <a:avLst/>
          </a:prstGeom>
          <a:noFill/>
        </p:spPr>
        <p:txBody>
          <a:bodyPr wrap="square" lIns="0" rIns="0" tIns="0" bIns="0" anchor="ctr">
            <a:spAutoFit/>
          </a:bodyPr>
          <a:lstStyle/>
          <a:p>
            <a:pPr algn="l"/>
            <a:r>
              <a:rPr sz="1500" b="1">
                <a:solidFill>
                  <a:srgbClr val="151A2D"/>
                </a:solidFill>
                <a:latin typeface="Aptos"/>
              </a:rPr>
              <a:t>No TODO(ai) left • no call outside the manifest • no unapproved low-confidence mapping — validate blocks the release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10</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09 — WHAT THIS GIVES US</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What this gives us</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In plain terms: what changes for clients and for us when connectors come from a factory.</a:t>
            </a:r>
          </a:p>
        </p:txBody>
      </p:sp>
      <p:sp>
        <p:nvSpPr>
          <p:cNvPr id="8" name="Rounded Rectangle 7"/>
          <p:cNvSpPr/>
          <p:nvPr/>
        </p:nvSpPr>
        <p:spPr>
          <a:xfrm>
            <a:off x="713232" y="1737360"/>
            <a:ext cx="10698480" cy="822960"/>
          </a:xfrm>
          <a:prstGeom prst="roundRect">
            <a:avLst/>
          </a:prstGeom>
          <a:solidFill>
            <a:srgbClr val="E7F8F3"/>
          </a:solidFill>
          <a:ln>
            <a:solidFill>
              <a:srgbClr val="E7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911095"/>
            <a:ext cx="1874519" cy="228600"/>
          </a:xfrm>
          <a:prstGeom prst="rect">
            <a:avLst/>
          </a:prstGeom>
          <a:noFill/>
        </p:spPr>
        <p:txBody>
          <a:bodyPr wrap="square" lIns="0" rIns="0" tIns="0" bIns="0" anchor="ctr">
            <a:spAutoFit/>
          </a:bodyPr>
          <a:lstStyle/>
          <a:p>
            <a:pPr algn="l"/>
            <a:r>
              <a:rPr sz="1000" b="1">
                <a:solidFill>
                  <a:srgbClr val="2DBE88"/>
                </a:solidFill>
                <a:latin typeface="Aptos"/>
              </a:rPr>
              <a:t>CLIENT VALUE</a:t>
            </a:r>
          </a:p>
        </p:txBody>
      </p:sp>
      <p:sp>
        <p:nvSpPr>
          <p:cNvPr id="10" name="TextBox 9"/>
          <p:cNvSpPr txBox="1"/>
          <p:nvPr/>
        </p:nvSpPr>
        <p:spPr>
          <a:xfrm>
            <a:off x="2953512" y="1847088"/>
            <a:ext cx="8183879" cy="475488"/>
          </a:xfrm>
          <a:prstGeom prst="rect">
            <a:avLst/>
          </a:prstGeom>
          <a:noFill/>
        </p:spPr>
        <p:txBody>
          <a:bodyPr wrap="square" lIns="0" rIns="0" tIns="0" bIns="0" anchor="ctr">
            <a:spAutoFit/>
          </a:bodyPr>
          <a:lstStyle/>
          <a:p>
            <a:pPr algn="l"/>
            <a:r>
              <a:rPr sz="1600" b="1">
                <a:solidFill>
                  <a:srgbClr val="151A2D"/>
                </a:solidFill>
                <a:latin typeface="Aptos"/>
              </a:rPr>
              <a:t>More integrations delivered per quarter, with predictable quality</a:t>
            </a:r>
          </a:p>
        </p:txBody>
      </p:sp>
      <p:sp>
        <p:nvSpPr>
          <p:cNvPr id="11" name="Rounded Rectangle 10"/>
          <p:cNvSpPr/>
          <p:nvPr/>
        </p:nvSpPr>
        <p:spPr>
          <a:xfrm>
            <a:off x="1097280" y="2724912"/>
            <a:ext cx="9930384" cy="822960"/>
          </a:xfrm>
          <a:prstGeom prst="roundRect">
            <a:avLst/>
          </a:prstGeom>
          <a:solidFill>
            <a:srgbClr val="E9F8FB"/>
          </a:solidFill>
          <a:ln>
            <a:solidFill>
              <a:srgbClr val="E9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2898648"/>
            <a:ext cx="1874519" cy="228600"/>
          </a:xfrm>
          <a:prstGeom prst="rect">
            <a:avLst/>
          </a:prstGeom>
          <a:noFill/>
        </p:spPr>
        <p:txBody>
          <a:bodyPr wrap="square" lIns="0" rIns="0" tIns="0" bIns="0" anchor="ctr">
            <a:spAutoFit/>
          </a:bodyPr>
          <a:lstStyle/>
          <a:p>
            <a:pPr algn="l"/>
            <a:r>
              <a:rPr sz="1000" b="1">
                <a:solidFill>
                  <a:srgbClr val="2CCCE4"/>
                </a:solidFill>
                <a:latin typeface="Aptos"/>
              </a:rPr>
              <a:t>DELIVERY PRACTICE</a:t>
            </a:r>
          </a:p>
        </p:txBody>
      </p:sp>
      <p:sp>
        <p:nvSpPr>
          <p:cNvPr id="13" name="TextBox 12"/>
          <p:cNvSpPr txBox="1"/>
          <p:nvPr/>
        </p:nvSpPr>
        <p:spPr>
          <a:xfrm>
            <a:off x="3337560" y="2834640"/>
            <a:ext cx="7415783" cy="475488"/>
          </a:xfrm>
          <a:prstGeom prst="rect">
            <a:avLst/>
          </a:prstGeom>
          <a:noFill/>
        </p:spPr>
        <p:txBody>
          <a:bodyPr wrap="square" lIns="0" rIns="0" tIns="0" bIns="0" anchor="ctr">
            <a:spAutoFit/>
          </a:bodyPr>
          <a:lstStyle/>
          <a:p>
            <a:pPr algn="l"/>
            <a:r>
              <a:rPr sz="1600" b="1">
                <a:solidFill>
                  <a:srgbClr val="151A2D"/>
                </a:solidFill>
                <a:latin typeface="Aptos"/>
              </a:rPr>
              <a:t>Senior engineers spend their time on decisions, not on plumbing</a:t>
            </a:r>
          </a:p>
        </p:txBody>
      </p:sp>
      <p:sp>
        <p:nvSpPr>
          <p:cNvPr id="14" name="Rounded Rectangle 13"/>
          <p:cNvSpPr/>
          <p:nvPr/>
        </p:nvSpPr>
        <p:spPr>
          <a:xfrm>
            <a:off x="1481328" y="3712464"/>
            <a:ext cx="9162288" cy="822960"/>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09928" y="3886200"/>
            <a:ext cx="1874519" cy="228600"/>
          </a:xfrm>
          <a:prstGeom prst="rect">
            <a:avLst/>
          </a:prstGeom>
          <a:noFill/>
        </p:spPr>
        <p:txBody>
          <a:bodyPr wrap="square" lIns="0" rIns="0" tIns="0" bIns="0" anchor="ctr">
            <a:spAutoFit/>
          </a:bodyPr>
          <a:lstStyle/>
          <a:p>
            <a:pPr algn="l"/>
            <a:r>
              <a:rPr sz="1000" b="1">
                <a:solidFill>
                  <a:srgbClr val="6D5DFB"/>
                </a:solidFill>
                <a:latin typeface="Aptos"/>
              </a:rPr>
              <a:t>AI WORKFLOW</a:t>
            </a:r>
          </a:p>
        </p:txBody>
      </p:sp>
      <p:sp>
        <p:nvSpPr>
          <p:cNvPr id="16" name="TextBox 15"/>
          <p:cNvSpPr txBox="1"/>
          <p:nvPr/>
        </p:nvSpPr>
        <p:spPr>
          <a:xfrm>
            <a:off x="3721608" y="3822192"/>
            <a:ext cx="6647688" cy="475488"/>
          </a:xfrm>
          <a:prstGeom prst="rect">
            <a:avLst/>
          </a:prstGeom>
          <a:noFill/>
        </p:spPr>
        <p:txBody>
          <a:bodyPr wrap="square" lIns="0" rIns="0" tIns="0" bIns="0" anchor="ctr">
            <a:spAutoFit/>
          </a:bodyPr>
          <a:lstStyle/>
          <a:p>
            <a:pPr algn="l"/>
            <a:r>
              <a:rPr sz="1600" b="1">
                <a:solidFill>
                  <a:srgbClr val="151A2D"/>
                </a:solidFill>
                <a:latin typeface="Aptos"/>
              </a:rPr>
              <a:t>The AI gets the same bounded brief every time, so output stops depending on who ran it</a:t>
            </a:r>
          </a:p>
        </p:txBody>
      </p:sp>
      <p:sp>
        <p:nvSpPr>
          <p:cNvPr id="17" name="Rounded Rectangle 16"/>
          <p:cNvSpPr/>
          <p:nvPr/>
        </p:nvSpPr>
        <p:spPr>
          <a:xfrm>
            <a:off x="1865376" y="4700016"/>
            <a:ext cx="8394192" cy="822960"/>
          </a:xfrm>
          <a:prstGeom prst="roundRect">
            <a:avLst/>
          </a:prstGeom>
          <a:solidFill>
            <a:srgbClr val="F4F5F8"/>
          </a:solidFill>
          <a:ln>
            <a:solidFill>
              <a:srgbClr val="F4F5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93976" y="4873752"/>
            <a:ext cx="1874519" cy="228600"/>
          </a:xfrm>
          <a:prstGeom prst="rect">
            <a:avLst/>
          </a:prstGeom>
          <a:noFill/>
        </p:spPr>
        <p:txBody>
          <a:bodyPr wrap="square" lIns="0" rIns="0" tIns="0" bIns="0" anchor="ctr">
            <a:spAutoFit/>
          </a:bodyPr>
          <a:lstStyle/>
          <a:p>
            <a:pPr algn="l"/>
            <a:r>
              <a:rPr sz="1000" b="1">
                <a:solidFill>
                  <a:srgbClr val="151A2D"/>
                </a:solidFill>
                <a:latin typeface="Aptos"/>
              </a:rPr>
              <a:t>ENGINEERING PLATFORM</a:t>
            </a:r>
          </a:p>
        </p:txBody>
      </p:sp>
      <p:sp>
        <p:nvSpPr>
          <p:cNvPr id="19" name="TextBox 18"/>
          <p:cNvSpPr txBox="1"/>
          <p:nvPr/>
        </p:nvSpPr>
        <p:spPr>
          <a:xfrm>
            <a:off x="4105656" y="4809744"/>
            <a:ext cx="5879592" cy="475488"/>
          </a:xfrm>
          <a:prstGeom prst="rect">
            <a:avLst/>
          </a:prstGeom>
          <a:noFill/>
        </p:spPr>
        <p:txBody>
          <a:bodyPr wrap="square" lIns="0" rIns="0" tIns="0" bIns="0" anchor="ctr">
            <a:spAutoFit/>
          </a:bodyPr>
          <a:lstStyle/>
          <a:p>
            <a:pPr algn="l"/>
            <a:r>
              <a:rPr sz="1600" b="1">
                <a:solidFill>
                  <a:srgbClr val="151A2D"/>
                </a:solidFill>
                <a:latin typeface="Aptos"/>
              </a:rPr>
              <a:t>The CLI, templates, policy and gates are reused on every engagement</a:t>
            </a:r>
          </a:p>
        </p:txBody>
      </p:sp>
      <p:sp>
        <p:nvSpPr>
          <p:cNvPr id="20" name="Rounded Rectangle 19"/>
          <p:cNvSpPr/>
          <p:nvPr/>
        </p:nvSpPr>
        <p:spPr>
          <a:xfrm>
            <a:off x="1417320" y="5742432"/>
            <a:ext cx="475488" cy="292608"/>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72184" y="5760720"/>
            <a:ext cx="365760" cy="246888"/>
          </a:xfrm>
          <a:prstGeom prst="rect">
            <a:avLst/>
          </a:prstGeom>
          <a:noFill/>
        </p:spPr>
        <p:txBody>
          <a:bodyPr wrap="square" lIns="0" rIns="0" tIns="0" bIns="0" anchor="ctr">
            <a:spAutoFit/>
          </a:bodyPr>
          <a:lstStyle/>
          <a:p>
            <a:pPr algn="ctr"/>
            <a:r>
              <a:rPr sz="900" b="1">
                <a:solidFill>
                  <a:srgbClr val="FFFFFF"/>
                </a:solidFill>
                <a:latin typeface="Aptos"/>
              </a:rPr>
              <a:t>01</a:t>
            </a:r>
          </a:p>
        </p:txBody>
      </p:sp>
      <p:sp>
        <p:nvSpPr>
          <p:cNvPr id="22" name="TextBox 21"/>
          <p:cNvSpPr txBox="1"/>
          <p:nvPr/>
        </p:nvSpPr>
        <p:spPr>
          <a:xfrm>
            <a:off x="1993392" y="5733288"/>
            <a:ext cx="1554480" cy="292608"/>
          </a:xfrm>
          <a:prstGeom prst="rect">
            <a:avLst/>
          </a:prstGeom>
          <a:noFill/>
        </p:spPr>
        <p:txBody>
          <a:bodyPr wrap="square" lIns="0" rIns="0" tIns="0" bIns="0" anchor="ctr">
            <a:spAutoFit/>
          </a:bodyPr>
          <a:lstStyle/>
          <a:p>
            <a:pPr algn="l"/>
            <a:r>
              <a:rPr sz="1200" b="1">
                <a:solidFill>
                  <a:srgbClr val="626A7A"/>
                </a:solidFill>
                <a:latin typeface="Aptos"/>
              </a:rPr>
              <a:t>Architecture</a:t>
            </a:r>
          </a:p>
        </p:txBody>
      </p:sp>
      <p:sp>
        <p:nvSpPr>
          <p:cNvPr id="23" name="Rounded Rectangle 22"/>
          <p:cNvSpPr/>
          <p:nvPr/>
        </p:nvSpPr>
        <p:spPr>
          <a:xfrm>
            <a:off x="3904488" y="5742432"/>
            <a:ext cx="475488" cy="292608"/>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59352" y="5760720"/>
            <a:ext cx="365760" cy="246888"/>
          </a:xfrm>
          <a:prstGeom prst="rect">
            <a:avLst/>
          </a:prstGeom>
          <a:noFill/>
        </p:spPr>
        <p:txBody>
          <a:bodyPr wrap="square" lIns="0" rIns="0" tIns="0" bIns="0" anchor="ctr">
            <a:spAutoFit/>
          </a:bodyPr>
          <a:lstStyle/>
          <a:p>
            <a:pPr algn="ctr"/>
            <a:r>
              <a:rPr sz="900" b="1">
                <a:solidFill>
                  <a:srgbClr val="FFFFFF"/>
                </a:solidFill>
                <a:latin typeface="Aptos"/>
              </a:rPr>
              <a:t>02</a:t>
            </a:r>
          </a:p>
        </p:txBody>
      </p:sp>
      <p:sp>
        <p:nvSpPr>
          <p:cNvPr id="25" name="TextBox 24"/>
          <p:cNvSpPr txBox="1"/>
          <p:nvPr/>
        </p:nvSpPr>
        <p:spPr>
          <a:xfrm>
            <a:off x="4480560" y="5733288"/>
            <a:ext cx="1554480" cy="292608"/>
          </a:xfrm>
          <a:prstGeom prst="rect">
            <a:avLst/>
          </a:prstGeom>
          <a:noFill/>
        </p:spPr>
        <p:txBody>
          <a:bodyPr wrap="square" lIns="0" rIns="0" tIns="0" bIns="0" anchor="ctr">
            <a:spAutoFit/>
          </a:bodyPr>
          <a:lstStyle/>
          <a:p>
            <a:pPr algn="l"/>
            <a:r>
              <a:rPr sz="1200" b="1">
                <a:solidFill>
                  <a:srgbClr val="626A7A"/>
                </a:solidFill>
                <a:latin typeface="Aptos"/>
              </a:rPr>
              <a:t>Acceleration</a:t>
            </a:r>
          </a:p>
        </p:txBody>
      </p:sp>
      <p:sp>
        <p:nvSpPr>
          <p:cNvPr id="26" name="Rounded Rectangle 25"/>
          <p:cNvSpPr/>
          <p:nvPr/>
        </p:nvSpPr>
        <p:spPr>
          <a:xfrm>
            <a:off x="6391656" y="5742432"/>
            <a:ext cx="475488" cy="292608"/>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5760720"/>
            <a:ext cx="365760" cy="246888"/>
          </a:xfrm>
          <a:prstGeom prst="rect">
            <a:avLst/>
          </a:prstGeom>
          <a:noFill/>
        </p:spPr>
        <p:txBody>
          <a:bodyPr wrap="square" lIns="0" rIns="0" tIns="0" bIns="0" anchor="ctr">
            <a:spAutoFit/>
          </a:bodyPr>
          <a:lstStyle/>
          <a:p>
            <a:pPr algn="ctr"/>
            <a:r>
              <a:rPr sz="900" b="1">
                <a:solidFill>
                  <a:srgbClr val="FFFFFF"/>
                </a:solidFill>
                <a:latin typeface="Aptos"/>
              </a:rPr>
              <a:t>03</a:t>
            </a:r>
          </a:p>
        </p:txBody>
      </p:sp>
      <p:sp>
        <p:nvSpPr>
          <p:cNvPr id="28" name="TextBox 27"/>
          <p:cNvSpPr txBox="1"/>
          <p:nvPr/>
        </p:nvSpPr>
        <p:spPr>
          <a:xfrm>
            <a:off x="6967728" y="5733288"/>
            <a:ext cx="1554480" cy="292608"/>
          </a:xfrm>
          <a:prstGeom prst="rect">
            <a:avLst/>
          </a:prstGeom>
          <a:noFill/>
        </p:spPr>
        <p:txBody>
          <a:bodyPr wrap="square" lIns="0" rIns="0" tIns="0" bIns="0" anchor="ctr">
            <a:spAutoFit/>
          </a:bodyPr>
          <a:lstStyle/>
          <a:p>
            <a:pPr algn="l"/>
            <a:r>
              <a:rPr sz="1200" b="1">
                <a:solidFill>
                  <a:srgbClr val="626A7A"/>
                </a:solidFill>
                <a:latin typeface="Aptos"/>
              </a:rPr>
              <a:t>Governance</a:t>
            </a:r>
          </a:p>
        </p:txBody>
      </p:sp>
      <p:sp>
        <p:nvSpPr>
          <p:cNvPr id="29" name="Rounded Rectangle 28"/>
          <p:cNvSpPr/>
          <p:nvPr/>
        </p:nvSpPr>
        <p:spPr>
          <a:xfrm>
            <a:off x="8878824" y="5742432"/>
            <a:ext cx="475488" cy="292608"/>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33688" y="5760720"/>
            <a:ext cx="365760" cy="246888"/>
          </a:xfrm>
          <a:prstGeom prst="rect">
            <a:avLst/>
          </a:prstGeom>
          <a:noFill/>
        </p:spPr>
        <p:txBody>
          <a:bodyPr wrap="square" lIns="0" rIns="0" tIns="0" bIns="0" anchor="ctr">
            <a:spAutoFit/>
          </a:bodyPr>
          <a:lstStyle/>
          <a:p>
            <a:pPr algn="ctr"/>
            <a:r>
              <a:rPr sz="900" b="1">
                <a:solidFill>
                  <a:srgbClr val="FFFFFF"/>
                </a:solidFill>
                <a:latin typeface="Aptos"/>
              </a:rPr>
              <a:t>04</a:t>
            </a:r>
          </a:p>
        </p:txBody>
      </p:sp>
      <p:sp>
        <p:nvSpPr>
          <p:cNvPr id="31" name="TextBox 30"/>
          <p:cNvSpPr txBox="1"/>
          <p:nvPr/>
        </p:nvSpPr>
        <p:spPr>
          <a:xfrm>
            <a:off x="9454896" y="5733288"/>
            <a:ext cx="1554480" cy="292608"/>
          </a:xfrm>
          <a:prstGeom prst="rect">
            <a:avLst/>
          </a:prstGeom>
          <a:noFill/>
        </p:spPr>
        <p:txBody>
          <a:bodyPr wrap="square" lIns="0" rIns="0" tIns="0" bIns="0" anchor="ctr">
            <a:spAutoFit/>
          </a:bodyPr>
          <a:lstStyle/>
          <a:p>
            <a:pPr algn="l"/>
            <a:r>
              <a:rPr sz="1200" b="1">
                <a:solidFill>
                  <a:srgbClr val="626A7A"/>
                </a:solidFill>
                <a:latin typeface="Aptos"/>
              </a:rPr>
              <a:t>Maintenance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11</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10 — PILOT PLAN</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If you want to try this, pick one connector</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Start small, with sandbox access, so the results are real.</a:t>
            </a:r>
          </a:p>
        </p:txBody>
      </p:sp>
      <p:sp>
        <p:nvSpPr>
          <p:cNvPr id="8" name="Rounded Rectangle 7"/>
          <p:cNvSpPr/>
          <p:nvPr/>
        </p:nvSpPr>
        <p:spPr>
          <a:xfrm>
            <a:off x="685800" y="1755648"/>
            <a:ext cx="384048" cy="292608"/>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773936"/>
            <a:ext cx="274320" cy="246888"/>
          </a:xfrm>
          <a:prstGeom prst="rect">
            <a:avLst/>
          </a:prstGeom>
          <a:noFill/>
        </p:spPr>
        <p:txBody>
          <a:bodyPr wrap="square" lIns="0" rIns="0" tIns="0" bIns="0" anchor="ctr">
            <a:spAutoFit/>
          </a:bodyPr>
          <a:lstStyle/>
          <a:p>
            <a:pPr algn="ctr"/>
            <a:r>
              <a:rPr sz="900" b="1">
                <a:solidFill>
                  <a:srgbClr val="2DBE88"/>
                </a:solidFill>
                <a:latin typeface="Aptos"/>
              </a:rPr>
              <a:t>✓</a:t>
            </a:r>
          </a:p>
        </p:txBody>
      </p:sp>
      <p:sp>
        <p:nvSpPr>
          <p:cNvPr id="10" name="TextBox 9"/>
          <p:cNvSpPr txBox="1"/>
          <p:nvPr/>
        </p:nvSpPr>
        <p:spPr>
          <a:xfrm>
            <a:off x="1207008" y="1746504"/>
            <a:ext cx="3154680" cy="320040"/>
          </a:xfrm>
          <a:prstGeom prst="rect">
            <a:avLst/>
          </a:prstGeom>
          <a:noFill/>
        </p:spPr>
        <p:txBody>
          <a:bodyPr wrap="square" lIns="0" rIns="0" tIns="0" bIns="0" anchor="ctr">
            <a:spAutoFit/>
          </a:bodyPr>
          <a:lstStyle/>
          <a:p>
            <a:pPr algn="l"/>
            <a:r>
              <a:rPr sz="1400" b="1">
                <a:solidFill>
                  <a:srgbClr val="151A2D"/>
                </a:solidFill>
                <a:latin typeface="Aptos"/>
              </a:rPr>
              <a:t>Good provider documentation</a:t>
            </a:r>
          </a:p>
        </p:txBody>
      </p:sp>
      <p:sp>
        <p:nvSpPr>
          <p:cNvPr id="11" name="Rounded Rectangle 10"/>
          <p:cNvSpPr/>
          <p:nvPr/>
        </p:nvSpPr>
        <p:spPr>
          <a:xfrm>
            <a:off x="685800" y="2276856"/>
            <a:ext cx="384048" cy="292608"/>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295144"/>
            <a:ext cx="274320" cy="246888"/>
          </a:xfrm>
          <a:prstGeom prst="rect">
            <a:avLst/>
          </a:prstGeom>
          <a:noFill/>
        </p:spPr>
        <p:txBody>
          <a:bodyPr wrap="square" lIns="0" rIns="0" tIns="0" bIns="0" anchor="ctr">
            <a:spAutoFit/>
          </a:bodyPr>
          <a:lstStyle/>
          <a:p>
            <a:pPr algn="ctr"/>
            <a:r>
              <a:rPr sz="900" b="1">
                <a:solidFill>
                  <a:srgbClr val="2DBE88"/>
                </a:solidFill>
                <a:latin typeface="Aptos"/>
              </a:rPr>
              <a:t>✓</a:t>
            </a:r>
          </a:p>
        </p:txBody>
      </p:sp>
      <p:sp>
        <p:nvSpPr>
          <p:cNvPr id="13" name="TextBox 12"/>
          <p:cNvSpPr txBox="1"/>
          <p:nvPr/>
        </p:nvSpPr>
        <p:spPr>
          <a:xfrm>
            <a:off x="1207008" y="2267712"/>
            <a:ext cx="3154680" cy="320040"/>
          </a:xfrm>
          <a:prstGeom prst="rect">
            <a:avLst/>
          </a:prstGeom>
          <a:noFill/>
        </p:spPr>
        <p:txBody>
          <a:bodyPr wrap="square" lIns="0" rIns="0" tIns="0" bIns="0" anchor="ctr">
            <a:spAutoFit/>
          </a:bodyPr>
          <a:lstStyle/>
          <a:p>
            <a:pPr algn="l"/>
            <a:r>
              <a:rPr sz="1400" b="1">
                <a:solidFill>
                  <a:srgbClr val="151A2D"/>
                </a:solidFill>
                <a:latin typeface="Aptos"/>
              </a:rPr>
              <a:t>Sandbox access</a:t>
            </a:r>
          </a:p>
        </p:txBody>
      </p:sp>
      <p:sp>
        <p:nvSpPr>
          <p:cNvPr id="14" name="Rounded Rectangle 13"/>
          <p:cNvSpPr/>
          <p:nvPr/>
        </p:nvSpPr>
        <p:spPr>
          <a:xfrm>
            <a:off x="685800" y="2798063"/>
            <a:ext cx="384048" cy="292608"/>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2816351"/>
            <a:ext cx="274320" cy="246888"/>
          </a:xfrm>
          <a:prstGeom prst="rect">
            <a:avLst/>
          </a:prstGeom>
          <a:noFill/>
        </p:spPr>
        <p:txBody>
          <a:bodyPr wrap="square" lIns="0" rIns="0" tIns="0" bIns="0" anchor="ctr">
            <a:spAutoFit/>
          </a:bodyPr>
          <a:lstStyle/>
          <a:p>
            <a:pPr algn="ctr"/>
            <a:r>
              <a:rPr sz="900" b="1">
                <a:solidFill>
                  <a:srgbClr val="2DBE88"/>
                </a:solidFill>
                <a:latin typeface="Aptos"/>
              </a:rPr>
              <a:t>✓</a:t>
            </a:r>
          </a:p>
        </p:txBody>
      </p:sp>
      <p:sp>
        <p:nvSpPr>
          <p:cNvPr id="16" name="TextBox 15"/>
          <p:cNvSpPr txBox="1"/>
          <p:nvPr/>
        </p:nvSpPr>
        <p:spPr>
          <a:xfrm>
            <a:off x="1207008" y="2788920"/>
            <a:ext cx="3154680" cy="320040"/>
          </a:xfrm>
          <a:prstGeom prst="rect">
            <a:avLst/>
          </a:prstGeom>
          <a:noFill/>
        </p:spPr>
        <p:txBody>
          <a:bodyPr wrap="square" lIns="0" rIns="0" tIns="0" bIns="0" anchor="ctr">
            <a:spAutoFit/>
          </a:bodyPr>
          <a:lstStyle/>
          <a:p>
            <a:pPr algn="l"/>
            <a:r>
              <a:rPr sz="1400" b="1">
                <a:solidFill>
                  <a:srgbClr val="151A2D"/>
                </a:solidFill>
                <a:latin typeface="Aptos"/>
              </a:rPr>
              <a:t>3–5 representative operations</a:t>
            </a:r>
          </a:p>
        </p:txBody>
      </p:sp>
      <p:sp>
        <p:nvSpPr>
          <p:cNvPr id="17" name="Rounded Rectangle 16"/>
          <p:cNvSpPr/>
          <p:nvPr/>
        </p:nvSpPr>
        <p:spPr>
          <a:xfrm>
            <a:off x="685800" y="3319272"/>
            <a:ext cx="384048" cy="292608"/>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337560"/>
            <a:ext cx="274320" cy="246888"/>
          </a:xfrm>
          <a:prstGeom prst="rect">
            <a:avLst/>
          </a:prstGeom>
          <a:noFill/>
        </p:spPr>
        <p:txBody>
          <a:bodyPr wrap="square" lIns="0" rIns="0" tIns="0" bIns="0" anchor="ctr">
            <a:spAutoFit/>
          </a:bodyPr>
          <a:lstStyle/>
          <a:p>
            <a:pPr algn="ctr"/>
            <a:r>
              <a:rPr sz="900" b="1">
                <a:solidFill>
                  <a:srgbClr val="2DBE88"/>
                </a:solidFill>
                <a:latin typeface="Aptos"/>
              </a:rPr>
              <a:t>✓</a:t>
            </a:r>
          </a:p>
        </p:txBody>
      </p:sp>
      <p:sp>
        <p:nvSpPr>
          <p:cNvPr id="19" name="TextBox 18"/>
          <p:cNvSpPr txBox="1"/>
          <p:nvPr/>
        </p:nvSpPr>
        <p:spPr>
          <a:xfrm>
            <a:off x="1207008" y="3310128"/>
            <a:ext cx="3154680" cy="320040"/>
          </a:xfrm>
          <a:prstGeom prst="rect">
            <a:avLst/>
          </a:prstGeom>
          <a:noFill/>
        </p:spPr>
        <p:txBody>
          <a:bodyPr wrap="square" lIns="0" rIns="0" tIns="0" bIns="0" anchor="ctr">
            <a:spAutoFit/>
          </a:bodyPr>
          <a:lstStyle/>
          <a:p>
            <a:pPr algn="l"/>
            <a:r>
              <a:rPr sz="1400" b="1">
                <a:solidFill>
                  <a:srgbClr val="151A2D"/>
                </a:solidFill>
                <a:latin typeface="Aptos"/>
              </a:rPr>
              <a:t>Moderate mapping complexity</a:t>
            </a:r>
          </a:p>
        </p:txBody>
      </p:sp>
      <p:sp>
        <p:nvSpPr>
          <p:cNvPr id="20" name="Rounded Rectangle 19"/>
          <p:cNvSpPr/>
          <p:nvPr/>
        </p:nvSpPr>
        <p:spPr>
          <a:xfrm>
            <a:off x="4572000" y="1664208"/>
            <a:ext cx="6903720" cy="278892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1938528"/>
            <a:ext cx="1234440" cy="228600"/>
          </a:xfrm>
          <a:prstGeom prst="rect">
            <a:avLst/>
          </a:prstGeom>
          <a:noFill/>
        </p:spPr>
        <p:txBody>
          <a:bodyPr wrap="square" lIns="0" rIns="0" tIns="0" bIns="0" anchor="ctr">
            <a:spAutoFit/>
          </a:bodyPr>
          <a:lstStyle/>
          <a:p>
            <a:pPr algn="l"/>
            <a:r>
              <a:rPr sz="1000" b="1">
                <a:solidFill>
                  <a:srgbClr val="6D5DFB"/>
                </a:solidFill>
                <a:latin typeface="Aptos"/>
              </a:rPr>
              <a:t>MEASURE</a:t>
            </a:r>
          </a:p>
        </p:txBody>
      </p:sp>
      <p:sp>
        <p:nvSpPr>
          <p:cNvPr id="22" name="TextBox 21"/>
          <p:cNvSpPr txBox="1"/>
          <p:nvPr/>
        </p:nvSpPr>
        <p:spPr>
          <a:xfrm>
            <a:off x="4846320" y="2331720"/>
            <a:ext cx="3154680" cy="246888"/>
          </a:xfrm>
          <a:prstGeom prst="rect">
            <a:avLst/>
          </a:prstGeom>
          <a:noFill/>
        </p:spPr>
        <p:txBody>
          <a:bodyPr wrap="square" lIns="0" rIns="0" tIns="0" bIns="0" anchor="ctr">
            <a:spAutoFit/>
          </a:bodyPr>
          <a:lstStyle/>
          <a:p>
            <a:pPr algn="l"/>
            <a:r>
              <a:rPr sz="1200" b="1">
                <a:solidFill>
                  <a:srgbClr val="151A2D"/>
                </a:solidFill>
                <a:latin typeface="Aptos"/>
              </a:rPr>
              <a:t>Time to first working call</a:t>
            </a:r>
          </a:p>
        </p:txBody>
      </p:sp>
      <p:sp>
        <p:nvSpPr>
          <p:cNvPr id="23" name="TextBox 22"/>
          <p:cNvSpPr txBox="1"/>
          <p:nvPr/>
        </p:nvSpPr>
        <p:spPr>
          <a:xfrm>
            <a:off x="8595360" y="2331720"/>
            <a:ext cx="2331720" cy="246888"/>
          </a:xfrm>
          <a:prstGeom prst="rect">
            <a:avLst/>
          </a:prstGeom>
          <a:noFill/>
        </p:spPr>
        <p:txBody>
          <a:bodyPr wrap="square" lIns="0" rIns="0" tIns="0" bIns="0" anchor="ctr">
            <a:spAutoFit/>
          </a:bodyPr>
          <a:lstStyle/>
          <a:p>
            <a:pPr algn="r"/>
            <a:r>
              <a:rPr sz="1100" b="0">
                <a:solidFill>
                  <a:srgbClr val="626A7A"/>
                </a:solidFill>
                <a:latin typeface="Aptos"/>
              </a:rPr>
              <a:t>hours</a:t>
            </a:r>
          </a:p>
        </p:txBody>
      </p:sp>
      <p:cxnSp>
        <p:nvCxnSpPr>
          <p:cNvPr id="24" name="Connector 23"/>
          <p:cNvCxnSpPr/>
          <p:nvPr/>
        </p:nvCxnSpPr>
        <p:spPr>
          <a:xfrm>
            <a:off x="4846320" y="2615184"/>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846320" y="2715768"/>
            <a:ext cx="3154680" cy="246888"/>
          </a:xfrm>
          <a:prstGeom prst="rect">
            <a:avLst/>
          </a:prstGeom>
          <a:noFill/>
        </p:spPr>
        <p:txBody>
          <a:bodyPr wrap="square" lIns="0" rIns="0" tIns="0" bIns="0" anchor="ctr">
            <a:spAutoFit/>
          </a:bodyPr>
          <a:lstStyle/>
          <a:p>
            <a:pPr algn="l"/>
            <a:r>
              <a:rPr sz="1200" b="1">
                <a:solidFill>
                  <a:srgbClr val="151A2D"/>
                </a:solidFill>
                <a:latin typeface="Aptos"/>
              </a:rPr>
              <a:t>Hours spent</a:t>
            </a:r>
          </a:p>
        </p:txBody>
      </p:sp>
      <p:sp>
        <p:nvSpPr>
          <p:cNvPr id="26" name="TextBox 25"/>
          <p:cNvSpPr txBox="1"/>
          <p:nvPr/>
        </p:nvSpPr>
        <p:spPr>
          <a:xfrm>
            <a:off x="8595360" y="2715768"/>
            <a:ext cx="2331720" cy="246888"/>
          </a:xfrm>
          <a:prstGeom prst="rect">
            <a:avLst/>
          </a:prstGeom>
          <a:noFill/>
        </p:spPr>
        <p:txBody>
          <a:bodyPr wrap="square" lIns="0" rIns="0" tIns="0" bIns="0" anchor="ctr">
            <a:spAutoFit/>
          </a:bodyPr>
          <a:lstStyle/>
          <a:p>
            <a:pPr algn="r"/>
            <a:r>
              <a:rPr sz="1100" b="0">
                <a:solidFill>
                  <a:srgbClr val="626A7A"/>
                </a:solidFill>
                <a:latin typeface="Aptos"/>
              </a:rPr>
              <a:t>engineer-hours</a:t>
            </a:r>
          </a:p>
        </p:txBody>
      </p:sp>
      <p:cxnSp>
        <p:nvCxnSpPr>
          <p:cNvPr id="27" name="Connector 26"/>
          <p:cNvCxnSpPr/>
          <p:nvPr/>
        </p:nvCxnSpPr>
        <p:spPr>
          <a:xfrm>
            <a:off x="4846320" y="2999232"/>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846320" y="3099815"/>
            <a:ext cx="3154680" cy="246888"/>
          </a:xfrm>
          <a:prstGeom prst="rect">
            <a:avLst/>
          </a:prstGeom>
          <a:noFill/>
        </p:spPr>
        <p:txBody>
          <a:bodyPr wrap="square" lIns="0" rIns="0" tIns="0" bIns="0" anchor="ctr">
            <a:spAutoFit/>
          </a:bodyPr>
          <a:lstStyle/>
          <a:p>
            <a:pPr algn="l"/>
            <a:r>
              <a:rPr sz="1200" b="0">
                <a:solidFill>
                  <a:srgbClr val="151A2D"/>
                </a:solidFill>
                <a:latin typeface="Aptos"/>
              </a:rPr>
              <a:t>AI code that survived review</a:t>
            </a:r>
          </a:p>
        </p:txBody>
      </p:sp>
      <p:sp>
        <p:nvSpPr>
          <p:cNvPr id="29" name="TextBox 28"/>
          <p:cNvSpPr txBox="1"/>
          <p:nvPr/>
        </p:nvSpPr>
        <p:spPr>
          <a:xfrm>
            <a:off x="8595360" y="3099815"/>
            <a:ext cx="2331720" cy="246888"/>
          </a:xfrm>
          <a:prstGeom prst="rect">
            <a:avLst/>
          </a:prstGeom>
          <a:noFill/>
        </p:spPr>
        <p:txBody>
          <a:bodyPr wrap="square" lIns="0" rIns="0" tIns="0" bIns="0" anchor="ctr">
            <a:spAutoFit/>
          </a:bodyPr>
          <a:lstStyle/>
          <a:p>
            <a:pPr algn="r"/>
            <a:r>
              <a:rPr sz="1100" b="0">
                <a:solidFill>
                  <a:srgbClr val="626A7A"/>
                </a:solidFill>
                <a:latin typeface="Aptos"/>
              </a:rPr>
              <a:t>%</a:t>
            </a:r>
          </a:p>
        </p:txBody>
      </p:sp>
      <p:cxnSp>
        <p:nvCxnSpPr>
          <p:cNvPr id="30" name="Connector 29"/>
          <p:cNvCxnSpPr/>
          <p:nvPr/>
        </p:nvCxnSpPr>
        <p:spPr>
          <a:xfrm>
            <a:off x="4846320" y="3383279"/>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846320" y="3483863"/>
            <a:ext cx="3154680" cy="246888"/>
          </a:xfrm>
          <a:prstGeom prst="rect">
            <a:avLst/>
          </a:prstGeom>
          <a:noFill/>
        </p:spPr>
        <p:txBody>
          <a:bodyPr wrap="square" lIns="0" rIns="0" tIns="0" bIns="0" anchor="ctr">
            <a:spAutoFit/>
          </a:bodyPr>
          <a:lstStyle/>
          <a:p>
            <a:pPr algn="l"/>
            <a:r>
              <a:rPr sz="1200" b="0">
                <a:solidFill>
                  <a:srgbClr val="151A2D"/>
                </a:solidFill>
                <a:latin typeface="Aptos"/>
              </a:rPr>
              <a:t>Bugs found afterwards</a:t>
            </a:r>
          </a:p>
        </p:txBody>
      </p:sp>
      <p:sp>
        <p:nvSpPr>
          <p:cNvPr id="32" name="TextBox 31"/>
          <p:cNvSpPr txBox="1"/>
          <p:nvPr/>
        </p:nvSpPr>
        <p:spPr>
          <a:xfrm>
            <a:off x="8595360" y="3483863"/>
            <a:ext cx="2331720" cy="246888"/>
          </a:xfrm>
          <a:prstGeom prst="rect">
            <a:avLst/>
          </a:prstGeom>
          <a:noFill/>
        </p:spPr>
        <p:txBody>
          <a:bodyPr wrap="square" lIns="0" rIns="0" tIns="0" bIns="0" anchor="ctr">
            <a:spAutoFit/>
          </a:bodyPr>
          <a:lstStyle/>
          <a:p>
            <a:pPr algn="r"/>
            <a:r>
              <a:rPr sz="1100" b="0">
                <a:solidFill>
                  <a:srgbClr val="626A7A"/>
                </a:solidFill>
                <a:latin typeface="Aptos"/>
              </a:rPr>
              <a:t>count</a:t>
            </a:r>
          </a:p>
        </p:txBody>
      </p:sp>
      <p:cxnSp>
        <p:nvCxnSpPr>
          <p:cNvPr id="33" name="Connector 32"/>
          <p:cNvCxnSpPr/>
          <p:nvPr/>
        </p:nvCxnSpPr>
        <p:spPr>
          <a:xfrm>
            <a:off x="4846320" y="3767327"/>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846320" y="3867911"/>
            <a:ext cx="3154680" cy="246888"/>
          </a:xfrm>
          <a:prstGeom prst="rect">
            <a:avLst/>
          </a:prstGeom>
          <a:noFill/>
        </p:spPr>
        <p:txBody>
          <a:bodyPr wrap="square" lIns="0" rIns="0" tIns="0" bIns="0" anchor="ctr">
            <a:spAutoFit/>
          </a:bodyPr>
          <a:lstStyle/>
          <a:p>
            <a:pPr algn="l"/>
            <a:r>
              <a:rPr sz="1200" b="0">
                <a:solidFill>
                  <a:srgbClr val="151A2D"/>
                </a:solidFill>
                <a:latin typeface="Aptos"/>
              </a:rPr>
              <a:t>Time to assess a vendor change</a:t>
            </a:r>
          </a:p>
        </p:txBody>
      </p:sp>
      <p:sp>
        <p:nvSpPr>
          <p:cNvPr id="35" name="TextBox 34"/>
          <p:cNvSpPr txBox="1"/>
          <p:nvPr/>
        </p:nvSpPr>
        <p:spPr>
          <a:xfrm>
            <a:off x="8595360" y="3867911"/>
            <a:ext cx="2331720" cy="246888"/>
          </a:xfrm>
          <a:prstGeom prst="rect">
            <a:avLst/>
          </a:prstGeom>
          <a:noFill/>
        </p:spPr>
        <p:txBody>
          <a:bodyPr wrap="square" lIns="0" rIns="0" tIns="0" bIns="0" anchor="ctr">
            <a:spAutoFit/>
          </a:bodyPr>
          <a:lstStyle/>
          <a:p>
            <a:pPr algn="r"/>
            <a:r>
              <a:rPr sz="1100" b="0">
                <a:solidFill>
                  <a:srgbClr val="626A7A"/>
                </a:solidFill>
                <a:latin typeface="Aptos"/>
              </a:rPr>
              <a:t>hours</a:t>
            </a:r>
          </a:p>
        </p:txBody>
      </p:sp>
      <p:cxnSp>
        <p:nvCxnSpPr>
          <p:cNvPr id="36" name="Connector 35"/>
          <p:cNvCxnSpPr/>
          <p:nvPr/>
        </p:nvCxnSpPr>
        <p:spPr>
          <a:xfrm>
            <a:off x="4846320" y="4151375"/>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85800" y="4800600"/>
            <a:ext cx="10789920" cy="86868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074920"/>
            <a:ext cx="1508760" cy="228600"/>
          </a:xfrm>
          <a:prstGeom prst="rect">
            <a:avLst/>
          </a:prstGeom>
          <a:noFill/>
        </p:spPr>
        <p:txBody>
          <a:bodyPr wrap="square" lIns="0" rIns="0" tIns="0" bIns="0" anchor="ctr">
            <a:spAutoFit/>
          </a:bodyPr>
          <a:lstStyle/>
          <a:p>
            <a:pPr algn="l"/>
            <a:r>
              <a:rPr sz="1000" b="1">
                <a:solidFill>
                  <a:srgbClr val="2CCCE4"/>
                </a:solidFill>
                <a:latin typeface="Aptos"/>
              </a:rPr>
              <a:t>SUCCESS SIGNAL</a:t>
            </a:r>
          </a:p>
        </p:txBody>
      </p:sp>
      <p:sp>
        <p:nvSpPr>
          <p:cNvPr id="39" name="TextBox 38"/>
          <p:cNvSpPr txBox="1"/>
          <p:nvPr/>
        </p:nvSpPr>
        <p:spPr>
          <a:xfrm>
            <a:off x="2560320" y="4946904"/>
            <a:ext cx="8412480" cy="420624"/>
          </a:xfrm>
          <a:prstGeom prst="rect">
            <a:avLst/>
          </a:prstGeom>
          <a:noFill/>
        </p:spPr>
        <p:txBody>
          <a:bodyPr wrap="square" lIns="0" rIns="0" tIns="0" bIns="0" anchor="ctr">
            <a:spAutoFit/>
          </a:bodyPr>
          <a:lstStyle/>
          <a:p>
            <a:pPr algn="l"/>
            <a:r>
              <a:rPr sz="1700" b="1">
                <a:solidFill>
                  <a:srgbClr val="FFFFFF"/>
                </a:solidFill>
                <a:latin typeface="Aptos"/>
              </a:rPr>
              <a:t>Faster, without lower test coverage or more bugs.</a:t>
            </a:r>
          </a:p>
        </p:txBody>
      </p:sp>
      <p:sp>
        <p:nvSpPr>
          <p:cNvPr id="40" name="TextBox 39"/>
          <p:cNvSpPr txBox="1"/>
          <p:nvPr/>
        </p:nvSpPr>
        <p:spPr>
          <a:xfrm>
            <a:off x="685800" y="5925312"/>
            <a:ext cx="10789920" cy="320040"/>
          </a:xfrm>
          <a:prstGeom prst="rect">
            <a:avLst/>
          </a:prstGeom>
          <a:noFill/>
        </p:spPr>
        <p:txBody>
          <a:bodyPr wrap="square" lIns="0" rIns="0" tIns="0" bIns="0" anchor="ctr">
            <a:spAutoFit/>
          </a:bodyPr>
          <a:lstStyle/>
          <a:p>
            <a:pPr algn="ctr"/>
            <a:r>
              <a:rPr sz="1200" b="0">
                <a:solidFill>
                  <a:srgbClr val="626A7A"/>
                </a:solidFill>
                <a:latin typeface="Aptos"/>
              </a:rPr>
              <a:t>Two weeks on one connector is enough to know whether it pays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12</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11 — LIVE DEMO</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One SWAPI connector, end to end</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No auth, so it is good for a demo — and full of numbers stored as strings, years with letters, and URLs where you expect ids.</a:t>
            </a:r>
          </a:p>
        </p:txBody>
      </p:sp>
      <p:sp>
        <p:nvSpPr>
          <p:cNvPr id="8" name="Rounded Rectangle 7"/>
          <p:cNvSpPr/>
          <p:nvPr/>
        </p:nvSpPr>
        <p:spPr>
          <a:xfrm>
            <a:off x="685800" y="1755648"/>
            <a:ext cx="384048" cy="292608"/>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773936"/>
            <a:ext cx="274320" cy="246888"/>
          </a:xfrm>
          <a:prstGeom prst="rect">
            <a:avLst/>
          </a:prstGeom>
          <a:noFill/>
        </p:spPr>
        <p:txBody>
          <a:bodyPr wrap="square" lIns="0" rIns="0" tIns="0" bIns="0" anchor="ctr">
            <a:spAutoFit/>
          </a:bodyPr>
          <a:lstStyle/>
          <a:p>
            <a:pPr algn="ctr"/>
            <a:r>
              <a:rPr sz="900" b="1">
                <a:solidFill>
                  <a:srgbClr val="2DBE88"/>
                </a:solidFill>
                <a:latin typeface="Aptos"/>
              </a:rPr>
              <a:t>✓</a:t>
            </a:r>
          </a:p>
        </p:txBody>
      </p:sp>
      <p:sp>
        <p:nvSpPr>
          <p:cNvPr id="10" name="TextBox 9"/>
          <p:cNvSpPr txBox="1"/>
          <p:nvPr/>
        </p:nvSpPr>
        <p:spPr>
          <a:xfrm>
            <a:off x="1207008" y="1746504"/>
            <a:ext cx="3154680" cy="320040"/>
          </a:xfrm>
          <a:prstGeom prst="rect">
            <a:avLst/>
          </a:prstGeom>
          <a:noFill/>
        </p:spPr>
        <p:txBody>
          <a:bodyPr wrap="square" lIns="0" rIns="0" tIns="0" bIns="0" anchor="ctr">
            <a:spAutoFit/>
          </a:bodyPr>
          <a:lstStyle/>
          <a:p>
            <a:pPr algn="l"/>
            <a:r>
              <a:rPr sz="1400" b="1">
                <a:solidFill>
                  <a:srgbClr val="151A2D"/>
                </a:solidFill>
                <a:latin typeface="Aptos"/>
              </a:rPr>
              <a:t>ONE PROMPT: @orchestrator drives</a:t>
            </a:r>
          </a:p>
        </p:txBody>
      </p:sp>
      <p:sp>
        <p:nvSpPr>
          <p:cNvPr id="11" name="Rounded Rectangle 10"/>
          <p:cNvSpPr/>
          <p:nvPr/>
        </p:nvSpPr>
        <p:spPr>
          <a:xfrm>
            <a:off x="685800" y="2276856"/>
            <a:ext cx="384048" cy="292608"/>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295144"/>
            <a:ext cx="274320" cy="246888"/>
          </a:xfrm>
          <a:prstGeom prst="rect">
            <a:avLst/>
          </a:prstGeom>
          <a:noFill/>
        </p:spPr>
        <p:txBody>
          <a:bodyPr wrap="square" lIns="0" rIns="0" tIns="0" bIns="0" anchor="ctr">
            <a:spAutoFit/>
          </a:bodyPr>
          <a:lstStyle/>
          <a:p>
            <a:pPr algn="ctr"/>
            <a:r>
              <a:rPr sz="900" b="1">
                <a:solidFill>
                  <a:srgbClr val="2DBE88"/>
                </a:solidFill>
                <a:latin typeface="Aptos"/>
              </a:rPr>
              <a:t>✓</a:t>
            </a:r>
          </a:p>
        </p:txBody>
      </p:sp>
      <p:sp>
        <p:nvSpPr>
          <p:cNvPr id="13" name="TextBox 12"/>
          <p:cNvSpPr txBox="1"/>
          <p:nvPr/>
        </p:nvSpPr>
        <p:spPr>
          <a:xfrm>
            <a:off x="1207008" y="2267712"/>
            <a:ext cx="3154680" cy="320040"/>
          </a:xfrm>
          <a:prstGeom prst="rect">
            <a:avLst/>
          </a:prstGeom>
          <a:noFill/>
        </p:spPr>
        <p:txBody>
          <a:bodyPr wrap="square" lIns="0" rIns="0" tIns="0" bIns="0" anchor="ctr">
            <a:spAutoFit/>
          </a:bodyPr>
          <a:lstStyle/>
          <a:p>
            <a:pPr algn="l"/>
            <a:r>
              <a:rPr sz="1400" b="1">
                <a:solidFill>
                  <a:srgbClr val="151A2D"/>
                </a:solidFill>
                <a:latin typeface="Aptos"/>
              </a:rPr>
              <a:t>MAP: agent proposes, then it STOPS</a:t>
            </a:r>
          </a:p>
        </p:txBody>
      </p:sp>
      <p:sp>
        <p:nvSpPr>
          <p:cNvPr id="14" name="Rounded Rectangle 13"/>
          <p:cNvSpPr/>
          <p:nvPr/>
        </p:nvSpPr>
        <p:spPr>
          <a:xfrm>
            <a:off x="685800" y="2798063"/>
            <a:ext cx="384048" cy="292608"/>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2816351"/>
            <a:ext cx="274320" cy="246888"/>
          </a:xfrm>
          <a:prstGeom prst="rect">
            <a:avLst/>
          </a:prstGeom>
          <a:noFill/>
        </p:spPr>
        <p:txBody>
          <a:bodyPr wrap="square" lIns="0" rIns="0" tIns="0" bIns="0" anchor="ctr">
            <a:spAutoFit/>
          </a:bodyPr>
          <a:lstStyle/>
          <a:p>
            <a:pPr algn="ctr"/>
            <a:r>
              <a:rPr sz="900" b="1">
                <a:solidFill>
                  <a:srgbClr val="2DBE88"/>
                </a:solidFill>
                <a:latin typeface="Aptos"/>
              </a:rPr>
              <a:t>✓</a:t>
            </a:r>
          </a:p>
        </p:txBody>
      </p:sp>
      <p:sp>
        <p:nvSpPr>
          <p:cNvPr id="16" name="TextBox 15"/>
          <p:cNvSpPr txBox="1"/>
          <p:nvPr/>
        </p:nvSpPr>
        <p:spPr>
          <a:xfrm>
            <a:off x="1207008" y="2788920"/>
            <a:ext cx="3154680" cy="320040"/>
          </a:xfrm>
          <a:prstGeom prst="rect">
            <a:avLst/>
          </a:prstGeom>
          <a:noFill/>
        </p:spPr>
        <p:txBody>
          <a:bodyPr wrap="square" lIns="0" rIns="0" tIns="0" bIns="0" anchor="ctr">
            <a:spAutoFit/>
          </a:bodyPr>
          <a:lstStyle/>
          <a:p>
            <a:pPr algn="l"/>
            <a:r>
              <a:rPr sz="1400" b="1">
                <a:solidFill>
                  <a:srgbClr val="151A2D"/>
                </a:solidFill>
                <a:latin typeface="Aptos"/>
              </a:rPr>
              <a:t>GATE: the room decides, AI records it</a:t>
            </a:r>
          </a:p>
        </p:txBody>
      </p:sp>
      <p:sp>
        <p:nvSpPr>
          <p:cNvPr id="17" name="Rounded Rectangle 16"/>
          <p:cNvSpPr/>
          <p:nvPr/>
        </p:nvSpPr>
        <p:spPr>
          <a:xfrm>
            <a:off x="685800" y="3319272"/>
            <a:ext cx="384048" cy="292608"/>
          </a:xfrm>
          <a:prstGeom prst="roundRect">
            <a:avLst/>
          </a:prstGeom>
          <a:solidFill>
            <a:srgbClr val="E6F7F1"/>
          </a:solidFill>
          <a:ln>
            <a:solidFill>
              <a:srgbClr val="E6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337560"/>
            <a:ext cx="274320" cy="246888"/>
          </a:xfrm>
          <a:prstGeom prst="rect">
            <a:avLst/>
          </a:prstGeom>
          <a:noFill/>
        </p:spPr>
        <p:txBody>
          <a:bodyPr wrap="square" lIns="0" rIns="0" tIns="0" bIns="0" anchor="ctr">
            <a:spAutoFit/>
          </a:bodyPr>
          <a:lstStyle/>
          <a:p>
            <a:pPr algn="ctr"/>
            <a:r>
              <a:rPr sz="900" b="1">
                <a:solidFill>
                  <a:srgbClr val="2DBE88"/>
                </a:solidFill>
                <a:latin typeface="Aptos"/>
              </a:rPr>
              <a:t>✓</a:t>
            </a:r>
          </a:p>
        </p:txBody>
      </p:sp>
      <p:sp>
        <p:nvSpPr>
          <p:cNvPr id="19" name="TextBox 18"/>
          <p:cNvSpPr txBox="1"/>
          <p:nvPr/>
        </p:nvSpPr>
        <p:spPr>
          <a:xfrm>
            <a:off x="1207008" y="3310128"/>
            <a:ext cx="3154680" cy="320040"/>
          </a:xfrm>
          <a:prstGeom prst="rect">
            <a:avLst/>
          </a:prstGeom>
          <a:noFill/>
        </p:spPr>
        <p:txBody>
          <a:bodyPr wrap="square" lIns="0" rIns="0" tIns="0" bIns="0" anchor="ctr">
            <a:spAutoFit/>
          </a:bodyPr>
          <a:lstStyle/>
          <a:p>
            <a:pPr algn="l"/>
            <a:r>
              <a:rPr sz="1400" b="1">
                <a:solidFill>
                  <a:srgbClr val="151A2D"/>
                </a:solidFill>
                <a:latin typeface="Aptos"/>
              </a:rPr>
              <a:t>IMPLEMENT + VALIDATE: agents, 7 gates</a:t>
            </a:r>
          </a:p>
        </p:txBody>
      </p:sp>
      <p:sp>
        <p:nvSpPr>
          <p:cNvPr id="20" name="Rounded Rectangle 19"/>
          <p:cNvSpPr/>
          <p:nvPr/>
        </p:nvSpPr>
        <p:spPr>
          <a:xfrm>
            <a:off x="4572000" y="1664208"/>
            <a:ext cx="6903720" cy="2788920"/>
          </a:xfrm>
          <a:prstGeom prst="roundRect">
            <a:avLst/>
          </a:prstGeom>
          <a:solidFill>
            <a:srgbClr val="FFFFFF"/>
          </a:solidFill>
          <a:ln>
            <a:solidFill>
              <a:srgbClr val="DD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1938528"/>
            <a:ext cx="1234440" cy="228600"/>
          </a:xfrm>
          <a:prstGeom prst="rect">
            <a:avLst/>
          </a:prstGeom>
          <a:noFill/>
        </p:spPr>
        <p:txBody>
          <a:bodyPr wrap="square" lIns="0" rIns="0" tIns="0" bIns="0" anchor="ctr">
            <a:spAutoFit/>
          </a:bodyPr>
          <a:lstStyle/>
          <a:p>
            <a:pPr algn="l"/>
            <a:r>
              <a:rPr sz="1000" b="1">
                <a:solidFill>
                  <a:srgbClr val="6D5DFB"/>
                </a:solidFill>
                <a:latin typeface="Aptos"/>
              </a:rPr>
              <a:t>WHAT TO WATCH</a:t>
            </a:r>
          </a:p>
        </p:txBody>
      </p:sp>
      <p:sp>
        <p:nvSpPr>
          <p:cNvPr id="22" name="TextBox 21"/>
          <p:cNvSpPr txBox="1"/>
          <p:nvPr/>
        </p:nvSpPr>
        <p:spPr>
          <a:xfrm>
            <a:off x="4846320" y="2331720"/>
            <a:ext cx="3154680" cy="246888"/>
          </a:xfrm>
          <a:prstGeom prst="rect">
            <a:avLst/>
          </a:prstGeom>
          <a:noFill/>
        </p:spPr>
        <p:txBody>
          <a:bodyPr wrap="square" lIns="0" rIns="0" tIns="0" bIns="0" anchor="ctr">
            <a:spAutoFit/>
          </a:bodyPr>
          <a:lstStyle/>
          <a:p>
            <a:pPr algn="l"/>
            <a:r>
              <a:rPr sz="1200" b="1">
                <a:solidFill>
                  <a:srgbClr val="151A2D"/>
                </a:solidFill>
                <a:latin typeface="Aptos"/>
              </a:rPr>
              <a:t>Brief the model receives</a:t>
            </a:r>
          </a:p>
        </p:txBody>
      </p:sp>
      <p:sp>
        <p:nvSpPr>
          <p:cNvPr id="23" name="TextBox 22"/>
          <p:cNvSpPr txBox="1"/>
          <p:nvPr/>
        </p:nvSpPr>
        <p:spPr>
          <a:xfrm>
            <a:off x="8595360" y="2331720"/>
            <a:ext cx="2331720" cy="246888"/>
          </a:xfrm>
          <a:prstGeom prst="rect">
            <a:avLst/>
          </a:prstGeom>
          <a:noFill/>
        </p:spPr>
        <p:txBody>
          <a:bodyPr wrap="square" lIns="0" rIns="0" tIns="0" bIns="0" anchor="ctr">
            <a:spAutoFit/>
          </a:bodyPr>
          <a:lstStyle/>
          <a:p>
            <a:pPr algn="r"/>
            <a:r>
              <a:rPr sz="1100" b="0">
                <a:solidFill>
                  <a:srgbClr val="626A7A"/>
                </a:solidFill>
                <a:latin typeface="Aptos"/>
              </a:rPr>
              <a:t>~3.5k vs ~16k tokens</a:t>
            </a:r>
          </a:p>
        </p:txBody>
      </p:sp>
      <p:cxnSp>
        <p:nvCxnSpPr>
          <p:cNvPr id="24" name="Connector 23"/>
          <p:cNvCxnSpPr/>
          <p:nvPr/>
        </p:nvCxnSpPr>
        <p:spPr>
          <a:xfrm>
            <a:off x="4846320" y="2615184"/>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846320" y="2715768"/>
            <a:ext cx="3154680" cy="246888"/>
          </a:xfrm>
          <a:prstGeom prst="rect">
            <a:avLst/>
          </a:prstGeom>
          <a:noFill/>
        </p:spPr>
        <p:txBody>
          <a:bodyPr wrap="square" lIns="0" rIns="0" tIns="0" bIns="0" anchor="ctr">
            <a:spAutoFit/>
          </a:bodyPr>
          <a:lstStyle/>
          <a:p>
            <a:pPr algn="l"/>
            <a:r>
              <a:rPr sz="1200" b="1">
                <a:solidFill>
                  <a:srgbClr val="151A2D"/>
                </a:solidFill>
                <a:latin typeface="Aptos"/>
              </a:rPr>
              <a:t>Human inputs in the whole run</a:t>
            </a:r>
          </a:p>
        </p:txBody>
      </p:sp>
      <p:sp>
        <p:nvSpPr>
          <p:cNvPr id="26" name="TextBox 25"/>
          <p:cNvSpPr txBox="1"/>
          <p:nvPr/>
        </p:nvSpPr>
        <p:spPr>
          <a:xfrm>
            <a:off x="8595360" y="2715768"/>
            <a:ext cx="2331720" cy="246888"/>
          </a:xfrm>
          <a:prstGeom prst="rect">
            <a:avLst/>
          </a:prstGeom>
          <a:noFill/>
        </p:spPr>
        <p:txBody>
          <a:bodyPr wrap="square" lIns="0" rIns="0" tIns="0" bIns="0" anchor="ctr">
            <a:spAutoFit/>
          </a:bodyPr>
          <a:lstStyle/>
          <a:p>
            <a:pPr algn="r"/>
            <a:r>
              <a:rPr sz="1100" b="0">
                <a:solidFill>
                  <a:srgbClr val="626A7A"/>
                </a:solidFill>
                <a:latin typeface="Aptos"/>
              </a:rPr>
              <a:t>2 answers</a:t>
            </a:r>
          </a:p>
        </p:txBody>
      </p:sp>
      <p:cxnSp>
        <p:nvCxnSpPr>
          <p:cNvPr id="27" name="Connector 26"/>
          <p:cNvCxnSpPr/>
          <p:nvPr/>
        </p:nvCxnSpPr>
        <p:spPr>
          <a:xfrm>
            <a:off x="4846320" y="2999232"/>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846320" y="3099815"/>
            <a:ext cx="3154680" cy="246888"/>
          </a:xfrm>
          <a:prstGeom prst="rect">
            <a:avLst/>
          </a:prstGeom>
          <a:noFill/>
        </p:spPr>
        <p:txBody>
          <a:bodyPr wrap="square" lIns="0" rIns="0" tIns="0" bIns="0" anchor="ctr">
            <a:spAutoFit/>
          </a:bodyPr>
          <a:lstStyle/>
          <a:p>
            <a:pPr algn="l"/>
            <a:r>
              <a:rPr sz="1200" b="0">
                <a:solidFill>
                  <a:srgbClr val="151A2D"/>
                </a:solidFill>
                <a:latin typeface="Aptos"/>
              </a:rPr>
              <a:t>Regenerated vs untouched</a:t>
            </a:r>
          </a:p>
        </p:txBody>
      </p:sp>
      <p:sp>
        <p:nvSpPr>
          <p:cNvPr id="29" name="TextBox 28"/>
          <p:cNvSpPr txBox="1"/>
          <p:nvPr/>
        </p:nvSpPr>
        <p:spPr>
          <a:xfrm>
            <a:off x="8595360" y="3099815"/>
            <a:ext cx="2331720" cy="246888"/>
          </a:xfrm>
          <a:prstGeom prst="rect">
            <a:avLst/>
          </a:prstGeom>
          <a:noFill/>
        </p:spPr>
        <p:txBody>
          <a:bodyPr wrap="square" lIns="0" rIns="0" tIns="0" bIns="0" anchor="ctr">
            <a:spAutoFit/>
          </a:bodyPr>
          <a:lstStyle/>
          <a:p>
            <a:pPr algn="r"/>
            <a:r>
              <a:rPr sz="1100" b="0">
                <a:solidFill>
                  <a:srgbClr val="626A7A"/>
                </a:solidFill>
                <a:latin typeface="Aptos"/>
              </a:rPr>
              <a:t>4 files vs 5</a:t>
            </a:r>
          </a:p>
        </p:txBody>
      </p:sp>
      <p:cxnSp>
        <p:nvCxnSpPr>
          <p:cNvPr id="30" name="Connector 29"/>
          <p:cNvCxnSpPr/>
          <p:nvPr/>
        </p:nvCxnSpPr>
        <p:spPr>
          <a:xfrm>
            <a:off x="4846320" y="3383279"/>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846320" y="3483863"/>
            <a:ext cx="3154680" cy="246888"/>
          </a:xfrm>
          <a:prstGeom prst="rect">
            <a:avLst/>
          </a:prstGeom>
          <a:noFill/>
        </p:spPr>
        <p:txBody>
          <a:bodyPr wrap="square" lIns="0" rIns="0" tIns="0" bIns="0" anchor="ctr">
            <a:spAutoFit/>
          </a:bodyPr>
          <a:lstStyle/>
          <a:p>
            <a:pPr algn="l"/>
            <a:r>
              <a:rPr sz="1200" b="0">
                <a:solidFill>
                  <a:srgbClr val="151A2D"/>
                </a:solidFill>
                <a:latin typeface="Aptos"/>
              </a:rPr>
              <a:t>Gates against the live API</a:t>
            </a:r>
          </a:p>
        </p:txBody>
      </p:sp>
      <p:sp>
        <p:nvSpPr>
          <p:cNvPr id="32" name="TextBox 31"/>
          <p:cNvSpPr txBox="1"/>
          <p:nvPr/>
        </p:nvSpPr>
        <p:spPr>
          <a:xfrm>
            <a:off x="8595360" y="3483863"/>
            <a:ext cx="2331720" cy="246888"/>
          </a:xfrm>
          <a:prstGeom prst="rect">
            <a:avLst/>
          </a:prstGeom>
          <a:noFill/>
        </p:spPr>
        <p:txBody>
          <a:bodyPr wrap="square" lIns="0" rIns="0" tIns="0" bIns="0" anchor="ctr">
            <a:spAutoFit/>
          </a:bodyPr>
          <a:lstStyle/>
          <a:p>
            <a:pPr algn="r"/>
            <a:r>
              <a:rPr sz="1100" b="0">
                <a:solidFill>
                  <a:srgbClr val="626A7A"/>
                </a:solidFill>
                <a:latin typeface="Aptos"/>
              </a:rPr>
              <a:t>7 green</a:t>
            </a:r>
          </a:p>
        </p:txBody>
      </p:sp>
      <p:cxnSp>
        <p:nvCxnSpPr>
          <p:cNvPr id="33" name="Connector 32"/>
          <p:cNvCxnSpPr/>
          <p:nvPr/>
        </p:nvCxnSpPr>
        <p:spPr>
          <a:xfrm>
            <a:off x="4846320" y="3767327"/>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846320" y="3867911"/>
            <a:ext cx="3154680" cy="246888"/>
          </a:xfrm>
          <a:prstGeom prst="rect">
            <a:avLst/>
          </a:prstGeom>
          <a:noFill/>
        </p:spPr>
        <p:txBody>
          <a:bodyPr wrap="square" lIns="0" rIns="0" tIns="0" bIns="0" anchor="ctr">
            <a:spAutoFit/>
          </a:bodyPr>
          <a:lstStyle/>
          <a:p>
            <a:pPr algn="l"/>
            <a:r>
              <a:rPr sz="1200" b="0">
                <a:solidFill>
                  <a:srgbClr val="151A2D"/>
                </a:solidFill>
                <a:latin typeface="Aptos"/>
              </a:rPr>
              <a:t>Undocumented endpoint (trap)</a:t>
            </a:r>
          </a:p>
        </p:txBody>
      </p:sp>
      <p:sp>
        <p:nvSpPr>
          <p:cNvPr id="35" name="TextBox 34"/>
          <p:cNvSpPr txBox="1"/>
          <p:nvPr/>
        </p:nvSpPr>
        <p:spPr>
          <a:xfrm>
            <a:off x="8595360" y="3867911"/>
            <a:ext cx="2331720" cy="246888"/>
          </a:xfrm>
          <a:prstGeom prst="rect">
            <a:avLst/>
          </a:prstGeom>
          <a:noFill/>
        </p:spPr>
        <p:txBody>
          <a:bodyPr wrap="square" lIns="0" rIns="0" tIns="0" bIns="0" anchor="ctr">
            <a:spAutoFit/>
          </a:bodyPr>
          <a:lstStyle/>
          <a:p>
            <a:pPr algn="r"/>
            <a:r>
              <a:rPr sz="1100" b="0">
                <a:solidFill>
                  <a:srgbClr val="626A7A"/>
                </a:solidFill>
                <a:latin typeface="Aptos"/>
              </a:rPr>
              <a:t>blocked, escalated, not fixed</a:t>
            </a:r>
          </a:p>
        </p:txBody>
      </p:sp>
      <p:cxnSp>
        <p:nvCxnSpPr>
          <p:cNvPr id="36" name="Connector 35"/>
          <p:cNvCxnSpPr/>
          <p:nvPr/>
        </p:nvCxnSpPr>
        <p:spPr>
          <a:xfrm>
            <a:off x="4846320" y="4151375"/>
            <a:ext cx="6172200" cy="0"/>
          </a:xfrm>
          <a:prstGeom prst="line">
            <a:avLst/>
          </a:prstGeom>
          <a:ln w="7620">
            <a:solidFill>
              <a:srgbClr val="E8EAF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85800" y="4800600"/>
            <a:ext cx="10789920" cy="86868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074920"/>
            <a:ext cx="1508760" cy="228600"/>
          </a:xfrm>
          <a:prstGeom prst="rect">
            <a:avLst/>
          </a:prstGeom>
          <a:noFill/>
        </p:spPr>
        <p:txBody>
          <a:bodyPr wrap="square" lIns="0" rIns="0" tIns="0" bIns="0" anchor="ctr">
            <a:spAutoFit/>
          </a:bodyPr>
          <a:lstStyle/>
          <a:p>
            <a:pPr algn="l"/>
            <a:r>
              <a:rPr sz="1000" b="1">
                <a:solidFill>
                  <a:srgbClr val="2CCCE4"/>
                </a:solidFill>
                <a:latin typeface="Aptos"/>
              </a:rPr>
              <a:t>TAKE-HOME</a:t>
            </a:r>
          </a:p>
        </p:txBody>
      </p:sp>
      <p:sp>
        <p:nvSpPr>
          <p:cNvPr id="39" name="TextBox 38"/>
          <p:cNvSpPr txBox="1"/>
          <p:nvPr/>
        </p:nvSpPr>
        <p:spPr>
          <a:xfrm>
            <a:off x="2560320" y="4946904"/>
            <a:ext cx="8412480" cy="420624"/>
          </a:xfrm>
          <a:prstGeom prst="rect">
            <a:avLst/>
          </a:prstGeom>
          <a:noFill/>
        </p:spPr>
        <p:txBody>
          <a:bodyPr wrap="square" lIns="0" rIns="0" tIns="0" bIns="0" anchor="ctr">
            <a:spAutoFit/>
          </a:bodyPr>
          <a:lstStyle/>
          <a:p>
            <a:pPr algn="l"/>
            <a:r>
              <a:rPr sz="1700" b="1">
                <a:solidFill>
                  <a:srgbClr val="FFFFFF"/>
                </a:solidFill>
                <a:latin typeface="Aptos"/>
              </a:rPr>
              <a:t>Same loop we already run with our Copilot agents: codegen CLI, bounded agents, diff-scoped review, no auto-fix.</a:t>
            </a:r>
          </a:p>
        </p:txBody>
      </p:sp>
      <p:sp>
        <p:nvSpPr>
          <p:cNvPr id="40" name="TextBox 39"/>
          <p:cNvSpPr txBox="1"/>
          <p:nvPr/>
        </p:nvSpPr>
        <p:spPr>
          <a:xfrm>
            <a:off x="685800" y="5925312"/>
            <a:ext cx="10789920" cy="320040"/>
          </a:xfrm>
          <a:prstGeom prst="rect">
            <a:avLst/>
          </a:prstGeom>
          <a:noFill/>
        </p:spPr>
        <p:txBody>
          <a:bodyPr wrap="square" lIns="0" rIns="0" tIns="0" bIns="0" anchor="ctr">
            <a:spAutoFit/>
          </a:bodyPr>
          <a:lstStyle/>
          <a:p>
            <a:pPr algn="ctr"/>
            <a:r>
              <a:rPr sz="1200" b="0">
                <a:solidFill>
                  <a:srgbClr val="626A7A"/>
                </a:solidFill>
                <a:latin typeface="Aptos"/>
              </a:rPr>
              <a:t>demo/reset.ps1 -To demo  →  “@orchestrator Run the integration factory for connector swapi, operation getCharacter”  →  the trap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13</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12 — DEMO STEP 1</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Before the room arrives</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Put the repo at the demo checkpoint. Everything below is copy-paste.</a:t>
            </a:r>
          </a:p>
        </p:txBody>
      </p:sp>
      <p:sp>
        <p:nvSpPr>
          <p:cNvPr id="8" name="Rounded Rectangle 7"/>
          <p:cNvSpPr/>
          <p:nvPr/>
        </p:nvSpPr>
        <p:spPr>
          <a:xfrm>
            <a:off x="621792" y="1664208"/>
            <a:ext cx="6720840" cy="434340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01952"/>
            <a:ext cx="6126480" cy="3794760"/>
          </a:xfrm>
          <a:prstGeom prst="rect">
            <a:avLst/>
          </a:prstGeom>
          <a:noFill/>
        </p:spPr>
        <p:txBody>
          <a:bodyPr wrap="square" lIns="0" rIns="0" tIns="0" bIns="0" anchor="t">
            <a:spAutoFit/>
          </a:bodyPr>
          <a:lstStyle/>
          <a:p>
            <a:pPr algn="l"/>
            <a:r>
              <a:rPr sz="1150" b="0">
                <a:solidFill>
                  <a:srgbClr val="D9E0F4"/>
                </a:solidFill>
                <a:latin typeface="Courier New"/>
              </a:rPr>
              <a:t>PS&gt; .\demo\reset.ps1 -To demo</a:t>
            </a:r>
            <a:br/>
            <a:r>
              <a:rPr sz="1150" b="0">
                <a:solidFill>
                  <a:srgbClr val="D9E0F4"/>
                </a:solidFill>
                <a:latin typeface="Courier New"/>
              </a:rPr>
              <a:t/>
            </a:r>
            <a:br/>
            <a:r>
              <a:rPr sz="1150" b="0">
                <a:solidFill>
                  <a:srgbClr val="D9E0F4"/>
                </a:solidFill>
                <a:latin typeface="Courier New"/>
              </a:rPr>
              <a:t># searchCharacters + getPlanet: done and green</a:t>
            </a:r>
            <a:br/>
            <a:r>
              <a:rPr sz="1150" b="0">
                <a:solidFill>
                  <a:srgbClr val="D9E0F4"/>
                </a:solidFill>
                <a:latin typeface="Courier New"/>
              </a:rPr>
              <a:t># getCharacter: no mapping, TODO(ai) blocks</a:t>
            </a:r>
            <a:br/>
            <a:r>
              <a:rPr sz="1150" b="0">
                <a:solidFill>
                  <a:srgbClr val="D9E0F4"/>
                </a:solidFill>
                <a:latin typeface="Courier New"/>
              </a:rPr>
              <a:t/>
            </a:r>
            <a:br/>
            <a:r>
              <a:rPr sz="1150" b="0">
                <a:solidFill>
                  <a:srgbClr val="D9E0F4"/>
                </a:solidFill>
                <a:latin typeface="Courier New"/>
              </a:rPr>
              <a:t>Open before starting:</a:t>
            </a:r>
            <a:br/>
            <a:r>
              <a:rPr sz="1150" b="0">
                <a:solidFill>
                  <a:srgbClr val="D9E0F4"/>
                </a:solidFill>
                <a:latin typeface="Courier New"/>
              </a:rPr>
              <a:t>  VS Code, Copilot agent mode, terminal visible</a:t>
            </a:r>
            <a:br/>
            <a:r>
              <a:rPr sz="1150" b="0">
                <a:solidFill>
                  <a:srgbClr val="D9E0F4"/>
                </a:solidFill>
                <a:latin typeface="Courier New"/>
              </a:rPr>
              <a:t>  https://swapi.dev/api/people/2/   (C-3PO)</a:t>
            </a:r>
            <a:br/>
            <a:r>
              <a:rPr sz="1150" b="0">
                <a:solidFill>
                  <a:srgbClr val="D9E0F4"/>
                </a:solidFill>
                <a:latin typeface="Courier New"/>
              </a:rPr>
              <a:t/>
            </a:r>
            <a:br/>
            <a:r>
              <a:rPr sz="1150" b="0">
                <a:solidFill>
                  <a:srgbClr val="D9E0F4"/>
                </a:solidFill>
                <a:latin typeface="Courier New"/>
              </a:rPr>
              <a:t>Optional check (do NOT show):</a:t>
            </a:r>
            <a:br/>
            <a:r>
              <a:rPr sz="1150" b="0">
                <a:solidFill>
                  <a:srgbClr val="D9E0F4"/>
                </a:solidFill>
                <a:latin typeface="Courier New"/>
              </a:rPr>
              <a:t>PS&gt; dotnet run --project src/Factory.Cli -- map swapi --check</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p>
        </p:txBody>
      </p:sp>
      <p:sp>
        <p:nvSpPr>
          <p:cNvPr id="10" name="Rounded Rectangle 9"/>
          <p:cNvSpPr/>
          <p:nvPr/>
        </p:nvSpPr>
        <p:spPr>
          <a:xfrm>
            <a:off x="7726679" y="1755648"/>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81544" y="1773936"/>
            <a:ext cx="1124712" cy="246888"/>
          </a:xfrm>
          <a:prstGeom prst="rect">
            <a:avLst/>
          </a:prstGeom>
          <a:noFill/>
        </p:spPr>
        <p:txBody>
          <a:bodyPr wrap="square" lIns="0" rIns="0" tIns="0" bIns="0" anchor="ctr">
            <a:spAutoFit/>
          </a:bodyPr>
          <a:lstStyle/>
          <a:p>
            <a:pPr algn="ctr"/>
            <a:r>
              <a:rPr sz="900" b="1">
                <a:solidFill>
                  <a:srgbClr val="6D5DFB"/>
                </a:solidFill>
                <a:latin typeface="Aptos"/>
              </a:rPr>
              <a:t>WHAT IT DOES</a:t>
            </a:r>
          </a:p>
        </p:txBody>
      </p:sp>
      <p:sp>
        <p:nvSpPr>
          <p:cNvPr id="12" name="TextBox 11"/>
          <p:cNvSpPr txBox="1"/>
          <p:nvPr/>
        </p:nvSpPr>
        <p:spPr>
          <a:xfrm>
            <a:off x="9098280" y="1737360"/>
            <a:ext cx="2286000" cy="512064"/>
          </a:xfrm>
          <a:prstGeom prst="rect">
            <a:avLst/>
          </a:prstGeom>
          <a:noFill/>
        </p:spPr>
        <p:txBody>
          <a:bodyPr wrap="square" lIns="0" rIns="0" tIns="0" bIns="0" anchor="ctr">
            <a:spAutoFit/>
          </a:bodyPr>
          <a:lstStyle/>
          <a:p>
            <a:pPr algn="l"/>
            <a:r>
              <a:rPr sz="1050" b="0">
                <a:solidFill>
                  <a:srgbClr val="151A2D"/>
                </a:solidFill>
                <a:latin typeface="Aptos"/>
              </a:rPr>
              <a:t>Wipes generated code; leaves two operations done and getCharacter unmapped.</a:t>
            </a:r>
          </a:p>
        </p:txBody>
      </p:sp>
      <p:sp>
        <p:nvSpPr>
          <p:cNvPr id="13" name="Rounded Rectangle 12"/>
          <p:cNvSpPr/>
          <p:nvPr/>
        </p:nvSpPr>
        <p:spPr>
          <a:xfrm>
            <a:off x="7726679" y="2798063"/>
            <a:ext cx="1234440" cy="292608"/>
          </a:xfrm>
          <a:prstGeom prst="roundRect">
            <a:avLst/>
          </a:prstGeom>
          <a:solidFill>
            <a:srgbClr val="FFF3DB"/>
          </a:solidFill>
          <a:ln>
            <a:solidFill>
              <a:srgbClr val="FFF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81544" y="2816351"/>
            <a:ext cx="1124712" cy="246888"/>
          </a:xfrm>
          <a:prstGeom prst="rect">
            <a:avLst/>
          </a:prstGeom>
          <a:noFill/>
        </p:spPr>
        <p:txBody>
          <a:bodyPr wrap="square" lIns="0" rIns="0" tIns="0" bIns="0" anchor="ctr">
            <a:spAutoFit/>
          </a:bodyPr>
          <a:lstStyle/>
          <a:p>
            <a:pPr algn="ctr"/>
            <a:r>
              <a:rPr sz="900" b="1">
                <a:solidFill>
                  <a:srgbClr val="B56C00"/>
                </a:solidFill>
                <a:latin typeface="Aptos"/>
              </a:rPr>
              <a:t>WHY</a:t>
            </a:r>
          </a:p>
        </p:txBody>
      </p:sp>
      <p:sp>
        <p:nvSpPr>
          <p:cNvPr id="15" name="TextBox 14"/>
          <p:cNvSpPr txBox="1"/>
          <p:nvPr/>
        </p:nvSpPr>
        <p:spPr>
          <a:xfrm>
            <a:off x="9098280" y="2779775"/>
            <a:ext cx="2286000" cy="512064"/>
          </a:xfrm>
          <a:prstGeom prst="rect">
            <a:avLst/>
          </a:prstGeom>
          <a:noFill/>
        </p:spPr>
        <p:txBody>
          <a:bodyPr wrap="square" lIns="0" rIns="0" tIns="0" bIns="0" anchor="ctr">
            <a:spAutoFit/>
          </a:bodyPr>
          <a:lstStyle/>
          <a:p>
            <a:pPr algn="l"/>
            <a:r>
              <a:rPr sz="1050" b="0">
                <a:solidFill>
                  <a:srgbClr val="151A2D"/>
                </a:solidFill>
                <a:latin typeface="Aptos"/>
              </a:rPr>
              <a:t>One operation and two agent calls fit in six minutes.</a:t>
            </a:r>
          </a:p>
        </p:txBody>
      </p:sp>
      <p:sp>
        <p:nvSpPr>
          <p:cNvPr id="16" name="Rounded Rectangle 15"/>
          <p:cNvSpPr/>
          <p:nvPr/>
        </p:nvSpPr>
        <p:spPr>
          <a:xfrm>
            <a:off x="7726679" y="3840479"/>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81544" y="3858767"/>
            <a:ext cx="1124712" cy="246888"/>
          </a:xfrm>
          <a:prstGeom prst="rect">
            <a:avLst/>
          </a:prstGeom>
          <a:noFill/>
        </p:spPr>
        <p:txBody>
          <a:bodyPr wrap="square" lIns="0" rIns="0" tIns="0" bIns="0" anchor="ctr">
            <a:spAutoFit/>
          </a:bodyPr>
          <a:lstStyle/>
          <a:p>
            <a:pPr algn="ctr"/>
            <a:r>
              <a:rPr sz="900" b="1">
                <a:solidFill>
                  <a:srgbClr val="6D5DFB"/>
                </a:solidFill>
                <a:latin typeface="Aptos"/>
              </a:rPr>
              <a:t>CHECK</a:t>
            </a:r>
          </a:p>
        </p:txBody>
      </p:sp>
      <p:sp>
        <p:nvSpPr>
          <p:cNvPr id="18" name="TextBox 17"/>
          <p:cNvSpPr txBox="1"/>
          <p:nvPr/>
        </p:nvSpPr>
        <p:spPr>
          <a:xfrm>
            <a:off x="9098280" y="3822191"/>
            <a:ext cx="2286000" cy="512064"/>
          </a:xfrm>
          <a:prstGeom prst="rect">
            <a:avLst/>
          </a:prstGeom>
          <a:noFill/>
        </p:spPr>
        <p:txBody>
          <a:bodyPr wrap="square" lIns="0" rIns="0" tIns="0" bIns="0" anchor="ctr">
            <a:spAutoFit/>
          </a:bodyPr>
          <a:lstStyle/>
          <a:p>
            <a:pPr algn="l"/>
            <a:r>
              <a:rPr sz="1050" b="0">
                <a:solidFill>
                  <a:srgbClr val="151A2D"/>
                </a:solidFill>
                <a:latin typeface="Aptos"/>
              </a:rPr>
              <a:t>map --check prints two approved rows and one missing.</a:t>
            </a:r>
          </a:p>
        </p:txBody>
      </p:sp>
      <p:sp>
        <p:nvSpPr>
          <p:cNvPr id="19" name="Rounded Rectangle 18"/>
          <p:cNvSpPr/>
          <p:nvPr/>
        </p:nvSpPr>
        <p:spPr>
          <a:xfrm>
            <a:off x="7726679" y="4882896"/>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81544" y="4901183"/>
            <a:ext cx="1124712" cy="246888"/>
          </a:xfrm>
          <a:prstGeom prst="rect">
            <a:avLst/>
          </a:prstGeom>
          <a:noFill/>
        </p:spPr>
        <p:txBody>
          <a:bodyPr wrap="square" lIns="0" rIns="0" tIns="0" bIns="0" anchor="ctr">
            <a:spAutoFit/>
          </a:bodyPr>
          <a:lstStyle/>
          <a:p>
            <a:pPr algn="ctr"/>
            <a:r>
              <a:rPr sz="900" b="1">
                <a:solidFill>
                  <a:srgbClr val="6D5DFB"/>
                </a:solidFill>
                <a:latin typeface="Aptos"/>
              </a:rPr>
              <a:t>IF IT FAILS</a:t>
            </a:r>
          </a:p>
        </p:txBody>
      </p:sp>
      <p:sp>
        <p:nvSpPr>
          <p:cNvPr id="21" name="TextBox 20"/>
          <p:cNvSpPr txBox="1"/>
          <p:nvPr/>
        </p:nvSpPr>
        <p:spPr>
          <a:xfrm>
            <a:off x="9098280" y="4864608"/>
            <a:ext cx="2286000" cy="512064"/>
          </a:xfrm>
          <a:prstGeom prst="rect">
            <a:avLst/>
          </a:prstGeom>
          <a:noFill/>
        </p:spPr>
        <p:txBody>
          <a:bodyPr wrap="square" lIns="0" rIns="0" tIns="0" bIns="0" anchor="ctr">
            <a:spAutoFit/>
          </a:bodyPr>
          <a:lstStyle/>
          <a:p>
            <a:pPr algn="l"/>
            <a:r>
              <a:rPr sz="1050" b="0">
                <a:solidFill>
                  <a:srgbClr val="151A2D"/>
                </a:solidFill>
                <a:latin typeface="Aptos"/>
              </a:rPr>
              <a:t>Run it again (it is idempotent), then build the CLI once.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14</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12 — DEMO STEP 2</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One prompt to the orchestrator</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Paste into Copilot chat. Then do not touch the keyboard until it asks you something.</a:t>
            </a:r>
          </a:p>
        </p:txBody>
      </p:sp>
      <p:sp>
        <p:nvSpPr>
          <p:cNvPr id="8" name="Rounded Rectangle 7"/>
          <p:cNvSpPr/>
          <p:nvPr/>
        </p:nvSpPr>
        <p:spPr>
          <a:xfrm>
            <a:off x="621792" y="1664208"/>
            <a:ext cx="6720840" cy="434340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01952"/>
            <a:ext cx="6126480" cy="3794760"/>
          </a:xfrm>
          <a:prstGeom prst="rect">
            <a:avLst/>
          </a:prstGeom>
          <a:noFill/>
        </p:spPr>
        <p:txBody>
          <a:bodyPr wrap="square" lIns="0" rIns="0" tIns="0" bIns="0" anchor="t">
            <a:spAutoFit/>
          </a:bodyPr>
          <a:lstStyle/>
          <a:p>
            <a:pPr algn="l"/>
            <a:r>
              <a:rPr sz="1150" b="0">
                <a:solidFill>
                  <a:srgbClr val="D9E0F4"/>
                </a:solidFill>
                <a:latin typeface="Courier New"/>
              </a:rPr>
              <a:t>@orchestrator Run the integration factory for</a:t>
            </a:r>
            <a:br/>
            <a:r>
              <a:rPr sz="1150" b="0">
                <a:solidFill>
                  <a:srgbClr val="D9E0F4"/>
                </a:solidFill>
                <a:latin typeface="Courier New"/>
              </a:rPr>
              <a:t>connector swapi, operation getCharacter.</a:t>
            </a:r>
            <a:br/>
            <a:r>
              <a:rPr sz="1150" b="0">
                <a:solidFill>
                  <a:srgbClr val="D9E0F4"/>
                </a:solidFill>
                <a:latin typeface="Courier New"/>
              </a:rPr>
              <a:t>Run validate with --smoke at the end.</a:t>
            </a:r>
            <a:br/>
            <a:r>
              <a:rPr sz="1150" b="0">
                <a:solidFill>
                  <a:srgbClr val="D9E0F4"/>
                </a:solidFill>
                <a:latin typeface="Courier New"/>
              </a:rPr>
              <a:t/>
            </a:r>
            <a:br/>
            <a:r>
              <a:rPr sz="1150" b="0">
                <a:solidFill>
                  <a:srgbClr val="D9E0F4"/>
                </a:solidFill>
                <a:latin typeface="Courier New"/>
              </a:rPr>
              <a:t>What you will see in the terminal, in order:</a:t>
            </a:r>
            <a:br/>
            <a:r>
              <a:rPr sz="1150" b="0">
                <a:solidFill>
                  <a:srgbClr val="D9E0F4"/>
                </a:solidFill>
                <a:latin typeface="Courier New"/>
              </a:rPr>
              <a:t>  P0  map --check   (2 approved, getCharacter missing)</a:t>
            </a:r>
            <a:br/>
            <a:r>
              <a:rPr sz="1150" b="0">
                <a:solidFill>
                  <a:srgbClr val="D9E0F4"/>
                </a:solidFill>
                <a:latin typeface="Courier New"/>
              </a:rPr>
              <a:t>  P2  import        (client + models regenerated)</a:t>
            </a:r>
            <a:br/>
            <a:r>
              <a:rPr sz="1150" b="0">
                <a:solidFill>
                  <a:srgbClr val="D9E0F4"/>
                </a:solidFill>
                <a:latin typeface="Courier New"/>
              </a:rPr>
              <a:t>  P3  map           (brief -&gt; mapping-agent -&gt; JSON)</a:t>
            </a:r>
            <a:br/>
            <a:r>
              <a:rPr sz="1150" b="0">
                <a:solidFill>
                  <a:srgbClr val="D9E0F4"/>
                </a:solidFill>
                <a:latin typeface="Courier New"/>
              </a:rPr>
              <a:t>  P3  map --check   (birth_year 0.62, gender 0.55)</a:t>
            </a:r>
            <a:br/>
            <a:r>
              <a:rPr sz="1150" b="0">
                <a:solidFill>
                  <a:srgbClr val="D9E0F4"/>
                </a:solidFill>
                <a:latin typeface="Courier New"/>
              </a:rPr>
              <a:t>  --  it STOPS and asks you two questions</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p>
        </p:txBody>
      </p:sp>
      <p:sp>
        <p:nvSpPr>
          <p:cNvPr id="10" name="Rounded Rectangle 9"/>
          <p:cNvSpPr/>
          <p:nvPr/>
        </p:nvSpPr>
        <p:spPr>
          <a:xfrm>
            <a:off x="7726679" y="1755648"/>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81544" y="1773936"/>
            <a:ext cx="1124712" cy="246888"/>
          </a:xfrm>
          <a:prstGeom prst="rect">
            <a:avLst/>
          </a:prstGeom>
          <a:noFill/>
        </p:spPr>
        <p:txBody>
          <a:bodyPr wrap="square" lIns="0" rIns="0" tIns="0" bIns="0" anchor="ctr">
            <a:spAutoFit/>
          </a:bodyPr>
          <a:lstStyle/>
          <a:p>
            <a:pPr algn="ctr"/>
            <a:r>
              <a:rPr sz="900" b="1">
                <a:solidFill>
                  <a:srgbClr val="6D5DFB"/>
                </a:solidFill>
                <a:latin typeface="Aptos"/>
              </a:rPr>
              <a:t>WHAT IT DOES</a:t>
            </a:r>
          </a:p>
        </p:txBody>
      </p:sp>
      <p:sp>
        <p:nvSpPr>
          <p:cNvPr id="12" name="TextBox 11"/>
          <p:cNvSpPr txBox="1"/>
          <p:nvPr/>
        </p:nvSpPr>
        <p:spPr>
          <a:xfrm>
            <a:off x="9098280" y="1737360"/>
            <a:ext cx="2286000" cy="512064"/>
          </a:xfrm>
          <a:prstGeom prst="rect">
            <a:avLst/>
          </a:prstGeom>
          <a:noFill/>
        </p:spPr>
        <p:txBody>
          <a:bodyPr wrap="square" lIns="0" rIns="0" tIns="0" bIns="0" anchor="ctr">
            <a:spAutoFit/>
          </a:bodyPr>
          <a:lstStyle/>
          <a:p>
            <a:pPr algn="l"/>
            <a:r>
              <a:rPr sz="1050" b="0">
                <a:solidFill>
                  <a:srgbClr val="151A2D"/>
                </a:solidFill>
                <a:latin typeface="Aptos"/>
              </a:rPr>
              <a:t>Reads state from the CLI, regenerates, sends a 1,400-token brief to the mapping agent, checks the result.</a:t>
            </a:r>
          </a:p>
        </p:txBody>
      </p:sp>
      <p:sp>
        <p:nvSpPr>
          <p:cNvPr id="13" name="Rounded Rectangle 12"/>
          <p:cNvSpPr/>
          <p:nvPr/>
        </p:nvSpPr>
        <p:spPr>
          <a:xfrm>
            <a:off x="7726679" y="2798063"/>
            <a:ext cx="1234440" cy="292608"/>
          </a:xfrm>
          <a:prstGeom prst="roundRect">
            <a:avLst/>
          </a:prstGeom>
          <a:solidFill>
            <a:srgbClr val="FFF3DB"/>
          </a:solidFill>
          <a:ln>
            <a:solidFill>
              <a:srgbClr val="FFF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81544" y="2816351"/>
            <a:ext cx="1124712" cy="246888"/>
          </a:xfrm>
          <a:prstGeom prst="rect">
            <a:avLst/>
          </a:prstGeom>
          <a:noFill/>
        </p:spPr>
        <p:txBody>
          <a:bodyPr wrap="square" lIns="0" rIns="0" tIns="0" bIns="0" anchor="ctr">
            <a:spAutoFit/>
          </a:bodyPr>
          <a:lstStyle/>
          <a:p>
            <a:pPr algn="ctr"/>
            <a:r>
              <a:rPr sz="900" b="1">
                <a:solidFill>
                  <a:srgbClr val="B56C00"/>
                </a:solidFill>
                <a:latin typeface="Aptos"/>
              </a:rPr>
              <a:t>WATCH FOR</a:t>
            </a:r>
          </a:p>
        </p:txBody>
      </p:sp>
      <p:sp>
        <p:nvSpPr>
          <p:cNvPr id="15" name="TextBox 14"/>
          <p:cNvSpPr txBox="1"/>
          <p:nvPr/>
        </p:nvSpPr>
        <p:spPr>
          <a:xfrm>
            <a:off x="9098280" y="2779775"/>
            <a:ext cx="2286000" cy="512064"/>
          </a:xfrm>
          <a:prstGeom prst="rect">
            <a:avLst/>
          </a:prstGeom>
          <a:noFill/>
        </p:spPr>
        <p:txBody>
          <a:bodyPr wrap="square" lIns="0" rIns="0" tIns="0" bIns="0" anchor="ctr">
            <a:spAutoFit/>
          </a:bodyPr>
          <a:lstStyle/>
          <a:p>
            <a:pPr algn="l"/>
            <a:r>
              <a:rPr sz="1050" b="0">
                <a:solidFill>
                  <a:srgbClr val="151A2D"/>
                </a:solidFill>
                <a:latin typeface="Aptos"/>
              </a:rPr>
              <a:t>The mapping-agent call takes 30–60 s. Show the C-3PO tab meanwhile.</a:t>
            </a:r>
          </a:p>
        </p:txBody>
      </p:sp>
      <p:sp>
        <p:nvSpPr>
          <p:cNvPr id="16" name="Rounded Rectangle 15"/>
          <p:cNvSpPr/>
          <p:nvPr/>
        </p:nvSpPr>
        <p:spPr>
          <a:xfrm>
            <a:off x="7726679" y="3840479"/>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81544" y="3858767"/>
            <a:ext cx="1124712" cy="246888"/>
          </a:xfrm>
          <a:prstGeom prst="rect">
            <a:avLst/>
          </a:prstGeom>
          <a:noFill/>
        </p:spPr>
        <p:txBody>
          <a:bodyPr wrap="square" lIns="0" rIns="0" tIns="0" bIns="0" anchor="ctr">
            <a:spAutoFit/>
          </a:bodyPr>
          <a:lstStyle/>
          <a:p>
            <a:pPr algn="ctr"/>
            <a:r>
              <a:rPr sz="900" b="1">
                <a:solidFill>
                  <a:srgbClr val="6D5DFB"/>
                </a:solidFill>
                <a:latin typeface="Aptos"/>
              </a:rPr>
              <a:t>SAY</a:t>
            </a:r>
          </a:p>
        </p:txBody>
      </p:sp>
      <p:sp>
        <p:nvSpPr>
          <p:cNvPr id="18" name="TextBox 17"/>
          <p:cNvSpPr txBox="1"/>
          <p:nvPr/>
        </p:nvSpPr>
        <p:spPr>
          <a:xfrm>
            <a:off x="9098280" y="3822191"/>
            <a:ext cx="2286000" cy="512064"/>
          </a:xfrm>
          <a:prstGeom prst="rect">
            <a:avLst/>
          </a:prstGeom>
          <a:noFill/>
        </p:spPr>
        <p:txBody>
          <a:bodyPr wrap="square" lIns="0" rIns="0" tIns="0" bIns="0" anchor="ctr">
            <a:spAutoFit/>
          </a:bodyPr>
          <a:lstStyle/>
          <a:p>
            <a:pPr algn="l"/>
            <a:r>
              <a:rPr sz="1050" b="0">
                <a:solidFill>
                  <a:srgbClr val="151A2D"/>
                </a:solidFill>
                <a:latin typeface="Aptos"/>
              </a:rPr>
              <a:t>“It reads state from the tool. It will stop the moment it needs a business decision.”</a:t>
            </a:r>
          </a:p>
        </p:txBody>
      </p:sp>
      <p:sp>
        <p:nvSpPr>
          <p:cNvPr id="19" name="Rounded Rectangle 18"/>
          <p:cNvSpPr/>
          <p:nvPr/>
        </p:nvSpPr>
        <p:spPr>
          <a:xfrm>
            <a:off x="7726679" y="4882896"/>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81544" y="4901183"/>
            <a:ext cx="1124712" cy="246888"/>
          </a:xfrm>
          <a:prstGeom prst="rect">
            <a:avLst/>
          </a:prstGeom>
          <a:noFill/>
        </p:spPr>
        <p:txBody>
          <a:bodyPr wrap="square" lIns="0" rIns="0" tIns="0" bIns="0" anchor="ctr">
            <a:spAutoFit/>
          </a:bodyPr>
          <a:lstStyle/>
          <a:p>
            <a:pPr algn="ctr"/>
            <a:r>
              <a:rPr sz="900" b="1">
                <a:solidFill>
                  <a:srgbClr val="6D5DFB"/>
                </a:solidFill>
                <a:latin typeface="Aptos"/>
              </a:rPr>
              <a:t>IF IT STALLS</a:t>
            </a:r>
          </a:p>
        </p:txBody>
      </p:sp>
      <p:sp>
        <p:nvSpPr>
          <p:cNvPr id="21" name="TextBox 20"/>
          <p:cNvSpPr txBox="1"/>
          <p:nvPr/>
        </p:nvSpPr>
        <p:spPr>
          <a:xfrm>
            <a:off x="9098280" y="4864608"/>
            <a:ext cx="2286000" cy="512064"/>
          </a:xfrm>
          <a:prstGeom prst="rect">
            <a:avLst/>
          </a:prstGeom>
          <a:noFill/>
        </p:spPr>
        <p:txBody>
          <a:bodyPr wrap="square" lIns="0" rIns="0" tIns="0" bIns="0" anchor="ctr">
            <a:spAutoFit/>
          </a:bodyPr>
          <a:lstStyle/>
          <a:p>
            <a:pPr algn="l"/>
            <a:r>
              <a:rPr sz="1050" b="0">
                <a:solidFill>
                  <a:srgbClr val="151A2D"/>
                </a:solidFill>
                <a:latin typeface="Aptos"/>
              </a:rPr>
              <a:t>Wait two minutes, then reset.ps1 -To mapped and re-send the prompt.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15</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12 — DEMO STEP 3</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The gate: the room decides</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The orchestrator ends its turn with two questions. Ask the room, then paste the answer.</a:t>
            </a:r>
          </a:p>
        </p:txBody>
      </p:sp>
      <p:sp>
        <p:nvSpPr>
          <p:cNvPr id="8" name="Rounded Rectangle 7"/>
          <p:cNvSpPr/>
          <p:nvPr/>
        </p:nvSpPr>
        <p:spPr>
          <a:xfrm>
            <a:off x="621792" y="1664208"/>
            <a:ext cx="6720840" cy="434340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01952"/>
            <a:ext cx="6126480" cy="3794760"/>
          </a:xfrm>
          <a:prstGeom prst="rect">
            <a:avLst/>
          </a:prstGeom>
          <a:noFill/>
        </p:spPr>
        <p:txBody>
          <a:bodyPr wrap="square" lIns="0" rIns="0" tIns="0" bIns="0" anchor="t">
            <a:spAutoFit/>
          </a:bodyPr>
          <a:lstStyle/>
          <a:p>
            <a:pPr algn="l"/>
            <a:r>
              <a:rPr sz="1150" b="0">
                <a:solidFill>
                  <a:srgbClr val="D9E0F4"/>
                </a:solidFill>
                <a:latin typeface="Courier New"/>
              </a:rPr>
              <a:t>It asks:</a:t>
            </a:r>
            <a:br/>
            <a:r>
              <a:rPr sz="1150" b="0">
                <a:solidFill>
                  <a:srgbClr val="D9E0F4"/>
                </a:solidFill>
                <a:latin typeface="Courier New"/>
              </a:rPr>
              <a:t>  gender: should "n/a" (droids) map to Other or Unknown?</a:t>
            </a:r>
            <a:br/>
            <a:r>
              <a:rPr sz="1150" b="0">
                <a:solidFill>
                  <a:srgbClr val="D9E0F4"/>
                </a:solidFill>
                <a:latin typeface="Courier New"/>
              </a:rPr>
              <a:t>  birthYear: unparsable values -&gt; null, or reject?</a:t>
            </a:r>
            <a:br/>
            <a:r>
              <a:rPr sz="1150" b="0">
                <a:solidFill>
                  <a:srgbClr val="D9E0F4"/>
                </a:solidFill>
                <a:latin typeface="Courier New"/>
              </a:rPr>
              <a:t/>
            </a:r>
            <a:br/>
            <a:r>
              <a:rPr sz="1150" b="0">
                <a:solidFill>
                  <a:srgbClr val="D9E0F4"/>
                </a:solidFill>
                <a:latin typeface="Courier New"/>
              </a:rPr>
              <a:t>Ask the room. Then paste (edit to match their answer):</a:t>
            </a:r>
            <a:br/>
            <a:r>
              <a:rPr sz="1150" b="0">
                <a:solidFill>
                  <a:srgbClr val="D9E0F4"/>
                </a:solidFill>
                <a:latin typeface="Courier New"/>
              </a:rPr>
              <a:t/>
            </a:r>
            <a:br/>
            <a:r>
              <a:rPr sz="1150" b="0">
                <a:solidFill>
                  <a:srgbClr val="D9E0F4"/>
                </a:solidFill>
                <a:latin typeface="Courier New"/>
              </a:rPr>
              <a:t>n/a is Other - droids are a real category, not</a:t>
            </a:r>
            <a:br/>
            <a:r>
              <a:rPr sz="1150" b="0">
                <a:solidFill>
                  <a:srgbClr val="D9E0F4"/>
                </a:solidFill>
                <a:latin typeface="Courier New"/>
              </a:rPr>
              <a:t>missing data. Unparsable birth years become null.</a:t>
            </a:r>
            <a:br/>
            <a:r>
              <a:rPr sz="1150" b="0">
                <a:solidFill>
                  <a:srgbClr val="D9E0F4"/>
                </a:solidFill>
                <a:latin typeface="Courier New"/>
              </a:rPr>
              <a:t/>
            </a:r>
            <a:br/>
            <a:r>
              <a:rPr sz="1150" b="0">
                <a:solidFill>
                  <a:srgbClr val="D9E0F4"/>
                </a:solidFill>
                <a:latin typeface="Courier New"/>
              </a:rPr>
              <a:t>It then runs: approve -&gt; map --check (green) -&gt;</a:t>
            </a:r>
            <a:br/>
            <a:r>
              <a:rPr sz="1150" b="0">
                <a:solidFill>
                  <a:srgbClr val="D9E0F4"/>
                </a:solidFill>
                <a:latin typeface="Courier New"/>
              </a:rPr>
              <a:t>generate -&gt; ai implement -&gt; connector-agent -&gt; validate --smoke</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p>
        </p:txBody>
      </p:sp>
      <p:sp>
        <p:nvSpPr>
          <p:cNvPr id="10" name="Rounded Rectangle 9"/>
          <p:cNvSpPr/>
          <p:nvPr/>
        </p:nvSpPr>
        <p:spPr>
          <a:xfrm>
            <a:off x="7726679" y="1755648"/>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81544" y="1773936"/>
            <a:ext cx="1124712" cy="246888"/>
          </a:xfrm>
          <a:prstGeom prst="rect">
            <a:avLst/>
          </a:prstGeom>
          <a:noFill/>
        </p:spPr>
        <p:txBody>
          <a:bodyPr wrap="square" lIns="0" rIns="0" tIns="0" bIns="0" anchor="ctr">
            <a:spAutoFit/>
          </a:bodyPr>
          <a:lstStyle/>
          <a:p>
            <a:pPr algn="ctr"/>
            <a:r>
              <a:rPr sz="900" b="1">
                <a:solidFill>
                  <a:srgbClr val="6D5DFB"/>
                </a:solidFill>
                <a:latin typeface="Aptos"/>
              </a:rPr>
              <a:t>WHAT IT DOES</a:t>
            </a:r>
          </a:p>
        </p:txBody>
      </p:sp>
      <p:sp>
        <p:nvSpPr>
          <p:cNvPr id="12" name="TextBox 11"/>
          <p:cNvSpPr txBox="1"/>
          <p:nvPr/>
        </p:nvSpPr>
        <p:spPr>
          <a:xfrm>
            <a:off x="9098280" y="1737360"/>
            <a:ext cx="2286000" cy="512064"/>
          </a:xfrm>
          <a:prstGeom prst="rect">
            <a:avLst/>
          </a:prstGeom>
          <a:noFill/>
        </p:spPr>
        <p:txBody>
          <a:bodyPr wrap="square" lIns="0" rIns="0" tIns="0" bIns="0" anchor="ctr">
            <a:spAutoFit/>
          </a:bodyPr>
          <a:lstStyle/>
          <a:p>
            <a:pPr algn="l"/>
            <a:r>
              <a:rPr sz="1050" b="0">
                <a:solidFill>
                  <a:srgbClr val="151A2D"/>
                </a:solidFill>
                <a:latin typeface="Aptos"/>
              </a:rPr>
              <a:t>Records your words with approve, regenerates, briefs the connector agent, fills three TODO blocks, runs seven gates.</a:t>
            </a:r>
          </a:p>
        </p:txBody>
      </p:sp>
      <p:sp>
        <p:nvSpPr>
          <p:cNvPr id="13" name="Rounded Rectangle 12"/>
          <p:cNvSpPr/>
          <p:nvPr/>
        </p:nvSpPr>
        <p:spPr>
          <a:xfrm>
            <a:off x="7726679" y="2798063"/>
            <a:ext cx="1234440" cy="292608"/>
          </a:xfrm>
          <a:prstGeom prst="roundRect">
            <a:avLst/>
          </a:prstGeom>
          <a:solidFill>
            <a:srgbClr val="FFF3DB"/>
          </a:solidFill>
          <a:ln>
            <a:solidFill>
              <a:srgbClr val="FFF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81544" y="2816351"/>
            <a:ext cx="1124712" cy="246888"/>
          </a:xfrm>
          <a:prstGeom prst="rect">
            <a:avLst/>
          </a:prstGeom>
          <a:noFill/>
        </p:spPr>
        <p:txBody>
          <a:bodyPr wrap="square" lIns="0" rIns="0" tIns="0" bIns="0" anchor="ctr">
            <a:spAutoFit/>
          </a:bodyPr>
          <a:lstStyle/>
          <a:p>
            <a:pPr algn="ctr"/>
            <a:r>
              <a:rPr sz="900" b="1">
                <a:solidFill>
                  <a:srgbClr val="B56C00"/>
                </a:solidFill>
                <a:latin typeface="Aptos"/>
              </a:rPr>
              <a:t>WATCH FOR</a:t>
            </a:r>
          </a:p>
        </p:txBody>
      </p:sp>
      <p:sp>
        <p:nvSpPr>
          <p:cNvPr id="15" name="TextBox 14"/>
          <p:cNvSpPr txBox="1"/>
          <p:nvPr/>
        </p:nvSpPr>
        <p:spPr>
          <a:xfrm>
            <a:off x="9098280" y="2779775"/>
            <a:ext cx="2286000" cy="512064"/>
          </a:xfrm>
          <a:prstGeom prst="rect">
            <a:avLst/>
          </a:prstGeom>
          <a:noFill/>
        </p:spPr>
        <p:txBody>
          <a:bodyPr wrap="square" lIns="0" rIns="0" tIns="0" bIns="0" anchor="ctr">
            <a:spAutoFit/>
          </a:bodyPr>
          <a:lstStyle/>
          <a:p>
            <a:pPr algn="l"/>
            <a:r>
              <a:rPr sz="1050" b="0">
                <a:solidFill>
                  <a:srgbClr val="151A2D"/>
                </a:solidFill>
                <a:latin typeface="Aptos"/>
              </a:rPr>
              <a:t>“regenerated 4, left untouched 5”; the token line; the last gate is a real API call.</a:t>
            </a:r>
          </a:p>
        </p:txBody>
      </p:sp>
      <p:sp>
        <p:nvSpPr>
          <p:cNvPr id="16" name="Rounded Rectangle 15"/>
          <p:cNvSpPr/>
          <p:nvPr/>
        </p:nvSpPr>
        <p:spPr>
          <a:xfrm>
            <a:off x="7726679" y="3840479"/>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81544" y="3858767"/>
            <a:ext cx="1124712" cy="246888"/>
          </a:xfrm>
          <a:prstGeom prst="rect">
            <a:avLst/>
          </a:prstGeom>
          <a:noFill/>
        </p:spPr>
        <p:txBody>
          <a:bodyPr wrap="square" lIns="0" rIns="0" tIns="0" bIns="0" anchor="ctr">
            <a:spAutoFit/>
          </a:bodyPr>
          <a:lstStyle/>
          <a:p>
            <a:pPr algn="ctr"/>
            <a:r>
              <a:rPr sz="900" b="1">
                <a:solidFill>
                  <a:srgbClr val="6D5DFB"/>
                </a:solidFill>
                <a:latin typeface="Aptos"/>
              </a:rPr>
              <a:t>SAY</a:t>
            </a:r>
          </a:p>
        </p:txBody>
      </p:sp>
      <p:sp>
        <p:nvSpPr>
          <p:cNvPr id="18" name="TextBox 17"/>
          <p:cNvSpPr txBox="1"/>
          <p:nvPr/>
        </p:nvSpPr>
        <p:spPr>
          <a:xfrm>
            <a:off x="9098280" y="3822191"/>
            <a:ext cx="2286000" cy="512064"/>
          </a:xfrm>
          <a:prstGeom prst="rect">
            <a:avLst/>
          </a:prstGeom>
          <a:noFill/>
        </p:spPr>
        <p:txBody>
          <a:bodyPr wrap="square" lIns="0" rIns="0" tIns="0" bIns="0" anchor="ctr">
            <a:spAutoFit/>
          </a:bodyPr>
          <a:lstStyle/>
          <a:p>
            <a:pPr algn="l"/>
            <a:r>
              <a:rPr sz="1050" b="0">
                <a:solidFill>
                  <a:srgbClr val="151A2D"/>
                </a:solidFill>
                <a:latin typeface="Aptos"/>
              </a:rPr>
              <a:t>“The decision is in the JSON with who and when — not in this chat.” Talk about slide 8 while it works.</a:t>
            </a:r>
          </a:p>
        </p:txBody>
      </p:sp>
      <p:sp>
        <p:nvSpPr>
          <p:cNvPr id="19" name="Rounded Rectangle 18"/>
          <p:cNvSpPr/>
          <p:nvPr/>
        </p:nvSpPr>
        <p:spPr>
          <a:xfrm>
            <a:off x="7726679" y="4882896"/>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81544" y="4901183"/>
            <a:ext cx="1124712" cy="246888"/>
          </a:xfrm>
          <a:prstGeom prst="rect">
            <a:avLst/>
          </a:prstGeom>
          <a:noFill/>
        </p:spPr>
        <p:txBody>
          <a:bodyPr wrap="square" lIns="0" rIns="0" tIns="0" bIns="0" anchor="ctr">
            <a:spAutoFit/>
          </a:bodyPr>
          <a:lstStyle/>
          <a:p>
            <a:pPr algn="ctr"/>
            <a:r>
              <a:rPr sz="900" b="1">
                <a:solidFill>
                  <a:srgbClr val="6D5DFB"/>
                </a:solidFill>
                <a:latin typeface="Aptos"/>
              </a:rPr>
              <a:t>WAIT</a:t>
            </a:r>
          </a:p>
        </p:txBody>
      </p:sp>
      <p:sp>
        <p:nvSpPr>
          <p:cNvPr id="21" name="TextBox 20"/>
          <p:cNvSpPr txBox="1"/>
          <p:nvPr/>
        </p:nvSpPr>
        <p:spPr>
          <a:xfrm>
            <a:off x="9098280" y="4864608"/>
            <a:ext cx="2286000" cy="512064"/>
          </a:xfrm>
          <a:prstGeom prst="rect">
            <a:avLst/>
          </a:prstGeom>
          <a:noFill/>
        </p:spPr>
        <p:txBody>
          <a:bodyPr wrap="square" lIns="0" rIns="0" tIns="0" bIns="0" anchor="ctr">
            <a:spAutoFit/>
          </a:bodyPr>
          <a:lstStyle/>
          <a:p>
            <a:pPr algn="l"/>
            <a:r>
              <a:rPr sz="1050" b="0">
                <a:solidFill>
                  <a:srgbClr val="151A2D"/>
                </a:solidFill>
                <a:latin typeface="Aptos"/>
              </a:rPr>
              <a:t>The connector-agent call is the longest: 1–3 min. Do not type.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6D5DFB"/>
          </a:solidFill>
          <a:ln>
            <a:solidFill>
              <a:srgbClr val="6D5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519672"/>
            <a:ext cx="5486400" cy="146304"/>
          </a:xfrm>
          <a:prstGeom prst="rect">
            <a:avLst/>
          </a:prstGeom>
          <a:noFill/>
        </p:spPr>
        <p:txBody>
          <a:bodyPr wrap="square" lIns="0" rIns="0" tIns="0" bIns="0" anchor="ctr">
            <a:spAutoFit/>
          </a:bodyPr>
          <a:lstStyle/>
          <a:p>
            <a:pPr algn="l"/>
            <a:r>
              <a:rPr sz="750" b="0">
                <a:solidFill>
                  <a:srgbClr val="7B8190"/>
                </a:solidFill>
                <a:latin typeface="Aptos"/>
              </a:rPr>
              <a:t>ALLATA  |  AI-ASSISTED INTEGRATION</a:t>
            </a:r>
          </a:p>
        </p:txBody>
      </p:sp>
      <p:sp>
        <p:nvSpPr>
          <p:cNvPr id="4" name="TextBox 3"/>
          <p:cNvSpPr txBox="1"/>
          <p:nvPr/>
        </p:nvSpPr>
        <p:spPr>
          <a:xfrm>
            <a:off x="11384280" y="6519672"/>
            <a:ext cx="320040" cy="146304"/>
          </a:xfrm>
          <a:prstGeom prst="rect">
            <a:avLst/>
          </a:prstGeom>
          <a:noFill/>
        </p:spPr>
        <p:txBody>
          <a:bodyPr wrap="square" lIns="0" rIns="0" tIns="0" bIns="0" anchor="ctr">
            <a:spAutoFit/>
          </a:bodyPr>
          <a:lstStyle/>
          <a:p>
            <a:pPr algn="r"/>
            <a:r>
              <a:rPr sz="750" b="0">
                <a:solidFill>
                  <a:srgbClr val="9AA0AE"/>
                </a:solidFill>
                <a:latin typeface="Aptos"/>
              </a:rPr>
              <a:t>16</a:t>
            </a:r>
          </a:p>
        </p:txBody>
      </p:sp>
      <p:sp>
        <p:nvSpPr>
          <p:cNvPr id="5" name="TextBox 4"/>
          <p:cNvSpPr txBox="1"/>
          <p:nvPr/>
        </p:nvSpPr>
        <p:spPr>
          <a:xfrm>
            <a:off x="566928" y="310896"/>
            <a:ext cx="3657600" cy="219456"/>
          </a:xfrm>
          <a:prstGeom prst="rect">
            <a:avLst/>
          </a:prstGeom>
          <a:noFill/>
        </p:spPr>
        <p:txBody>
          <a:bodyPr wrap="square" lIns="0" rIns="0" tIns="0" bIns="0" anchor="ctr">
            <a:spAutoFit/>
          </a:bodyPr>
          <a:lstStyle/>
          <a:p>
            <a:pPr algn="l"/>
            <a:r>
              <a:rPr sz="900" b="1">
                <a:solidFill>
                  <a:srgbClr val="6D5DFB"/>
                </a:solidFill>
                <a:latin typeface="Aptos"/>
              </a:rPr>
              <a:t>12 — DEMO STEP 4</a:t>
            </a:r>
          </a:p>
        </p:txBody>
      </p:sp>
      <p:sp>
        <p:nvSpPr>
          <p:cNvPr id="6" name="TextBox 5"/>
          <p:cNvSpPr txBox="1"/>
          <p:nvPr/>
        </p:nvSpPr>
        <p:spPr>
          <a:xfrm>
            <a:off x="566928" y="621792"/>
            <a:ext cx="10972800" cy="521207"/>
          </a:xfrm>
          <a:prstGeom prst="rect">
            <a:avLst/>
          </a:prstGeom>
          <a:noFill/>
        </p:spPr>
        <p:txBody>
          <a:bodyPr wrap="square" lIns="0" rIns="0" tIns="0" bIns="0" anchor="ctr">
            <a:spAutoFit/>
          </a:bodyPr>
          <a:lstStyle/>
          <a:p>
            <a:pPr algn="l"/>
            <a:r>
              <a:rPr sz="2800" b="1">
                <a:solidFill>
                  <a:srgbClr val="151A2D"/>
                </a:solidFill>
                <a:latin typeface="Aptos"/>
              </a:rPr>
              <a:t>The trap</a:t>
            </a:r>
          </a:p>
        </p:txBody>
      </p:sp>
      <p:sp>
        <p:nvSpPr>
          <p:cNvPr id="7" name="TextBox 6"/>
          <p:cNvSpPr txBox="1"/>
          <p:nvPr/>
        </p:nvSpPr>
        <p:spPr>
          <a:xfrm>
            <a:off x="566928" y="1179576"/>
            <a:ext cx="10881360" cy="347472"/>
          </a:xfrm>
          <a:prstGeom prst="rect">
            <a:avLst/>
          </a:prstGeom>
          <a:noFill/>
        </p:spPr>
        <p:txBody>
          <a:bodyPr wrap="square" lIns="0" rIns="0" tIns="0" bIns="0" anchor="ctr">
            <a:spAutoFit/>
          </a:bodyPr>
          <a:lstStyle/>
          <a:p>
            <a:pPr algn="l"/>
            <a:r>
              <a:rPr sz="1300" b="0">
                <a:solidFill>
                  <a:srgbClr val="626A7A"/>
                </a:solidFill>
                <a:latin typeface="Aptos"/>
              </a:rPr>
              <a:t>Second prompt. The orchestrator must find the problem and escalate — not fix it.</a:t>
            </a:r>
          </a:p>
        </p:txBody>
      </p:sp>
      <p:sp>
        <p:nvSpPr>
          <p:cNvPr id="8" name="Rounded Rectangle 7"/>
          <p:cNvSpPr/>
          <p:nvPr/>
        </p:nvSpPr>
        <p:spPr>
          <a:xfrm>
            <a:off x="621792" y="1664208"/>
            <a:ext cx="6720840" cy="4343400"/>
          </a:xfrm>
          <a:prstGeom prst="roundRect">
            <a:avLst/>
          </a:prstGeom>
          <a:solidFill>
            <a:srgbClr val="101426"/>
          </a:solidFill>
          <a:ln>
            <a:solidFill>
              <a:srgbClr val="10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01952"/>
            <a:ext cx="6126480" cy="3794760"/>
          </a:xfrm>
          <a:prstGeom prst="rect">
            <a:avLst/>
          </a:prstGeom>
          <a:noFill/>
        </p:spPr>
        <p:txBody>
          <a:bodyPr wrap="square" lIns="0" rIns="0" tIns="0" bIns="0" anchor="t">
            <a:spAutoFit/>
          </a:bodyPr>
          <a:lstStyle/>
          <a:p>
            <a:pPr algn="l"/>
            <a:r>
              <a:rPr sz="1150" b="0">
                <a:solidFill>
                  <a:srgbClr val="D9E0F4"/>
                </a:solidFill>
                <a:latin typeface="Courier New"/>
              </a:rPr>
              <a:t>@orchestrator Someone added film-title enrichment to</a:t>
            </a:r>
            <a:br/>
            <a:r>
              <a:rPr sz="1150" b="0">
                <a:solidFill>
                  <a:srgbClr val="D9E0F4"/>
                </a:solidFill>
                <a:latin typeface="Courier New"/>
              </a:rPr>
              <a:t>GetCharacterAsync - run .\demo\plant-failure.ps1,</a:t>
            </a:r>
            <a:br/>
            <a:r>
              <a:rPr sz="1150" b="0">
                <a:solidFill>
                  <a:srgbClr val="D9E0F4"/>
                </a:solidFill>
                <a:latin typeface="Courier New"/>
              </a:rPr>
              <a:t>then validate, and tell me what you would do.</a:t>
            </a:r>
            <a:br/>
            <a:r>
              <a:rPr sz="1150" b="0">
                <a:solidFill>
                  <a:srgbClr val="D9E0F4"/>
                </a:solidFill>
                <a:latin typeface="Courier New"/>
              </a:rPr>
              <a:t/>
            </a:r>
            <a:br/>
            <a:r>
              <a:rPr sz="1150" b="0">
                <a:solidFill>
                  <a:srgbClr val="D9E0F4"/>
                </a:solidFill>
                <a:latin typeface="Courier New"/>
              </a:rPr>
              <a:t>Expected: CONTRACT FAIL</a:t>
            </a:r>
            <a:br/>
            <a:r>
              <a:rPr sz="1150" b="0">
                <a:solidFill>
                  <a:srgbClr val="D9E0F4"/>
                </a:solidFill>
                <a:latin typeface="Courier New"/>
              </a:rPr>
              <a:t>  calls unallowed provider operation GetFilmAsync</a:t>
            </a:r>
            <a:br/>
            <a:r>
              <a:rPr sz="1150" b="0">
                <a:solidFill>
                  <a:srgbClr val="D9E0F4"/>
                </a:solidFill>
                <a:latin typeface="Courier New"/>
              </a:rPr>
              <a:t>  (allowed: GetPersonAsync, ListPeopleAsync, GetPlanetAsync)</a:t>
            </a:r>
            <a:br/>
            <a:r>
              <a:rPr sz="1150" b="0">
                <a:solidFill>
                  <a:srgbClr val="D9E0F4"/>
                </a:solidFill>
                <a:latin typeface="Courier New"/>
              </a:rPr>
              <a:t/>
            </a:r>
            <a:br/>
            <a:r>
              <a:rPr sz="1150" b="0">
                <a:solidFill>
                  <a:srgbClr val="D9E0F4"/>
                </a:solidFill>
                <a:latin typeface="Courier New"/>
              </a:rPr>
              <a:t>It lists options and asks. Paste:</a:t>
            </a:r>
            <a:br/>
            <a:r>
              <a:rPr sz="1150" b="0">
                <a:solidFill>
                  <a:srgbClr val="D9E0F4"/>
                </a:solidFill>
                <a:latin typeface="Courier New"/>
              </a:rPr>
              <a:t>Remove it.</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br/>
            <a:r>
              <a:rPr sz="1150" b="0">
                <a:solidFill>
                  <a:srgbClr val="D9E0F4"/>
                </a:solidFill>
                <a:latin typeface="Courier New"/>
              </a:rPr>
              <a:t/>
            </a:r>
          </a:p>
        </p:txBody>
      </p:sp>
      <p:sp>
        <p:nvSpPr>
          <p:cNvPr id="10" name="Rounded Rectangle 9"/>
          <p:cNvSpPr/>
          <p:nvPr/>
        </p:nvSpPr>
        <p:spPr>
          <a:xfrm>
            <a:off x="7726679" y="1755648"/>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81544" y="1773936"/>
            <a:ext cx="1124712" cy="246888"/>
          </a:xfrm>
          <a:prstGeom prst="rect">
            <a:avLst/>
          </a:prstGeom>
          <a:noFill/>
        </p:spPr>
        <p:txBody>
          <a:bodyPr wrap="square" lIns="0" rIns="0" tIns="0" bIns="0" anchor="ctr">
            <a:spAutoFit/>
          </a:bodyPr>
          <a:lstStyle/>
          <a:p>
            <a:pPr algn="ctr"/>
            <a:r>
              <a:rPr sz="900" b="1">
                <a:solidFill>
                  <a:srgbClr val="6D5DFB"/>
                </a:solidFill>
                <a:latin typeface="Aptos"/>
              </a:rPr>
              <a:t>WHAT IT DOES</a:t>
            </a:r>
          </a:p>
        </p:txBody>
      </p:sp>
      <p:sp>
        <p:nvSpPr>
          <p:cNvPr id="12" name="TextBox 11"/>
          <p:cNvSpPr txBox="1"/>
          <p:nvPr/>
        </p:nvSpPr>
        <p:spPr>
          <a:xfrm>
            <a:off x="9098280" y="1737360"/>
            <a:ext cx="2286000" cy="512064"/>
          </a:xfrm>
          <a:prstGeom prst="rect">
            <a:avLst/>
          </a:prstGeom>
          <a:noFill/>
        </p:spPr>
        <p:txBody>
          <a:bodyPr wrap="square" lIns="0" rIns="0" tIns="0" bIns="0" anchor="ctr">
            <a:spAutoFit/>
          </a:bodyPr>
          <a:lstStyle/>
          <a:p>
            <a:pPr algn="l"/>
            <a:r>
              <a:rPr sz="1050" b="0">
                <a:solidFill>
                  <a:srgbClr val="151A2D"/>
                </a:solidFill>
                <a:latin typeface="Aptos"/>
              </a:rPr>
              <a:t>Adds a documented but unlisted endpoint call, runs the gates, blocks, and asks you what to do.</a:t>
            </a:r>
          </a:p>
        </p:txBody>
      </p:sp>
      <p:sp>
        <p:nvSpPr>
          <p:cNvPr id="13" name="Rounded Rectangle 12"/>
          <p:cNvSpPr/>
          <p:nvPr/>
        </p:nvSpPr>
        <p:spPr>
          <a:xfrm>
            <a:off x="7726679" y="2798063"/>
            <a:ext cx="1234440" cy="292608"/>
          </a:xfrm>
          <a:prstGeom prst="roundRect">
            <a:avLst/>
          </a:prstGeom>
          <a:solidFill>
            <a:srgbClr val="FFF3DB"/>
          </a:solidFill>
          <a:ln>
            <a:solidFill>
              <a:srgbClr val="FFF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81544" y="2816351"/>
            <a:ext cx="1124712" cy="246888"/>
          </a:xfrm>
          <a:prstGeom prst="rect">
            <a:avLst/>
          </a:prstGeom>
          <a:noFill/>
        </p:spPr>
        <p:txBody>
          <a:bodyPr wrap="square" lIns="0" rIns="0" tIns="0" bIns="0" anchor="ctr">
            <a:spAutoFit/>
          </a:bodyPr>
          <a:lstStyle/>
          <a:p>
            <a:pPr algn="ctr"/>
            <a:r>
              <a:rPr sz="900" b="1">
                <a:solidFill>
                  <a:srgbClr val="B56C00"/>
                </a:solidFill>
                <a:latin typeface="Aptos"/>
              </a:rPr>
              <a:t>WHY IT MATTERS</a:t>
            </a:r>
          </a:p>
        </p:txBody>
      </p:sp>
      <p:sp>
        <p:nvSpPr>
          <p:cNvPr id="15" name="TextBox 14"/>
          <p:cNvSpPr txBox="1"/>
          <p:nvPr/>
        </p:nvSpPr>
        <p:spPr>
          <a:xfrm>
            <a:off x="9098280" y="2779775"/>
            <a:ext cx="2286000" cy="512064"/>
          </a:xfrm>
          <a:prstGeom prst="rect">
            <a:avLst/>
          </a:prstGeom>
          <a:noFill/>
        </p:spPr>
        <p:txBody>
          <a:bodyPr wrap="square" lIns="0" rIns="0" tIns="0" bIns="0" anchor="ctr">
            <a:spAutoFit/>
          </a:bodyPr>
          <a:lstStyle/>
          <a:p>
            <a:pPr algn="l"/>
            <a:r>
              <a:rPr sz="1050" b="0">
                <a:solidFill>
                  <a:srgbClr val="151A2D"/>
                </a:solidFill>
                <a:latin typeface="Aptos"/>
              </a:rPr>
              <a:t>It compiles and the tests pass. The manifest, not the code, decides what a connector may call.</a:t>
            </a:r>
          </a:p>
        </p:txBody>
      </p:sp>
      <p:sp>
        <p:nvSpPr>
          <p:cNvPr id="16" name="Rounded Rectangle 15"/>
          <p:cNvSpPr/>
          <p:nvPr/>
        </p:nvSpPr>
        <p:spPr>
          <a:xfrm>
            <a:off x="7726679" y="3840479"/>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81544" y="3858767"/>
            <a:ext cx="1124712" cy="246888"/>
          </a:xfrm>
          <a:prstGeom prst="rect">
            <a:avLst/>
          </a:prstGeom>
          <a:noFill/>
        </p:spPr>
        <p:txBody>
          <a:bodyPr wrap="square" lIns="0" rIns="0" tIns="0" bIns="0" anchor="ctr">
            <a:spAutoFit/>
          </a:bodyPr>
          <a:lstStyle/>
          <a:p>
            <a:pPr algn="ctr"/>
            <a:r>
              <a:rPr sz="900" b="1">
                <a:solidFill>
                  <a:srgbClr val="6D5DFB"/>
                </a:solidFill>
                <a:latin typeface="Aptos"/>
              </a:rPr>
              <a:t>SAY</a:t>
            </a:r>
          </a:p>
        </p:txBody>
      </p:sp>
      <p:sp>
        <p:nvSpPr>
          <p:cNvPr id="18" name="TextBox 17"/>
          <p:cNvSpPr txBox="1"/>
          <p:nvPr/>
        </p:nvSpPr>
        <p:spPr>
          <a:xfrm>
            <a:off x="9098280" y="3822191"/>
            <a:ext cx="2286000" cy="512064"/>
          </a:xfrm>
          <a:prstGeom prst="rect">
            <a:avLst/>
          </a:prstGeom>
          <a:noFill/>
        </p:spPr>
        <p:txBody>
          <a:bodyPr wrap="square" lIns="0" rIns="0" tIns="0" bIns="0" anchor="ctr">
            <a:spAutoFit/>
          </a:bodyPr>
          <a:lstStyle/>
          <a:p>
            <a:pPr algn="l"/>
            <a:r>
              <a:rPr sz="1050" b="0">
                <a:solidFill>
                  <a:srgbClr val="151A2D"/>
                </a:solidFill>
                <a:latin typeface="Aptos"/>
              </a:rPr>
              <a:t>“The endpoint works and it was still blocked — and the agent escalated instead of patching.”</a:t>
            </a:r>
          </a:p>
        </p:txBody>
      </p:sp>
      <p:sp>
        <p:nvSpPr>
          <p:cNvPr id="19" name="Rounded Rectangle 18"/>
          <p:cNvSpPr/>
          <p:nvPr/>
        </p:nvSpPr>
        <p:spPr>
          <a:xfrm>
            <a:off x="7726679" y="4882896"/>
            <a:ext cx="1234440" cy="292608"/>
          </a:xfrm>
          <a:prstGeom prst="roundRect">
            <a:avLst/>
          </a:prstGeom>
          <a:solidFill>
            <a:srgbClr val="EEEAFE"/>
          </a:solidFill>
          <a:ln>
            <a:solidFill>
              <a:srgbClr val="EE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81544" y="4901183"/>
            <a:ext cx="1124712" cy="246888"/>
          </a:xfrm>
          <a:prstGeom prst="rect">
            <a:avLst/>
          </a:prstGeom>
          <a:noFill/>
        </p:spPr>
        <p:txBody>
          <a:bodyPr wrap="square" lIns="0" rIns="0" tIns="0" bIns="0" anchor="ctr">
            <a:spAutoFit/>
          </a:bodyPr>
          <a:lstStyle/>
          <a:p>
            <a:pPr algn="ctr"/>
            <a:r>
              <a:rPr sz="900" b="1">
                <a:solidFill>
                  <a:srgbClr val="6D5DFB"/>
                </a:solidFill>
                <a:latin typeface="Aptos"/>
              </a:rPr>
              <a:t>FALLBACK</a:t>
            </a:r>
          </a:p>
        </p:txBody>
      </p:sp>
      <p:sp>
        <p:nvSpPr>
          <p:cNvPr id="21" name="TextBox 20"/>
          <p:cNvSpPr txBox="1"/>
          <p:nvPr/>
        </p:nvSpPr>
        <p:spPr>
          <a:xfrm>
            <a:off x="9098280" y="4864608"/>
            <a:ext cx="2286000" cy="512064"/>
          </a:xfrm>
          <a:prstGeom prst="rect">
            <a:avLst/>
          </a:prstGeom>
          <a:noFill/>
        </p:spPr>
        <p:txBody>
          <a:bodyPr wrap="square" lIns="0" rIns="0" tIns="0" bIns="0" anchor="ctr">
            <a:spAutoFit/>
          </a:bodyPr>
          <a:lstStyle/>
          <a:p>
            <a:pPr algn="l"/>
            <a:r>
              <a:rPr sz="1050" b="0">
                <a:solidFill>
                  <a:srgbClr val="151A2D"/>
                </a:solidFill>
                <a:latin typeface="Aptos"/>
              </a:rPr>
              <a:t>reset.ps1 -To implemented, then ask the orchestrator to run validate --smoke and report.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426"/>
        </a:solidFill>
        <a:effectLst/>
      </p:bgPr>
    </p:bg>
    <p:spTree>
      <p:nvGrpSpPr>
        <p:cNvPr id="1" name=""/>
        <p:cNvGrpSpPr/>
        <p:nvPr/>
      </p:nvGrpSpPr>
      <p:grpSpPr/>
      <p:sp>
        <p:nvSpPr>
          <p:cNvPr id="2" name="Rounded Rectangle 1"/>
          <p:cNvSpPr/>
          <p:nvPr/>
        </p:nvSpPr>
        <p:spPr>
          <a:xfrm>
            <a:off x="685800" y="658368"/>
            <a:ext cx="1417320" cy="292608"/>
          </a:xfrm>
          <a:prstGeom prst="roundRect">
            <a:avLst/>
          </a:prstGeom>
          <a:solidFill>
            <a:srgbClr val="302B58"/>
          </a:solidFill>
          <a:ln>
            <a:solidFill>
              <a:srgbClr val="302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0664" y="676656"/>
            <a:ext cx="1307592" cy="246888"/>
          </a:xfrm>
          <a:prstGeom prst="rect">
            <a:avLst/>
          </a:prstGeom>
          <a:noFill/>
        </p:spPr>
        <p:txBody>
          <a:bodyPr wrap="square" lIns="0" rIns="0" tIns="0" bIns="0" anchor="ctr">
            <a:spAutoFit/>
          </a:bodyPr>
          <a:lstStyle/>
          <a:p>
            <a:pPr algn="ctr"/>
            <a:r>
              <a:rPr sz="900" b="1">
                <a:solidFill>
                  <a:srgbClr val="C9C2FF"/>
                </a:solidFill>
                <a:latin typeface="Aptos"/>
              </a:rPr>
              <a:t>THE TAKEAWAY</a:t>
            </a:r>
          </a:p>
        </p:txBody>
      </p:sp>
      <p:sp>
        <p:nvSpPr>
          <p:cNvPr id="4" name="TextBox 3"/>
          <p:cNvSpPr txBox="1"/>
          <p:nvPr/>
        </p:nvSpPr>
        <p:spPr>
          <a:xfrm>
            <a:off x="685800" y="1353312"/>
            <a:ext cx="10789920" cy="548640"/>
          </a:xfrm>
          <a:prstGeom prst="rect">
            <a:avLst/>
          </a:prstGeom>
          <a:noFill/>
        </p:spPr>
        <p:txBody>
          <a:bodyPr wrap="square" lIns="0" rIns="0" tIns="0" bIns="0" anchor="ctr">
            <a:spAutoFit/>
          </a:bodyPr>
          <a:lstStyle/>
          <a:p>
            <a:pPr algn="l"/>
            <a:r>
              <a:rPr sz="3100" b="1">
                <a:solidFill>
                  <a:srgbClr val="FFFFFF"/>
                </a:solidFill>
                <a:latin typeface="Aptos"/>
              </a:rPr>
              <a:t>The CLI creates the paved road.</a:t>
            </a:r>
          </a:p>
        </p:txBody>
      </p:sp>
      <p:sp>
        <p:nvSpPr>
          <p:cNvPr id="5" name="TextBox 4"/>
          <p:cNvSpPr txBox="1"/>
          <p:nvPr/>
        </p:nvSpPr>
        <p:spPr>
          <a:xfrm>
            <a:off x="685800" y="2029968"/>
            <a:ext cx="10789920" cy="548640"/>
          </a:xfrm>
          <a:prstGeom prst="rect">
            <a:avLst/>
          </a:prstGeom>
          <a:noFill/>
        </p:spPr>
        <p:txBody>
          <a:bodyPr wrap="square" lIns="0" rIns="0" tIns="0" bIns="0" anchor="ctr">
            <a:spAutoFit/>
          </a:bodyPr>
          <a:lstStyle/>
          <a:p>
            <a:pPr algn="l"/>
            <a:r>
              <a:rPr sz="3100" b="1">
                <a:solidFill>
                  <a:srgbClr val="B9EAF3"/>
                </a:solidFill>
                <a:latin typeface="Aptos"/>
              </a:rPr>
              <a:t>AI accelerates the work inside the guardrails.</a:t>
            </a:r>
          </a:p>
        </p:txBody>
      </p:sp>
      <p:sp>
        <p:nvSpPr>
          <p:cNvPr id="6" name="TextBox 5"/>
          <p:cNvSpPr txBox="1"/>
          <p:nvPr/>
        </p:nvSpPr>
        <p:spPr>
          <a:xfrm>
            <a:off x="685800" y="2706624"/>
            <a:ext cx="10789920" cy="548640"/>
          </a:xfrm>
          <a:prstGeom prst="rect">
            <a:avLst/>
          </a:prstGeom>
          <a:noFill/>
        </p:spPr>
        <p:txBody>
          <a:bodyPr wrap="square" lIns="0" rIns="0" tIns="0" bIns="0" anchor="ctr">
            <a:spAutoFit/>
          </a:bodyPr>
          <a:lstStyle/>
          <a:p>
            <a:pPr algn="l"/>
            <a:r>
              <a:rPr sz="3100" b="1">
                <a:solidFill>
                  <a:srgbClr val="CFC9FF"/>
                </a:solidFill>
                <a:latin typeface="Aptos"/>
              </a:rPr>
              <a:t>Engineers remain accountable for production.</a:t>
            </a:r>
          </a:p>
        </p:txBody>
      </p:sp>
      <p:sp>
        <p:nvSpPr>
          <p:cNvPr id="7" name="Rounded Rectangle 6"/>
          <p:cNvSpPr/>
          <p:nvPr/>
        </p:nvSpPr>
        <p:spPr>
          <a:xfrm>
            <a:off x="731520" y="3977639"/>
            <a:ext cx="3337560" cy="1051560"/>
          </a:xfrm>
          <a:prstGeom prst="roundRect">
            <a:avLst/>
          </a:prstGeom>
          <a:solidFill>
            <a:srgbClr val="1B2038"/>
          </a:solidFill>
          <a:ln>
            <a:solidFill>
              <a:srgbClr val="3A4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97096"/>
            <a:ext cx="2971800" cy="228600"/>
          </a:xfrm>
          <a:prstGeom prst="rect">
            <a:avLst/>
          </a:prstGeom>
          <a:noFill/>
        </p:spPr>
        <p:txBody>
          <a:bodyPr wrap="square" lIns="0" rIns="0" tIns="0" bIns="0" anchor="ctr">
            <a:spAutoFit/>
          </a:bodyPr>
          <a:lstStyle/>
          <a:p>
            <a:pPr algn="ctr"/>
            <a:r>
              <a:rPr sz="1100" b="1">
                <a:solidFill>
                  <a:srgbClr val="9B8CFF"/>
                </a:solidFill>
                <a:latin typeface="Aptos"/>
              </a:rPr>
              <a:t>CODEGEN</a:t>
            </a:r>
          </a:p>
        </p:txBody>
      </p:sp>
      <p:sp>
        <p:nvSpPr>
          <p:cNvPr id="9" name="TextBox 8"/>
          <p:cNvSpPr txBox="1"/>
          <p:nvPr/>
        </p:nvSpPr>
        <p:spPr>
          <a:xfrm>
            <a:off x="914400" y="4526280"/>
            <a:ext cx="2971800" cy="283464"/>
          </a:xfrm>
          <a:prstGeom prst="rect">
            <a:avLst/>
          </a:prstGeom>
          <a:noFill/>
        </p:spPr>
        <p:txBody>
          <a:bodyPr wrap="square" lIns="0" rIns="0" tIns="0" bIns="0" anchor="ctr">
            <a:spAutoFit/>
          </a:bodyPr>
          <a:lstStyle/>
          <a:p>
            <a:pPr algn="ctr"/>
            <a:r>
              <a:rPr sz="1800" b="1">
                <a:solidFill>
                  <a:srgbClr val="FFFFFF"/>
                </a:solidFill>
                <a:latin typeface="Aptos"/>
              </a:rPr>
              <a:t>Consistency</a:t>
            </a:r>
          </a:p>
        </p:txBody>
      </p:sp>
      <p:sp>
        <p:nvSpPr>
          <p:cNvPr id="10" name="Rounded Rectangle 9"/>
          <p:cNvSpPr/>
          <p:nvPr/>
        </p:nvSpPr>
        <p:spPr>
          <a:xfrm>
            <a:off x="4526280" y="3977639"/>
            <a:ext cx="3337560" cy="1051560"/>
          </a:xfrm>
          <a:prstGeom prst="roundRect">
            <a:avLst/>
          </a:prstGeom>
          <a:solidFill>
            <a:srgbClr val="192C3D"/>
          </a:solidFill>
          <a:ln>
            <a:solidFill>
              <a:srgbClr val="2CC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4197096"/>
            <a:ext cx="2971800" cy="228600"/>
          </a:xfrm>
          <a:prstGeom prst="rect">
            <a:avLst/>
          </a:prstGeom>
          <a:noFill/>
        </p:spPr>
        <p:txBody>
          <a:bodyPr wrap="square" lIns="0" rIns="0" tIns="0" bIns="0" anchor="ctr">
            <a:spAutoFit/>
          </a:bodyPr>
          <a:lstStyle/>
          <a:p>
            <a:pPr algn="ctr"/>
            <a:r>
              <a:rPr sz="1100" b="1">
                <a:solidFill>
                  <a:srgbClr val="2CCCE4"/>
                </a:solidFill>
                <a:latin typeface="Aptos"/>
              </a:rPr>
              <a:t>AI</a:t>
            </a:r>
          </a:p>
        </p:txBody>
      </p:sp>
      <p:sp>
        <p:nvSpPr>
          <p:cNvPr id="12" name="TextBox 11"/>
          <p:cNvSpPr txBox="1"/>
          <p:nvPr/>
        </p:nvSpPr>
        <p:spPr>
          <a:xfrm>
            <a:off x="4709160" y="4526280"/>
            <a:ext cx="2971800" cy="283464"/>
          </a:xfrm>
          <a:prstGeom prst="rect">
            <a:avLst/>
          </a:prstGeom>
          <a:noFill/>
        </p:spPr>
        <p:txBody>
          <a:bodyPr wrap="square" lIns="0" rIns="0" tIns="0" bIns="0" anchor="ctr">
            <a:spAutoFit/>
          </a:bodyPr>
          <a:lstStyle/>
          <a:p>
            <a:pPr algn="ctr"/>
            <a:r>
              <a:rPr sz="1800" b="1">
                <a:solidFill>
                  <a:srgbClr val="FFFFFF"/>
                </a:solidFill>
                <a:latin typeface="Aptos"/>
              </a:rPr>
              <a:t>Adaptability</a:t>
            </a:r>
          </a:p>
        </p:txBody>
      </p:sp>
      <p:sp>
        <p:nvSpPr>
          <p:cNvPr id="13" name="Rounded Rectangle 12"/>
          <p:cNvSpPr/>
          <p:nvPr/>
        </p:nvSpPr>
        <p:spPr>
          <a:xfrm>
            <a:off x="8321040" y="3977639"/>
            <a:ext cx="3337560" cy="1051560"/>
          </a:xfrm>
          <a:prstGeom prst="roundRect">
            <a:avLst/>
          </a:prstGeom>
          <a:solidFill>
            <a:srgbClr val="1B2038"/>
          </a:solidFill>
          <a:ln>
            <a:solidFill>
              <a:srgbClr val="3A4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4197096"/>
            <a:ext cx="2971800" cy="228600"/>
          </a:xfrm>
          <a:prstGeom prst="rect">
            <a:avLst/>
          </a:prstGeom>
          <a:noFill/>
        </p:spPr>
        <p:txBody>
          <a:bodyPr wrap="square" lIns="0" rIns="0" tIns="0" bIns="0" anchor="ctr">
            <a:spAutoFit/>
          </a:bodyPr>
          <a:lstStyle/>
          <a:p>
            <a:pPr algn="ctr"/>
            <a:r>
              <a:rPr sz="1100" b="1">
                <a:solidFill>
                  <a:srgbClr val="9B8CFF"/>
                </a:solidFill>
                <a:latin typeface="Aptos"/>
              </a:rPr>
              <a:t>CI + REVIEW</a:t>
            </a:r>
          </a:p>
        </p:txBody>
      </p:sp>
      <p:sp>
        <p:nvSpPr>
          <p:cNvPr id="15" name="TextBox 14"/>
          <p:cNvSpPr txBox="1"/>
          <p:nvPr/>
        </p:nvSpPr>
        <p:spPr>
          <a:xfrm>
            <a:off x="8503920" y="4526280"/>
            <a:ext cx="2971800" cy="283464"/>
          </a:xfrm>
          <a:prstGeom prst="rect">
            <a:avLst/>
          </a:prstGeom>
          <a:noFill/>
        </p:spPr>
        <p:txBody>
          <a:bodyPr wrap="square" lIns="0" rIns="0" tIns="0" bIns="0" anchor="ctr">
            <a:spAutoFit/>
          </a:bodyPr>
          <a:lstStyle/>
          <a:p>
            <a:pPr algn="ctr"/>
            <a:r>
              <a:rPr sz="1800" b="1">
                <a:solidFill>
                  <a:srgbClr val="FFFFFF"/>
                </a:solidFill>
                <a:latin typeface="Aptos"/>
              </a:rPr>
              <a:t>Confidence</a:t>
            </a:r>
          </a:p>
        </p:txBody>
      </p:sp>
      <p:sp>
        <p:nvSpPr>
          <p:cNvPr id="16" name="TextBox 15"/>
          <p:cNvSpPr txBox="1"/>
          <p:nvPr/>
        </p:nvSpPr>
        <p:spPr>
          <a:xfrm>
            <a:off x="685800" y="5715000"/>
            <a:ext cx="8686800" cy="329184"/>
          </a:xfrm>
          <a:prstGeom prst="rect">
            <a:avLst/>
          </a:prstGeom>
          <a:noFill/>
        </p:spPr>
        <p:txBody>
          <a:bodyPr wrap="square" lIns="0" rIns="0" tIns="0" bIns="0" anchor="ctr">
            <a:spAutoFit/>
          </a:bodyPr>
          <a:lstStyle/>
          <a:p>
            <a:pPr algn="l"/>
            <a:r>
              <a:rPr sz="1500" b="0">
                <a:solidFill>
                  <a:srgbClr val="B8BED2"/>
                </a:solidFill>
                <a:latin typeface="Aptos"/>
              </a:rPr>
              <a:t>Next step: point integration-cli at a provider spec from a current project.</a:t>
            </a:r>
          </a:p>
        </p:txBody>
      </p:sp>
      <p:sp>
        <p:nvSpPr>
          <p:cNvPr id="17" name="TextBox 16"/>
          <p:cNvSpPr txBox="1"/>
          <p:nvPr/>
        </p:nvSpPr>
        <p:spPr>
          <a:xfrm>
            <a:off x="9601200" y="5596128"/>
            <a:ext cx="1874519" cy="502920"/>
          </a:xfrm>
          <a:prstGeom prst="rect">
            <a:avLst/>
          </a:prstGeom>
          <a:noFill/>
        </p:spPr>
        <p:txBody>
          <a:bodyPr wrap="square" lIns="0" rIns="0" tIns="0" bIns="0" anchor="ctr">
            <a:spAutoFit/>
          </a:bodyPr>
          <a:lstStyle/>
          <a:p>
            <a:pPr algn="r"/>
            <a:r>
              <a:rPr sz="2400" b="1">
                <a:solidFill>
                  <a:srgbClr val="FFFFFF"/>
                </a:solidFill>
                <a:latin typeface="Apto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